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9.png"/><Relationship Id="rId8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11.png"/><Relationship Id="rId6" Type="http://schemas.openxmlformats.org/officeDocument/2006/relationships/image" Target="../media/image33.png"/><Relationship Id="rId7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21.png"/><Relationship Id="rId4" Type="http://schemas.openxmlformats.org/officeDocument/2006/relationships/image" Target="../media/image34.png"/><Relationship Id="rId5" Type="http://schemas.openxmlformats.org/officeDocument/2006/relationships/image" Target="../media/image17.png"/><Relationship Id="rId6" Type="http://schemas.openxmlformats.org/officeDocument/2006/relationships/image" Target="../media/image35.png"/><Relationship Id="rId7" Type="http://schemas.openxmlformats.org/officeDocument/2006/relationships/image" Target="../media/image9.png"/><Relationship Id="rId8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9.png"/><Relationship Id="rId7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36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89582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Concurrency and Threading in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04900"/>
            <a:ext cx="10858228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1040"/>
              </a:spcAft>
            </a:pPr>
            <a:r>
              <a:rPr sz="3348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Concurrency and Threading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19389" y="2057400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81310" y="2171700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915" y="2057400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2836" y="2171700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3826" y="2057400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5747" y="2171700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5352" y="2057400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7273" y="2171700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8739" y="2057400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659" y="2171700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0264" y="2057400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2185" y="2171700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3176" y="2057400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5097" y="2171700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2952750"/>
            <a:ext cx="3467013" cy="1676400"/>
          </a:xfrm>
          <a:prstGeom prst="roundRect">
            <a:avLst>
              <a:gd name="adj" fmla="val 909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-105427" y="3724910"/>
            <a:ext cx="1676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190695" y="3235492"/>
            <a:ext cx="457188" cy="3489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66853" y="3752849"/>
            <a:ext cx="111439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std::thread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169" y="4133849"/>
            <a:ext cx="2400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Thread creation &amp;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2340" y="2952750"/>
            <a:ext cx="3467013" cy="1676400"/>
          </a:xfrm>
          <a:prstGeom prst="roundRect">
            <a:avLst>
              <a:gd name="adj" fmla="val 909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3590180" y="3724910"/>
            <a:ext cx="1676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86302" y="3206917"/>
            <a:ext cx="457188" cy="40606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62460" y="3752849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std::mutex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5747" y="413384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Mutual exclusion &amp; locking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7948" y="2952750"/>
            <a:ext cx="3467013" cy="1676400"/>
          </a:xfrm>
          <a:prstGeom prst="roundRect">
            <a:avLst>
              <a:gd name="adj" fmla="val 909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7285788" y="3724910"/>
            <a:ext cx="1676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81910" y="3235492"/>
            <a:ext cx="457188" cy="3489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77118" y="3752849"/>
            <a:ext cx="10762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std::future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1850" y="4133849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Asynchronous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733" y="5086350"/>
            <a:ext cx="10858228" cy="1476375"/>
          </a:xfrm>
          <a:prstGeom prst="roundRect">
            <a:avLst>
              <a:gd name="adj" fmla="val 10322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5370129"/>
            <a:ext cx="342891" cy="28969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00139" y="5324474"/>
            <a:ext cx="98867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Parallel Execution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0139" y="5705475"/>
            <a:ext cx="9886702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Concurrency enables multiple threads to execute simultaneously, improving application performance and responsiveness for CPU-bound and I/O-bound operations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79095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Concurrency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14036"/>
            <a:ext cx="228594" cy="1628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647825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What is Concurrency?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14525"/>
            <a:ext cx="18668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Parallel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447924"/>
            <a:ext cx="4629034" cy="942975"/>
          </a:xfrm>
          <a:prstGeom prst="roundRect">
            <a:avLst>
              <a:gd name="adj" fmla="val 1616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54" y="2609850"/>
            <a:ext cx="4305192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Simultaneous execution of multiple tasks using multiple threads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5814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51774" y="38963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794872"/>
            <a:ext cx="190495" cy="106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3695699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Improved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21" y="4000500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Parallel CPU-bound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4196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351774" y="47345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60505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3921" y="4533900"/>
            <a:ext cx="19049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Better Responsiveness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21" y="4838699"/>
            <a:ext cx="19049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Non-blocking I/O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2578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51774" y="55727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5448860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3921" y="5372100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Multi-Core Utilization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21" y="5676900"/>
            <a:ext cx="18859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all CPU cores efficiently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2127885"/>
            <a:ext cx="228594" cy="12572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81550" y="2057400"/>
            <a:ext cx="21525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Single vs Multi-Threaded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76758" y="2495550"/>
            <a:ext cx="5848203" cy="1390650"/>
          </a:xfrm>
          <a:prstGeom prst="roundRect">
            <a:avLst>
              <a:gd name="adj" fmla="val 1095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38679" y="2667000"/>
            <a:ext cx="28383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Single-threaded - Sequential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29718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i =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 i &lt; N; ++i)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2194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process(i);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34671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4000500"/>
            <a:ext cx="584820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4923649" y="475360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67253" y="4171950"/>
            <a:ext cx="256216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Multi-threaded - Parallel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67253" y="4476750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std::thread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t([](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i)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67253" y="4724399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process(i);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7253" y="4972050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}, i);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7253" y="5295899"/>
            <a:ext cx="55053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Multiple threads execute simultaneously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18573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std::thread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411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90700"/>
            <a:ext cx="22954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Basic Thread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057400"/>
            <a:ext cx="22954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C++11 std::thread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907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9057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762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705099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Thread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009900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std::thread t(worker);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24262"/>
            <a:ext cx="19049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join()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Wait for thread completion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5821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582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381499"/>
            <a:ext cx="12477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detach()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686300"/>
            <a:ext cx="12477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Run independently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054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203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0206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19700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Concurrent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524499"/>
            <a:ext cx="27240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Multiple threads execute simultaneously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7087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638299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Thread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076449"/>
            <a:ext cx="5848203" cy="1390650"/>
          </a:xfrm>
          <a:prstGeom prst="roundRect">
            <a:avLst>
              <a:gd name="adj" fmla="val 1095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247899"/>
            <a:ext cx="228594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 and join thread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4764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std::thread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t(worker);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7241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std::thread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t2(worker,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30479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t.join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 </a:t>
            </a: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Wait for completion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581400"/>
            <a:ext cx="5848203" cy="1390650"/>
          </a:xfrm>
          <a:prstGeom prst="roundRect">
            <a:avLst>
              <a:gd name="adj" fmla="val 1095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752849"/>
            <a:ext cx="274313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Detach to run independently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9814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std::thread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t3(worker);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2291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t3.detach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5529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t3 runs in background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972050"/>
            <a:ext cx="5848203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179695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181570" y="51244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570" y="5429250"/>
            <a:ext cx="518147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Threads execute concurrently; join() waits for completion, detach() lets threads run independently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182875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std::mutex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54579"/>
            <a:ext cx="228594" cy="205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209800"/>
            <a:ext cx="17335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Mutual Exclusion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476499"/>
            <a:ext cx="17335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Prevents Race Conditions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0099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33248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186952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3124200"/>
            <a:ext cx="23145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Only One Thread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429000"/>
            <a:ext cx="23145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Accesses critical section at a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8480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41630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0335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962399"/>
            <a:ext cx="23430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Prevents Race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4267199"/>
            <a:ext cx="23430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Thread-safe access to shared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6863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5001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867555"/>
            <a:ext cx="190495" cy="1708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800600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Blocking 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5105400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Threads wait for unlock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1870710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1800225"/>
            <a:ext cx="19049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Mutex Usage Example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2238375"/>
            <a:ext cx="584820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8679" y="24003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std::mutex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m;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8679" y="27241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worker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8679" y="29718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std::lock_guard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std::mutex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lock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(m);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32194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critical_section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4671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76758" y="3990974"/>
            <a:ext cx="5848203" cy="771525"/>
          </a:xfrm>
          <a:prstGeom prst="roundRect">
            <a:avLst>
              <a:gd name="adj" fmla="val 19753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357036" y="4310696"/>
            <a:ext cx="7715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29154" y="4105274"/>
            <a:ext cx="55815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Forgetting lock causes race condition!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9154" y="4419600"/>
            <a:ext cx="55815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897" b="0">
                <a:solidFill>
                  <a:srgbClr val="CBD5E1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unsafe_worker</a:t>
            </a:r>
            <a:r>
              <a:rPr sz="897" b="0">
                <a:solidFill>
                  <a:srgbClr val="CBD5E1"/>
                </a:solidFill>
                <a:latin typeface="Roboto Mono"/>
                <a:rFonts ascii="Roboto Mono" hAnsi="Roboto Mono" eastAsia="Roboto Mono" cs="Roboto Mono"/>
              </a:rPr>
              <a:t>() { 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critical_section</a:t>
            </a:r>
            <a:r>
              <a:rPr sz="897" b="0">
                <a:solidFill>
                  <a:srgbClr val="CBD5E1"/>
                </a:solidFill>
                <a:latin typeface="Roboto Mono"/>
                <a:rFonts ascii="Roboto Mono" hAnsi="Roboto Mono" eastAsia="Roboto Mono" cs="Roboto Mono"/>
              </a:rPr>
              <a:t>(); 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4762500"/>
            <a:ext cx="5848203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4983956"/>
            <a:ext cx="228594" cy="18573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181570" y="4924424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Critical 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570" y="5267324"/>
            <a:ext cx="518147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Always use mutexes when accessing shared data from multiple threads to prevent race conditions and data corruption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24824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std::lock_guard and std::unique_lock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35479"/>
            <a:ext cx="228594" cy="205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90700"/>
            <a:ext cx="2000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RAII Lock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057400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Exception-Safe Locking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907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9057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67852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705099"/>
            <a:ext cx="19049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Automatic Unlock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009900"/>
            <a:ext cx="19049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Releases when out of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06052"/>
            <a:ext cx="190495" cy="1792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Exception 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Unlock even on exceptions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5821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582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381499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lock_guard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686300"/>
            <a:ext cx="17239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Lightweight, auto unlocks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054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203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286655"/>
            <a:ext cx="190495" cy="17088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19700"/>
            <a:ext cx="19811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unique_lock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524499"/>
            <a:ext cx="19811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Manual unlock/relock control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2515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181099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Lock Management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619250"/>
            <a:ext cx="5848203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800225"/>
            <a:ext cx="407659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Automatic lock &amp; unlock with lock_guard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1145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worker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3812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std::lock_guard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std::mutex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lock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(m);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6384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critical_section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9051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448049"/>
            <a:ext cx="5848203" cy="1981199"/>
          </a:xfrm>
          <a:prstGeom prst="roundRect">
            <a:avLst>
              <a:gd name="adj" fmla="val 769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3629025"/>
            <a:ext cx="33050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Manual control with unique_lock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9433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worker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2100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std::unique_lock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std::mutex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lk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(m);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4767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critical_section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7339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lk.unlock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50006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419725"/>
            <a:ext cx="5848203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636895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81570" y="55816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570" y="5886450"/>
            <a:ext cx="518147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RAII ensures locks are always released, even when exceptions occur - no deadlocks!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88610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std::condition_variable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107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171700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Thread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438400"/>
            <a:ext cx="2038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Condition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9718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32867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1572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3086100"/>
            <a:ext cx="19049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wait()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390899"/>
            <a:ext cx="19049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Thread waits for notification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8480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41630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034958"/>
            <a:ext cx="190495" cy="15968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962399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notify_one()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4267199"/>
            <a:ext cx="18668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Wake up one waiting thread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7243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50393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929467"/>
            <a:ext cx="190495" cy="1232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838699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notify_all()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5143500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Wake up all waiting threads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1594485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1523999"/>
            <a:ext cx="19621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Thread Wait and Notify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1962149"/>
            <a:ext cx="5848203" cy="819149"/>
          </a:xfrm>
          <a:prstGeom prst="roundRect">
            <a:avLst>
              <a:gd name="adj" fmla="val 1860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8679" y="21145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std::mutex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m;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8679" y="23621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std::condition_variable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cv;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2895600"/>
            <a:ext cx="5848203" cy="1143000"/>
          </a:xfrm>
          <a:prstGeom prst="roundRect">
            <a:avLst>
              <a:gd name="adj" fmla="val 1333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8679" y="3067050"/>
            <a:ext cx="155253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Thread 1: Wait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3718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std::unique_lock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std::mutex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lock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(m);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36194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cv.wait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lock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4152899"/>
            <a:ext cx="5848203" cy="895350"/>
          </a:xfrm>
          <a:prstGeom prst="roundRect">
            <a:avLst>
              <a:gd name="adj" fmla="val 170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38679" y="4324349"/>
            <a:ext cx="173350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Thread 2: Notify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46291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cv.notify_one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 </a:t>
            </a: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Wake one thread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5048250"/>
            <a:ext cx="5848203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5255894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181570" y="52006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Mechanism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570" y="5543550"/>
            <a:ext cx="518147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Condition variables allow threads to wait until notified, enabling efficient thread synchronization without busy-waiting loops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74323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Futures and Promises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9261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33550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Async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000250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Futures &amp; Promises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3364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486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1910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47949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std::future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52750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Block until ready, get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099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249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594006"/>
            <a:ext cx="190495" cy="1652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24250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std::promise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29050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Set result from thread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862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012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717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00550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05350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Create future automatically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625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775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4800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76850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Blocking get()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581649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Waits until result available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061209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990724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Async Result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428875"/>
            <a:ext cx="5848203" cy="895350"/>
          </a:xfrm>
          <a:prstGeom prst="roundRect">
            <a:avLst>
              <a:gd name="adj" fmla="val 170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5907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std::promise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p;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9146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std::future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f = p.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get_future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3438525"/>
            <a:ext cx="5848203" cy="1390650"/>
          </a:xfrm>
          <a:prstGeom prst="roundRect">
            <a:avLst>
              <a:gd name="adj" fmla="val 1095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8679" y="36004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std::thread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([&amp;p]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38480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p.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set_value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40957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4196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f.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get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 </a:t>
            </a: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Blocks until ready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943475"/>
            <a:ext cx="5848203" cy="752475"/>
          </a:xfrm>
          <a:prstGeom prst="roundRect">
            <a:avLst>
              <a:gd name="adj" fmla="val 2025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0579" y="5086350"/>
            <a:ext cx="30002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Using std::async for convenience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0579" y="5334000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f2 =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std::async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(worker);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192400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std::atomic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021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20763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Lock-Free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Atomic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882152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Indivisible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Cannot be interrupted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65163"/>
            <a:ext cx="190495" cy="137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21144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Locking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21144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performance than mutex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615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Race Condition 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Prevents data races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2045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Atomic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int, bool, pointer, float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832609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762125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Atomic Operations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200275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3621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std::atomic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counter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714625"/>
            <a:ext cx="42766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Thread-safe increment - no race condition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9622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counter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++;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505199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676649"/>
            <a:ext cx="388610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Compare with regular integer (unsafe)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40005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unsafe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3434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unsafe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++;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Race condition possible!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76250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979670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81570" y="4924424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570" y="5267324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Atomic operations provide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lock-free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thread-safe access without mutex overhead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4002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Thread Safety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64581"/>
            <a:ext cx="228594" cy="1857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209800"/>
            <a:ext cx="20763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Concurrency Hazards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476499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Common Thread Safety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0099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33248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1953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3124200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Race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429000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Timing-dependent bugs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8480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41630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0447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962399"/>
            <a:ext cx="18478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Data Races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4267199"/>
            <a:ext cx="18478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Unprotected shared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6863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5001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867555"/>
            <a:ext cx="190495" cy="1708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800600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Deadlocks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5105400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Threads wait for each other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2299335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222885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Example: Race Condition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2667000"/>
            <a:ext cx="584820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8679" y="28193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shared_counter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8679" y="3162299"/>
            <a:ext cx="356226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Two threads increment simultaneously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8679" y="33908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worker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36385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shared_counter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++; </a:t>
            </a:r>
            <a:r>
              <a:rPr sz="95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Race condition!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8862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76758" y="430530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4501515"/>
            <a:ext cx="228594" cy="21717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81570" y="44577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Thread Safety Principles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570" y="48006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Protect all shared data with mutexes, use atomic operations for simple counters, avoid lock ordering that causes deadlocks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16252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 and Common Pitfalls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888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552700"/>
            <a:ext cx="22097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When to Use Concurrency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3143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513699" y="3296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322074"/>
            <a:ext cx="171445" cy="99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674" y="3219449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CPU-bound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6576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513699" y="38106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833658"/>
            <a:ext cx="171445" cy="1050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8674" y="3733799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I/O-bound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1719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513699" y="43249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331416"/>
            <a:ext cx="171445" cy="1382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8674" y="4248150"/>
            <a:ext cx="13810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Multi-core utilization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6863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13699" y="48393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4852680"/>
            <a:ext cx="171445" cy="1244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8674" y="4762500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Parallel processing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440781"/>
            <a:ext cx="228594" cy="18573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2400300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Pitfalls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2952750"/>
            <a:ext cx="2886002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542773" y="30867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3113314"/>
            <a:ext cx="152396" cy="9797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19649" y="3028950"/>
            <a:ext cx="16954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Forgetting to join threads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38959" y="2952750"/>
            <a:ext cx="2886002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8504974" y="30867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753256" y="3113314"/>
            <a:ext cx="152396" cy="9797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1850" y="302895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Incorrect lock ordering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3429000"/>
            <a:ext cx="2886002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542773" y="356298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3589564"/>
            <a:ext cx="152396" cy="979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19649" y="3505199"/>
            <a:ext cx="7048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Deadlocks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38959" y="3429000"/>
            <a:ext cx="2886002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8504974" y="356298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753256" y="3589564"/>
            <a:ext cx="152396" cy="9797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981850" y="3505199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Race conditions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3829050"/>
            <a:ext cx="5848203" cy="1466849"/>
          </a:xfrm>
          <a:prstGeom prst="roundRect">
            <a:avLst>
              <a:gd name="adj" fmla="val 1038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38679" y="403355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43471" y="3981449"/>
            <a:ext cx="13810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Tips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372065" y="4418075"/>
            <a:ext cx="133346" cy="11734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81610" y="4362450"/>
            <a:ext cx="26097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std::async for automatic threading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372065" y="4684776"/>
            <a:ext cx="133346" cy="1173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81610" y="4629150"/>
            <a:ext cx="32574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Avoid mutex contention - minimize lock duration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372065" y="4951476"/>
            <a:ext cx="133346" cy="1173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581610" y="4895849"/>
            <a:ext cx="23526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Prefer atomics for simple counters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813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698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419349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686050"/>
            <a:ext cx="17906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C++11 Concurrency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2575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4105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40490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3333749"/>
            <a:ext cx="20287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std::thread for basic threading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719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9249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9192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22" y="3848099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std::mutex for mutual exclusion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86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439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44336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5822" y="4362450"/>
            <a:ext cx="2438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std::lock_guard/unique_lock for RAII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8006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9536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94795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5822" y="4876800"/>
            <a:ext cx="28574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std::condition_variable for synchronization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76758" y="22098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23724" y="23628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235715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95847" y="2286000"/>
            <a:ext cx="24669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std::future/promise for async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27241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23724" y="28771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91055" y="287150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95847" y="2800350"/>
            <a:ext cx="23716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std::atomic for lock-free operations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32385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23724" y="33915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338585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95847" y="3314700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Thread safety concepts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75284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523724" y="39058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91055" y="390020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95847" y="3829050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Race conditions and deadlocks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190999"/>
            <a:ext cx="5848203" cy="1276350"/>
          </a:xfrm>
          <a:prstGeom prst="roundRect">
            <a:avLst>
              <a:gd name="adj" fmla="val 1194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104623" y="4763134"/>
            <a:ext cx="1276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67253" y="4400073"/>
            <a:ext cx="228594" cy="1914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210144" y="4343400"/>
            <a:ext cx="51624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0144" y="4686300"/>
            <a:ext cx="5162420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</a:t>
            </a: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C++11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concurrency primitives for efficient, safe parallel code!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