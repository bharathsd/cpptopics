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3.png"/><Relationship Id="rId6" Type="http://schemas.openxmlformats.org/officeDocument/2006/relationships/image" Target="../media/image3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23.png"/><Relationship Id="rId6" Type="http://schemas.openxmlformats.org/officeDocument/2006/relationships/image" Target="../media/image47.png"/><Relationship Id="rId7" Type="http://schemas.openxmlformats.org/officeDocument/2006/relationships/image" Target="../media/image41.png"/><Relationship Id="rId8" Type="http://schemas.openxmlformats.org/officeDocument/2006/relationships/image" Target="../media/image48.png"/><Relationship Id="rId9" Type="http://schemas.openxmlformats.org/officeDocument/2006/relationships/image" Target="../media/image4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23.png"/><Relationship Id="rId6" Type="http://schemas.openxmlformats.org/officeDocument/2006/relationships/image" Target="../media/image4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image" Target="../media/image57.png"/><Relationship Id="rId8" Type="http://schemas.openxmlformats.org/officeDocument/2006/relationships/image" Target="../media/image23.png"/><Relationship Id="rId9" Type="http://schemas.openxmlformats.org/officeDocument/2006/relationships/image" Target="../media/image47.png"/><Relationship Id="rId10" Type="http://schemas.openxmlformats.org/officeDocument/2006/relationships/image" Target="../media/image5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Relationship Id="rId3" Type="http://schemas.openxmlformats.org/officeDocument/2006/relationships/image" Target="../media/image60.png"/><Relationship Id="rId4" Type="http://schemas.openxmlformats.org/officeDocument/2006/relationships/image" Target="../media/image41.png"/><Relationship Id="rId5" Type="http://schemas.openxmlformats.org/officeDocument/2006/relationships/image" Target="../media/image61.png"/><Relationship Id="rId6" Type="http://schemas.openxmlformats.org/officeDocument/2006/relationships/image" Target="../media/image62.png"/><Relationship Id="rId7" Type="http://schemas.openxmlformats.org/officeDocument/2006/relationships/image" Target="../media/image2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Relationship Id="rId3" Type="http://schemas.openxmlformats.org/officeDocument/2006/relationships/image" Target="../media/image60.png"/><Relationship Id="rId4" Type="http://schemas.openxmlformats.org/officeDocument/2006/relationships/image" Target="../media/image41.png"/><Relationship Id="rId5" Type="http://schemas.openxmlformats.org/officeDocument/2006/relationships/image" Target="../media/image64.png"/><Relationship Id="rId6" Type="http://schemas.openxmlformats.org/officeDocument/2006/relationships/image" Target="../media/image62.png"/><Relationship Id="rId7" Type="http://schemas.openxmlformats.org/officeDocument/2006/relationships/image" Target="../media/image23.png"/><Relationship Id="rId8" Type="http://schemas.openxmlformats.org/officeDocument/2006/relationships/image" Target="../media/image6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Relationship Id="rId3" Type="http://schemas.openxmlformats.org/officeDocument/2006/relationships/image" Target="../media/image67.png"/><Relationship Id="rId4" Type="http://schemas.openxmlformats.org/officeDocument/2006/relationships/image" Target="../media/image68.png"/><Relationship Id="rId5" Type="http://schemas.openxmlformats.org/officeDocument/2006/relationships/image" Target="../media/image69.png"/><Relationship Id="rId6" Type="http://schemas.openxmlformats.org/officeDocument/2006/relationships/image" Target="../media/image70.png"/><Relationship Id="rId7" Type="http://schemas.openxmlformats.org/officeDocument/2006/relationships/image" Target="../media/image41.png"/><Relationship Id="rId8" Type="http://schemas.openxmlformats.org/officeDocument/2006/relationships/image" Target="../media/image71.png"/><Relationship Id="rId9" Type="http://schemas.openxmlformats.org/officeDocument/2006/relationships/image" Target="../media/image7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Relationship Id="rId4" Type="http://schemas.openxmlformats.org/officeDocument/2006/relationships/image" Target="../media/image75.png"/><Relationship Id="rId5" Type="http://schemas.openxmlformats.org/officeDocument/2006/relationships/image" Target="../media/image76.png"/><Relationship Id="rId6" Type="http://schemas.openxmlformats.org/officeDocument/2006/relationships/image" Target="../media/image77.png"/><Relationship Id="rId7" Type="http://schemas.openxmlformats.org/officeDocument/2006/relationships/image" Target="../media/image23.png"/><Relationship Id="rId8" Type="http://schemas.openxmlformats.org/officeDocument/2006/relationships/image" Target="../media/image78.png"/><Relationship Id="rId9" Type="http://schemas.openxmlformats.org/officeDocument/2006/relationships/image" Target="../media/image7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png"/><Relationship Id="rId3" Type="http://schemas.openxmlformats.org/officeDocument/2006/relationships/image" Target="../media/image81.png"/><Relationship Id="rId4" Type="http://schemas.openxmlformats.org/officeDocument/2006/relationships/image" Target="../media/image82.png"/><Relationship Id="rId5" Type="http://schemas.openxmlformats.org/officeDocument/2006/relationships/image" Target="../media/image83.png"/><Relationship Id="rId6" Type="http://schemas.openxmlformats.org/officeDocument/2006/relationships/image" Target="../media/image84.png"/><Relationship Id="rId7" Type="http://schemas.openxmlformats.org/officeDocument/2006/relationships/image" Target="../media/image85.png"/><Relationship Id="rId8" Type="http://schemas.openxmlformats.org/officeDocument/2006/relationships/image" Target="../media/image86.png"/><Relationship Id="rId9" Type="http://schemas.openxmlformats.org/officeDocument/2006/relationships/image" Target="../media/image8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Relationship Id="rId3" Type="http://schemas.openxmlformats.org/officeDocument/2006/relationships/image" Target="../media/image51.png"/><Relationship Id="rId4" Type="http://schemas.openxmlformats.org/officeDocument/2006/relationships/image" Target="../media/image88.png"/><Relationship Id="rId5" Type="http://schemas.openxmlformats.org/officeDocument/2006/relationships/image" Target="../media/image43.png"/><Relationship Id="rId6" Type="http://schemas.openxmlformats.org/officeDocument/2006/relationships/image" Target="../media/image89.png"/><Relationship Id="rId7" Type="http://schemas.openxmlformats.org/officeDocument/2006/relationships/image" Target="../media/image90.png"/><Relationship Id="rId8" Type="http://schemas.openxmlformats.org/officeDocument/2006/relationships/image" Target="../media/image85.png"/><Relationship Id="rId9" Type="http://schemas.openxmlformats.org/officeDocument/2006/relationships/image" Target="../media/image9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Relationship Id="rId3" Type="http://schemas.openxmlformats.org/officeDocument/2006/relationships/image" Target="../media/image93.png"/><Relationship Id="rId4" Type="http://schemas.openxmlformats.org/officeDocument/2006/relationships/image" Target="../media/image94.png"/><Relationship Id="rId5" Type="http://schemas.openxmlformats.org/officeDocument/2006/relationships/image" Target="../media/image41.png"/><Relationship Id="rId6" Type="http://schemas.openxmlformats.org/officeDocument/2006/relationships/image" Target="../media/image43.png"/><Relationship Id="rId7" Type="http://schemas.openxmlformats.org/officeDocument/2006/relationships/image" Target="../media/image95.png"/><Relationship Id="rId8" Type="http://schemas.openxmlformats.org/officeDocument/2006/relationships/image" Target="../media/image9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7.png"/><Relationship Id="rId3" Type="http://schemas.openxmlformats.org/officeDocument/2006/relationships/image" Target="../media/image98.png"/><Relationship Id="rId4" Type="http://schemas.openxmlformats.org/officeDocument/2006/relationships/image" Target="../media/image99.png"/><Relationship Id="rId5" Type="http://schemas.openxmlformats.org/officeDocument/2006/relationships/image" Target="../media/image100.png"/><Relationship Id="rId6" Type="http://schemas.openxmlformats.org/officeDocument/2006/relationships/image" Target="../media/image41.png"/><Relationship Id="rId7" Type="http://schemas.openxmlformats.org/officeDocument/2006/relationships/image" Target="../media/image43.png"/><Relationship Id="rId8" Type="http://schemas.openxmlformats.org/officeDocument/2006/relationships/image" Target="../media/image10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2.png"/><Relationship Id="rId3" Type="http://schemas.openxmlformats.org/officeDocument/2006/relationships/image" Target="../media/image103.png"/><Relationship Id="rId4" Type="http://schemas.openxmlformats.org/officeDocument/2006/relationships/image" Target="../media/image104.png"/><Relationship Id="rId5" Type="http://schemas.openxmlformats.org/officeDocument/2006/relationships/image" Target="../media/image105.png"/><Relationship Id="rId6" Type="http://schemas.openxmlformats.org/officeDocument/2006/relationships/image" Target="../media/image106.png"/><Relationship Id="rId7" Type="http://schemas.openxmlformats.org/officeDocument/2006/relationships/image" Target="../media/image107.png"/><Relationship Id="rId8" Type="http://schemas.openxmlformats.org/officeDocument/2006/relationships/image" Target="../media/image108.png"/><Relationship Id="rId9" Type="http://schemas.openxmlformats.org/officeDocument/2006/relationships/image" Target="../media/image109.png"/><Relationship Id="rId10" Type="http://schemas.openxmlformats.org/officeDocument/2006/relationships/image" Target="../media/image1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457188" y="736738"/>
            <a:ext cx="1142971" cy="583923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591535" y="5374584"/>
            <a:ext cx="1142971" cy="79513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952876" y="1943100"/>
            <a:ext cx="761980" cy="381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22D3EE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867253" y="1936016"/>
            <a:ext cx="457188" cy="52267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76838" y="1943100"/>
            <a:ext cx="761980" cy="3810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100000">
                <a:srgbClr val="22D3EE"/>
              </a:gs>
            </a:gsLst>
            <a:lin scaled="0" ang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319" y="2495550"/>
            <a:ext cx="5791055" cy="761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5200"/>
              </a:lnSpc>
              <a:spcBef>
                <a:spcPts val="0"/>
              </a:spcBef>
              <a:spcAft>
                <a:spcPts val="2080"/>
              </a:spcAft>
            </a:pPr>
            <a:r>
              <a:rPr sz="3827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C++ Ranges Library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262" y="3562349"/>
            <a:ext cx="1219169" cy="38100"/>
          </a:xfrm>
          <a:prstGeom prst="rect">
            <a:avLst/>
          </a:prstGeom>
          <a:gradFill rotWithShape="1">
            <a:gsLst>
              <a:gs pos="0">
                <a:srgbClr val="22D3EE"/>
              </a:gs>
              <a:gs pos="100000">
                <a:srgbClr val="3B82F6"/>
              </a:gs>
            </a:gsLst>
            <a:lin scaled="0" ang="108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319" y="3905249"/>
            <a:ext cx="5791055" cy="3429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CBD5E1"/>
                </a:solidFill>
                <a:latin typeface="Inter"/>
                <a:rFonts ascii="Inter" hAnsi="Inter" eastAsia="Inter" cs="Inter"/>
              </a:rPr>
              <a:t>From Beginner to Power User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4086122" y="4895435"/>
            <a:ext cx="266693" cy="19132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429014" y="4857750"/>
            <a:ext cx="102867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4A3B8"/>
                </a:solidFill>
                <a:latin typeface="Inter"/>
                <a:rFonts ascii="Inter" hAnsi="Inter" eastAsia="Inter" cs="Inter"/>
              </a:rPr>
              <a:t>Composable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914877" y="4896885"/>
            <a:ext cx="266693" cy="18842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257768" y="4857750"/>
            <a:ext cx="67625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4A3B8"/>
                </a:solidFill>
                <a:latin typeface="Inter"/>
                <a:rFonts ascii="Inter" hAnsi="Inter" eastAsia="Inter" cs="Inter"/>
              </a:rPr>
              <a:t>Efficient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7391215" y="4872244"/>
            <a:ext cx="266693" cy="23771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34106" y="4857750"/>
            <a:ext cx="37146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4A3B8"/>
                </a:solidFill>
                <a:latin typeface="Inter"/>
                <a:rFonts ascii="Inter" hAnsi="Inter" eastAsia="Inter" cs="Inter"/>
              </a:rPr>
              <a:t>Safe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255204"/>
            <a:ext cx="342891" cy="28969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6773" y="114300"/>
            <a:ext cx="4114697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Introduction to Ranges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584" y="2352675"/>
            <a:ext cx="457188" cy="38100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2971" y="2219324"/>
            <a:ext cx="200019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22D3EE"/>
                </a:solidFill>
                <a:latin typeface="Inter"/>
                <a:rFonts ascii="Inter" hAnsi="Inter" eastAsia="Inter" cs="Inter"/>
              </a:rPr>
              <a:t>What are Ranges?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584" y="2676524"/>
            <a:ext cx="4876678" cy="1114425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2535"/>
              </a:lnSpc>
              <a:spcBef>
                <a:spcPts val="0"/>
              </a:spcBef>
              <a:spcAft>
                <a:spcPts val="1560"/>
              </a:spcAft>
            </a:pPr>
            <a:r>
              <a:rPr sz="1435" b="0">
                <a:solidFill>
                  <a:srgbClr val="CBD5E1"/>
                </a:solidFill>
                <a:latin typeface="Inter"/>
                <a:rFonts ascii="Inter" hAnsi="Inter" eastAsia="Inter" cs="Inter"/>
              </a:rPr>
              <a:t> An </a:t>
            </a:r>
            <a:r>
              <a:rPr sz="1435" b="1">
                <a:solidFill>
                  <a:srgbClr val="22D3EE"/>
                </a:solidFill>
                <a:latin typeface="Inter"/>
                <a:rFonts ascii="Inter" hAnsi="Inter" eastAsia="Inter" cs="Inter"/>
              </a:rPr>
              <a:t>abstraction</a:t>
            </a:r>
            <a:r>
              <a:rPr sz="1435" b="0">
                <a:solidFill>
                  <a:srgbClr val="CBD5E1"/>
                </a:solidFill>
                <a:latin typeface="Inter"/>
                <a:rFonts ascii="Inter" hAnsi="Inter" eastAsia="Inter" cs="Inter"/>
              </a:rPr>
              <a:t> over iterator pairs that makes working with sequences of data more </a:t>
            </a:r>
            <a:r>
              <a:rPr sz="1435" b="1">
                <a:solidFill>
                  <a:srgbClr val="22D3EE"/>
                </a:solidFill>
                <a:latin typeface="Inter"/>
                <a:rFonts ascii="Inter" hAnsi="Inter" eastAsia="Inter" cs="Inter"/>
              </a:rPr>
              <a:t>composable</a:t>
            </a:r>
            <a:r>
              <a:rPr sz="1435" b="0">
                <a:solidFill>
                  <a:srgbClr val="CBD5E1"/>
                </a:solidFill>
                <a:latin typeface="Inter"/>
                <a:rFonts ascii="Inter" hAnsi="Inter" eastAsia="Inter" cs="Inter"/>
              </a:rPr>
              <a:t>, </a:t>
            </a:r>
            <a:r>
              <a:rPr sz="1435" b="1">
                <a:solidFill>
                  <a:srgbClr val="22D3EE"/>
                </a:solidFill>
                <a:latin typeface="Inter"/>
                <a:rFonts ascii="Inter" hAnsi="Inter" eastAsia="Inter" cs="Inter"/>
              </a:rPr>
              <a:t>expressive</a:t>
            </a:r>
            <a:r>
              <a:rPr sz="1435" b="0">
                <a:solidFill>
                  <a:srgbClr val="CBD5E1"/>
                </a:solidFill>
                <a:latin typeface="Inter"/>
                <a:rFonts ascii="Inter" hAnsi="Inter" eastAsia="Inter" cs="Inter"/>
              </a:rPr>
              <a:t>, and </a:t>
            </a:r>
            <a:r>
              <a:rPr sz="1435" b="1">
                <a:solidFill>
                  <a:srgbClr val="22D3EE"/>
                </a:solidFill>
                <a:latin typeface="Inter"/>
                <a:rFonts ascii="Inter" hAnsi="Inter" eastAsia="Inter" cs="Inter"/>
              </a:rPr>
              <a:t>safe</a:t>
            </a:r>
            <a:r>
              <a:rPr sz="1435" b="0">
                <a:solidFill>
                  <a:srgbClr val="CBD5E1"/>
                </a:solidFill>
                <a:latin typeface="Inter"/>
                <a:rFonts ascii="Inter" hAnsi="Inter" eastAsia="Inter" cs="Inter"/>
              </a:rPr>
              <a:t>.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09584" y="4019549"/>
            <a:ext cx="4876678" cy="1123949"/>
          </a:xfrm>
          <a:prstGeom prst="roundRect">
            <a:avLst>
              <a:gd name="adj" fmla="val 13559"/>
            </a:avLst>
          </a:prstGeom>
          <a:solidFill>
            <a:srgbClr val="1E293B">
              <a:alpha val="5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7703" y="4257675"/>
            <a:ext cx="440043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780"/>
              </a:spcAft>
            </a:pPr>
            <a:r>
              <a:rPr sz="1076" b="0">
                <a:solidFill>
                  <a:srgbClr val="94A3B8"/>
                </a:solidFill>
                <a:latin typeface="Inter"/>
                <a:rFonts ascii="Inter" hAnsi="Inter" eastAsia="Inter" cs="Inter"/>
              </a:rPr>
              <a:t>Traditional: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03" y="4638674"/>
            <a:ext cx="440043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22D3EE"/>
                </a:solidFill>
                <a:latin typeface="JetBrains Mono"/>
                <a:rFonts ascii="JetBrains Mono" hAnsi="JetBrains Mono" eastAsia="JetBrains Mono" cs="JetBrains Mono"/>
              </a:rPr>
              <a:t>std::sort(vec.begin(), vec.end())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05432" y="2228850"/>
            <a:ext cx="533386" cy="590549"/>
          </a:xfrm>
          <a:prstGeom prst="roundRect">
            <a:avLst>
              <a:gd name="adj" fmla="val 28571"/>
            </a:avLst>
          </a:prstGeom>
          <a:solidFill>
            <a:srgbClr val="22D3EE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6819729" y="2366596"/>
            <a:ext cx="304792" cy="25790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91215" y="2190749"/>
            <a:ext cx="413374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Conciseness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1215" y="2571750"/>
            <a:ext cx="413374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4A3B8"/>
                </a:solidFill>
                <a:latin typeface="Inter"/>
                <a:rFonts ascii="Inter" hAnsi="Inter" eastAsia="Inter" cs="Inter"/>
              </a:rPr>
              <a:t>Less verbose code, no need for begin()/end() pairs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05432" y="3105149"/>
            <a:ext cx="533386" cy="590549"/>
          </a:xfrm>
          <a:prstGeom prst="roundRect">
            <a:avLst>
              <a:gd name="adj" fmla="val 28571"/>
            </a:avLst>
          </a:prstGeom>
          <a:solidFill>
            <a:srgbClr val="22D3EE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819729" y="3228242"/>
            <a:ext cx="304792" cy="28721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391215" y="3067050"/>
            <a:ext cx="2724081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Safety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91215" y="3448049"/>
            <a:ext cx="272408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4A3B8"/>
                </a:solidFill>
                <a:latin typeface="Inter"/>
                <a:rFonts ascii="Inter" hAnsi="Inter" eastAsia="Inter" cs="Inter"/>
              </a:rPr>
              <a:t>Eliminates iterator mismatch bugs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05432" y="3981449"/>
            <a:ext cx="533386" cy="590549"/>
          </a:xfrm>
          <a:prstGeom prst="roundRect">
            <a:avLst>
              <a:gd name="adj" fmla="val 28571"/>
            </a:avLst>
          </a:prstGeom>
          <a:solidFill>
            <a:srgbClr val="22D3EE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819729" y="4130919"/>
            <a:ext cx="304792" cy="234461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391215" y="3943350"/>
            <a:ext cx="3105072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Composability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91215" y="4324349"/>
            <a:ext cx="310507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4A3B8"/>
                </a:solidFill>
                <a:latin typeface="Inter"/>
                <a:rFonts ascii="Inter" hAnsi="Inter" eastAsia="Inter" cs="Inter"/>
              </a:rPr>
              <a:t>Chain operations using pipe operator |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05432" y="4857750"/>
            <a:ext cx="533386" cy="590549"/>
          </a:xfrm>
          <a:prstGeom prst="roundRect">
            <a:avLst>
              <a:gd name="adj" fmla="val 28571"/>
            </a:avLst>
          </a:prstGeom>
          <a:solidFill>
            <a:srgbClr val="22D3EE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819729" y="5007219"/>
            <a:ext cx="304792" cy="23446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391215" y="4819650"/>
            <a:ext cx="3171745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520"/>
              </a:spcAft>
            </a:pPr>
            <a:r>
              <a:rPr sz="1435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Lazy Evaluation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91215" y="5200650"/>
            <a:ext cx="317174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4A3B8"/>
                </a:solidFill>
                <a:latin typeface="Inter"/>
                <a:rFonts ascii="Inter" hAnsi="Inter" eastAsia="Inter" cs="Inter"/>
              </a:rPr>
              <a:t>Views are evaluated only when iterated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261116"/>
            <a:ext cx="342891" cy="27786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6773" y="114300"/>
            <a:ext cx="2714557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Core Concepts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8179" y="1543050"/>
            <a:ext cx="2695507" cy="4572000"/>
          </a:xfrm>
          <a:prstGeom prst="roundRect">
            <a:avLst>
              <a:gd name="adj" fmla="val 11307"/>
            </a:avLst>
          </a:prstGeom>
          <a:gradFill rotWithShape="1">
            <a:gsLst>
              <a:gs pos="0">
                <a:srgbClr val="06B6D4">
                  <a:alpha val="20000"/>
                </a:srgbClr>
              </a:gs>
              <a:gs pos="100000">
                <a:srgbClr val="3B82F6">
                  <a:alpha val="20000"/>
                </a:srgbClr>
              </a:gs>
            </a:gsLst>
            <a:lin scaled="0" ang="8100000"/>
          </a:gradFill>
          <a:ln w="825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762080" y="1866899"/>
            <a:ext cx="838179" cy="895350"/>
          </a:xfrm>
          <a:prstGeom prst="roundRect">
            <a:avLst>
              <a:gd name="adj" fmla="val 22725000"/>
            </a:avLst>
          </a:prstGeom>
          <a:solidFill>
            <a:srgbClr val="22D3EE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914477" y="2164772"/>
            <a:ext cx="533386" cy="2424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52496" y="2990849"/>
            <a:ext cx="2066873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1560"/>
              </a:spcAft>
            </a:pPr>
            <a:r>
              <a:rPr sz="2152" b="1">
                <a:solidFill>
                  <a:srgbClr val="22D3EE"/>
                </a:solidFill>
                <a:latin typeface="Inter"/>
                <a:rFonts ascii="Inter" hAnsi="Inter" eastAsia="Inter" cs="Inter"/>
              </a:rPr>
              <a:t>Ranges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496" y="3600450"/>
            <a:ext cx="2066873" cy="61912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1560"/>
              </a:spcAft>
            </a:pPr>
            <a:r>
              <a:rPr sz="1196" b="0">
                <a:solidFill>
                  <a:srgbClr val="CBD5E1"/>
                </a:solidFill>
                <a:latin typeface="Inter"/>
                <a:rFonts ascii="Inter" hAnsi="Inter" eastAsia="Inter" cs="Inter"/>
              </a:rPr>
              <a:t>Anything you can </a:t>
            </a:r>
            <a:r>
              <a:rPr sz="1196" b="1">
                <a:solidFill>
                  <a:srgbClr val="22D3EE"/>
                </a:solidFill>
                <a:latin typeface="Inter"/>
                <a:rFonts ascii="Inter" hAnsi="Inter" eastAsia="Inter" cs="Inter"/>
              </a:rPr>
              <a:t>iterate over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52496" y="4511768"/>
            <a:ext cx="190495" cy="12046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57288" y="4438649"/>
            <a:ext cx="15239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4A3B8"/>
                </a:solidFill>
                <a:latin typeface="Inter"/>
                <a:rFonts ascii="Inter" hAnsi="Inter" eastAsia="Inter" cs="Inter"/>
              </a:rPr>
              <a:t>std::vector, std::list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52496" y="4892768"/>
            <a:ext cx="190495" cy="12046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457288" y="4819650"/>
            <a:ext cx="139061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4A3B8"/>
                </a:solidFill>
                <a:latin typeface="Inter"/>
                <a:rFonts ascii="Inter" hAnsi="Inter" eastAsia="Inter" cs="Inter"/>
              </a:rPr>
              <a:t>std::map, std::set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52496" y="5273768"/>
            <a:ext cx="190495" cy="12046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457288" y="5200650"/>
            <a:ext cx="11810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4A3B8"/>
                </a:solidFill>
                <a:latin typeface="Inter"/>
                <a:rFonts ascii="Inter" hAnsi="Inter" eastAsia="Inter" cs="Inter"/>
              </a:rPr>
              <a:t>Arrays, strings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52496" y="5654768"/>
            <a:ext cx="190495" cy="12046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457288" y="5581649"/>
            <a:ext cx="152396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4A3B8"/>
                </a:solidFill>
                <a:latin typeface="Inter"/>
                <a:rFonts ascii="Inter" hAnsi="Inter" eastAsia="Inter" cs="Inter"/>
              </a:rPr>
              <a:t>Custom containers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3914677" y="3669631"/>
            <a:ext cx="457188" cy="318836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4752856" y="1543050"/>
            <a:ext cx="2695507" cy="4572000"/>
          </a:xfrm>
          <a:prstGeom prst="roundRect">
            <a:avLst>
              <a:gd name="adj" fmla="val 11307"/>
            </a:avLst>
          </a:prstGeom>
          <a:gradFill rotWithShape="1">
            <a:gsLst>
              <a:gs pos="0">
                <a:srgbClr val="06B6D4">
                  <a:alpha val="20000"/>
                </a:srgbClr>
              </a:gs>
              <a:gs pos="100000">
                <a:srgbClr val="3B82F6">
                  <a:alpha val="20000"/>
                </a:srgbClr>
              </a:gs>
            </a:gsLst>
            <a:lin scaled="0" ang="8100000"/>
          </a:gradFill>
          <a:ln w="825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676758" y="1866899"/>
            <a:ext cx="838179" cy="895350"/>
          </a:xfrm>
          <a:prstGeom prst="roundRect">
            <a:avLst>
              <a:gd name="adj" fmla="val 22725000"/>
            </a:avLst>
          </a:prstGeom>
          <a:solidFill>
            <a:srgbClr val="22D3EE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5829154" y="2113251"/>
            <a:ext cx="533386" cy="34549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067173" y="2990849"/>
            <a:ext cx="2066873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1560"/>
              </a:spcAft>
            </a:pPr>
            <a:r>
              <a:rPr sz="2152" b="1">
                <a:solidFill>
                  <a:srgbClr val="22D3EE"/>
                </a:solidFill>
                <a:latin typeface="Inter"/>
                <a:rFonts ascii="Inter" hAnsi="Inter" eastAsia="Inter" cs="Inter"/>
              </a:rPr>
              <a:t>Views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67173" y="3600450"/>
            <a:ext cx="2066873" cy="61912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1560"/>
              </a:spcAft>
            </a:pPr>
            <a:r>
              <a:rPr sz="1196" b="1">
                <a:solidFill>
                  <a:srgbClr val="22D3EE"/>
                </a:solidFill>
                <a:latin typeface="Inter"/>
                <a:rFonts ascii="Inter" hAnsi="Inter" eastAsia="Inter" cs="Inter"/>
              </a:rPr>
              <a:t>Lightweight wrappers</a:t>
            </a:r>
            <a:r>
              <a:rPr sz="1196" b="0">
                <a:solidFill>
                  <a:srgbClr val="CBD5E1"/>
                </a:solidFill>
                <a:latin typeface="Inter"/>
                <a:rFonts ascii="Inter" hAnsi="Inter" eastAsia="Inter" cs="Inter"/>
              </a:rPr>
              <a:t> over ranges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067173" y="4511768"/>
            <a:ext cx="190495" cy="120463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371965" y="4438649"/>
            <a:ext cx="100009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4A3B8"/>
                </a:solidFill>
                <a:latin typeface="Inter"/>
                <a:rFonts ascii="Inter" hAnsi="Inter" eastAsia="Inter" cs="Inter"/>
              </a:rPr>
              <a:t>Non-owning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067173" y="4892768"/>
            <a:ext cx="190495" cy="12046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371965" y="4819650"/>
            <a:ext cx="175255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4A3B8"/>
                </a:solidFill>
                <a:latin typeface="Inter"/>
                <a:rFonts ascii="Inter" hAnsi="Inter" eastAsia="Inter" cs="Inter"/>
              </a:rPr>
              <a:t>Cheap to create/copy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067173" y="5273768"/>
            <a:ext cx="190495" cy="120463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5371965" y="5200650"/>
            <a:ext cx="125726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4A3B8"/>
                </a:solidFill>
                <a:latin typeface="Inter"/>
                <a:rFonts ascii="Inter" hAnsi="Inter" eastAsia="Inter" cs="Inter"/>
              </a:rPr>
              <a:t>Lazy evaluation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5067173" y="5654768"/>
            <a:ext cx="190495" cy="120463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371965" y="5581649"/>
            <a:ext cx="151443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4A3B8"/>
                </a:solidFill>
                <a:latin typeface="Inter"/>
                <a:rFonts ascii="Inter" hAnsi="Inter" eastAsia="Inter" cs="Inter"/>
              </a:rPr>
              <a:t>Composable with |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7819829" y="3669631"/>
            <a:ext cx="457188" cy="318836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8658008" y="1543050"/>
            <a:ext cx="2695507" cy="4572000"/>
          </a:xfrm>
          <a:prstGeom prst="roundRect">
            <a:avLst>
              <a:gd name="adj" fmla="val 11307"/>
            </a:avLst>
          </a:prstGeom>
          <a:gradFill rotWithShape="1">
            <a:gsLst>
              <a:gs pos="0">
                <a:srgbClr val="06B6D4">
                  <a:alpha val="20000"/>
                </a:srgbClr>
              </a:gs>
              <a:gs pos="100000">
                <a:srgbClr val="3B82F6">
                  <a:alpha val="20000"/>
                </a:srgbClr>
              </a:gs>
            </a:gsLst>
            <a:lin scaled="0" ang="8100000"/>
          </a:gradFill>
          <a:ln w="825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591435" y="1866899"/>
            <a:ext cx="838179" cy="895350"/>
          </a:xfrm>
          <a:prstGeom prst="roundRect">
            <a:avLst>
              <a:gd name="adj" fmla="val 22725000"/>
            </a:avLst>
          </a:prstGeom>
          <a:solidFill>
            <a:srgbClr val="22D3EE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743831" y="2101128"/>
            <a:ext cx="533386" cy="369743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8972325" y="2990849"/>
            <a:ext cx="2066873" cy="3809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2600"/>
              </a:lnSpc>
              <a:spcBef>
                <a:spcPts val="0"/>
              </a:spcBef>
              <a:spcAft>
                <a:spcPts val="1560"/>
              </a:spcAft>
            </a:pPr>
            <a:r>
              <a:rPr sz="2152" b="1">
                <a:solidFill>
                  <a:srgbClr val="22D3EE"/>
                </a:solidFill>
                <a:latin typeface="Inter"/>
                <a:rFonts ascii="Inter" hAnsi="Inter" eastAsia="Inter" cs="Inter"/>
              </a:rPr>
              <a:t>Algorithms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972325" y="3600450"/>
            <a:ext cx="2066873" cy="619124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ctr">
              <a:lnSpc>
                <a:spcPts val="2080"/>
              </a:lnSpc>
              <a:spcBef>
                <a:spcPts val="0"/>
              </a:spcBef>
              <a:spcAft>
                <a:spcPts val="1560"/>
              </a:spcAft>
            </a:pPr>
            <a:r>
              <a:rPr sz="1196" b="1">
                <a:solidFill>
                  <a:srgbClr val="22D3EE"/>
                </a:solidFill>
                <a:latin typeface="Inter"/>
                <a:rFonts ascii="Inter" hAnsi="Inter" eastAsia="Inter" cs="Inter"/>
              </a:rPr>
              <a:t>Range-based</a:t>
            </a:r>
            <a:r>
              <a:rPr sz="1196" b="0">
                <a:solidFill>
                  <a:srgbClr val="CBD5E1"/>
                </a:solidFill>
                <a:latin typeface="Inter"/>
                <a:rFonts ascii="Inter" hAnsi="Inter" eastAsia="Inter" cs="Inter"/>
              </a:rPr>
              <a:t> operations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972325" y="4511768"/>
            <a:ext cx="190495" cy="120463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9277118" y="4438649"/>
            <a:ext cx="121916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4A3B8"/>
                </a:solidFill>
                <a:latin typeface="Inter"/>
                <a:rFonts ascii="Inter" hAnsi="Inter" eastAsia="Inter" cs="Inter"/>
              </a:rPr>
              <a:t>sort, find, copy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972325" y="4892768"/>
            <a:ext cx="190495" cy="120463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9277118" y="4819650"/>
            <a:ext cx="159063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4A3B8"/>
                </a:solidFill>
                <a:latin typeface="Inter"/>
                <a:rFonts ascii="Inter" hAnsi="Inter" eastAsia="Inter" cs="Inter"/>
              </a:rPr>
              <a:t>for_each, transform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972325" y="5273768"/>
            <a:ext cx="190495" cy="120463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9277118" y="5200650"/>
            <a:ext cx="131441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4A3B8"/>
                </a:solidFill>
                <a:latin typeface="Inter"/>
                <a:rFonts ascii="Inter" hAnsi="Inter" eastAsia="Inter" cs="Inter"/>
              </a:rPr>
              <a:t>With projections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972325" y="5654768"/>
            <a:ext cx="190495" cy="120463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9277118" y="5581649"/>
            <a:ext cx="120011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94A3B8"/>
                </a:solidFill>
                <a:latin typeface="Inter"/>
                <a:rFonts ascii="Inter" hAnsi="Inter" eastAsia="Inter" cs="Inter"/>
              </a:rPr>
              <a:t>Safer than STL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293632"/>
            <a:ext cx="342891" cy="21283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6773" y="114300"/>
            <a:ext cx="2714557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Before vs After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1257300"/>
            <a:ext cx="4800479" cy="5143500"/>
          </a:xfrm>
          <a:prstGeom prst="roundRect">
            <a:avLst>
              <a:gd name="adj" fmla="val 4761"/>
            </a:avLst>
          </a:prstGeom>
          <a:solidFill>
            <a:srgbClr val="1E293B">
              <a:alpha val="3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47703" y="1552989"/>
            <a:ext cx="266693" cy="2087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28694" y="1504950"/>
            <a:ext cx="165730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CBD5E1"/>
                </a:solidFill>
                <a:latin typeface="Inter"/>
                <a:rFonts ascii="Inter" hAnsi="Inter" eastAsia="Inter" cs="Inter"/>
              </a:rPr>
              <a:t>Traditional STL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03" y="2038349"/>
            <a:ext cx="432424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94A3B8"/>
                </a:solidFill>
                <a:latin typeface="JetBrains Mono"/>
                <a:rFonts ascii="JetBrains Mono" hAnsi="JetBrains Mono" eastAsia="JetBrains Mono" cs="JetBrains Mono"/>
              </a:rPr>
              <a:t>// Filter even numbers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03" y="2381250"/>
            <a:ext cx="432424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std::vector</a:t>
            </a:r>
            <a:r>
              <a:rPr sz="1076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&lt;</a:t>
            </a:r>
            <a:r>
              <a:rPr sz="1076" b="0">
                <a:solidFill>
                  <a:srgbClr val="22D3EE"/>
                </a:solidFill>
                <a:latin typeface="JetBrains Mono"/>
                <a:rFonts ascii="JetBrains Mono" hAnsi="JetBrains Mono" eastAsia="JetBrains Mono" cs="JetBrains Mono"/>
              </a:rPr>
              <a:t>int</a:t>
            </a:r>
            <a:r>
              <a:rPr sz="1076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&gt; temp;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03" y="2647949"/>
            <a:ext cx="4324241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std::copy_if</a:t>
            </a:r>
            <a:r>
              <a:rPr sz="1076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(vec.</a:t>
            </a:r>
            <a:r>
              <a:rPr sz="1076" b="0">
                <a:solidFill>
                  <a:srgbClr val="60A5FA"/>
                </a:solidFill>
                <a:latin typeface="JetBrains Mono"/>
                <a:rFonts ascii="JetBrains Mono" hAnsi="JetBrains Mono" eastAsia="JetBrains Mono" cs="JetBrains Mono"/>
              </a:rPr>
              <a:t>begin</a:t>
            </a:r>
            <a:r>
              <a:rPr sz="1076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(), vec.</a:t>
            </a:r>
            <a:r>
              <a:rPr sz="1076" b="0">
                <a:solidFill>
                  <a:srgbClr val="60A5FA"/>
                </a:solidFill>
                <a:latin typeface="JetBrains Mono"/>
                <a:rFonts ascii="JetBrains Mono" hAnsi="JetBrains Mono" eastAsia="JetBrains Mono" cs="JetBrains Mono"/>
              </a:rPr>
              <a:t>end</a:t>
            </a:r>
            <a:r>
              <a:rPr sz="1076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(), </a:t>
            </a:r>
            <a:r>
              <a:rPr sz="1076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std::back_inserter</a:t>
            </a:r>
            <a:r>
              <a:rPr sz="1076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(temp), even);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03" y="3333749"/>
            <a:ext cx="432424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94A3B8"/>
                </a:solidFill>
                <a:latin typeface="JetBrains Mono"/>
                <a:rFonts ascii="JetBrains Mono" hAnsi="JetBrains Mono" eastAsia="JetBrains Mono" cs="JetBrains Mono"/>
              </a:rPr>
              <a:t>// Transform to squares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03" y="3676649"/>
            <a:ext cx="4324241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std::transform</a:t>
            </a:r>
            <a:r>
              <a:rPr sz="1076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(temp.</a:t>
            </a:r>
            <a:r>
              <a:rPr sz="1076" b="0">
                <a:solidFill>
                  <a:srgbClr val="60A5FA"/>
                </a:solidFill>
                <a:latin typeface="JetBrains Mono"/>
                <a:rFonts ascii="JetBrains Mono" hAnsi="JetBrains Mono" eastAsia="JetBrains Mono" cs="JetBrains Mono"/>
              </a:rPr>
              <a:t>begin</a:t>
            </a:r>
            <a:r>
              <a:rPr sz="1076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(), temp.</a:t>
            </a:r>
            <a:r>
              <a:rPr sz="1076" b="0">
                <a:solidFill>
                  <a:srgbClr val="60A5FA"/>
                </a:solidFill>
                <a:latin typeface="JetBrains Mono"/>
                <a:rFonts ascii="JetBrains Mono" hAnsi="JetBrains Mono" eastAsia="JetBrains Mono" cs="JetBrains Mono"/>
              </a:rPr>
              <a:t>end</a:t>
            </a:r>
            <a:r>
              <a:rPr sz="1076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(), temp.</a:t>
            </a:r>
            <a:r>
              <a:rPr sz="1076" b="0">
                <a:solidFill>
                  <a:srgbClr val="60A5FA"/>
                </a:solidFill>
                <a:latin typeface="JetBrains Mono"/>
                <a:rFonts ascii="JetBrains Mono" hAnsi="JetBrains Mono" eastAsia="JetBrains Mono" cs="JetBrains Mono"/>
              </a:rPr>
              <a:t>begin</a:t>
            </a:r>
            <a:r>
              <a:rPr sz="1076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(), square);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03" y="4362450"/>
            <a:ext cx="432424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94A3B8"/>
                </a:solidFill>
                <a:latin typeface="JetBrains Mono"/>
                <a:rFonts ascii="JetBrains Mono" hAnsi="JetBrains Mono" eastAsia="JetBrains Mono" cs="JetBrains Mono"/>
              </a:rPr>
              <a:t>// Take first 2 elements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03" y="4705350"/>
            <a:ext cx="4324241" cy="5333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std::vector</a:t>
            </a:r>
            <a:r>
              <a:rPr sz="1076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&lt;</a:t>
            </a:r>
            <a:r>
              <a:rPr sz="1076" b="0">
                <a:solidFill>
                  <a:srgbClr val="22D3EE"/>
                </a:solidFill>
                <a:latin typeface="JetBrains Mono"/>
                <a:rFonts ascii="JetBrains Mono" hAnsi="JetBrains Mono" eastAsia="JetBrains Mono" cs="JetBrains Mono"/>
              </a:rPr>
              <a:t>int</a:t>
            </a:r>
            <a:r>
              <a:rPr sz="1076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&gt; temp2(temp.</a:t>
            </a:r>
            <a:r>
              <a:rPr sz="1076" b="0">
                <a:solidFill>
                  <a:srgbClr val="60A5FA"/>
                </a:solidFill>
                <a:latin typeface="JetBrains Mono"/>
                <a:rFonts ascii="JetBrains Mono" hAnsi="JetBrains Mono" eastAsia="JetBrains Mono" cs="JetBrains Mono"/>
              </a:rPr>
              <a:t>begin</a:t>
            </a:r>
            <a:r>
              <a:rPr sz="1076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(), temp.</a:t>
            </a:r>
            <a:r>
              <a:rPr sz="1076" b="0">
                <a:solidFill>
                  <a:srgbClr val="60A5FA"/>
                </a:solidFill>
                <a:latin typeface="JetBrains Mono"/>
                <a:rFonts ascii="JetBrains Mono" hAnsi="JetBrains Mono" eastAsia="JetBrains Mono" cs="JetBrains Mono"/>
              </a:rPr>
              <a:t>begin</a:t>
            </a:r>
            <a:r>
              <a:rPr sz="1076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() + 2);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47703" y="5767667"/>
            <a:ext cx="190495" cy="12326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114397" y="5695949"/>
            <a:ext cx="264788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JetBrains Mono"/>
                <a:rFonts ascii="JetBrains Mono" hAnsi="JetBrains Mono" eastAsia="JetBrains Mono" cs="JetBrains Mono"/>
              </a:rPr>
              <a:t>Multiple temporary containers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47703" y="6072467"/>
            <a:ext cx="190495" cy="1232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14397" y="6000750"/>
            <a:ext cx="192400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JetBrains Mono"/>
                <a:rFonts ascii="JetBrains Mono" hAnsi="JetBrains Mono" eastAsia="JetBrains Mono" cs="JetBrains Mono"/>
              </a:rPr>
              <a:t>Error-prone begin/end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47703" y="6377267"/>
            <a:ext cx="190495" cy="12326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14397" y="6305550"/>
            <a:ext cx="127631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JetBrains Mono"/>
                <a:rFonts ascii="JetBrains Mono" hAnsi="JetBrains Mono" eastAsia="JetBrains Mono" cs="JetBrains Mono"/>
              </a:rPr>
              <a:t>Not composable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5867253" y="3744828"/>
            <a:ext cx="457188" cy="168442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6781630" y="1257300"/>
            <a:ext cx="4800479" cy="5143500"/>
          </a:xfrm>
          <a:prstGeom prst="roundRect">
            <a:avLst>
              <a:gd name="adj" fmla="val 4761"/>
            </a:avLst>
          </a:prstGeom>
          <a:gradFill rotWithShape="1">
            <a:gsLst>
              <a:gs pos="0">
                <a:srgbClr val="164E63">
                  <a:alpha val="30000"/>
                </a:srgbClr>
              </a:gs>
              <a:gs pos="100000">
                <a:srgbClr val="1E3A8A">
                  <a:alpha val="30000"/>
                </a:srgbClr>
              </a:gs>
            </a:gsLst>
            <a:lin scaled="0" ang="8100000"/>
          </a:gradFill>
          <a:ln w="825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019749" y="1532696"/>
            <a:ext cx="266693" cy="24930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400739" y="1504950"/>
            <a:ext cx="135251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22D3EE"/>
                </a:solidFill>
                <a:latin typeface="Inter"/>
                <a:rFonts ascii="Inter" hAnsi="Inter" eastAsia="Inter" cs="Inter"/>
              </a:rPr>
              <a:t>C++ Ranges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19749" y="2038349"/>
            <a:ext cx="432424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076" b="0">
                <a:solidFill>
                  <a:srgbClr val="94A3B8"/>
                </a:solidFill>
                <a:latin typeface="JetBrains Mono"/>
                <a:rFonts ascii="JetBrains Mono" hAnsi="JetBrains Mono" eastAsia="JetBrains Mono" cs="JetBrains Mono"/>
              </a:rPr>
              <a:t>// Single expression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9749" y="2381250"/>
            <a:ext cx="432424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auto</a:t>
            </a:r>
            <a:r>
              <a:rPr sz="1076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 result = vec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2145" y="2800350"/>
            <a:ext cx="417184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| </a:t>
            </a:r>
            <a:r>
              <a:rPr sz="1076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std::views::filter</a:t>
            </a:r>
            <a:r>
              <a:rPr sz="1076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(even)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2145" y="3067050"/>
            <a:ext cx="417184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| </a:t>
            </a:r>
            <a:r>
              <a:rPr sz="1076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std::views::transform</a:t>
            </a:r>
            <a:r>
              <a:rPr sz="1076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(square)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2145" y="3333749"/>
            <a:ext cx="417184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| </a:t>
            </a:r>
            <a:r>
              <a:rPr sz="1076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std::views::take</a:t>
            </a:r>
            <a:r>
              <a:rPr sz="1076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(2);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7019749" y="4185957"/>
            <a:ext cx="190495" cy="162485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286442" y="4133849"/>
            <a:ext cx="210497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No temporary containers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7019749" y="4490757"/>
            <a:ext cx="190495" cy="16248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286442" y="4438649"/>
            <a:ext cx="182875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Type-safe operations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7019749" y="4795557"/>
            <a:ext cx="190495" cy="162485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286442" y="4743450"/>
            <a:ext cx="146681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Fully composable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7019749" y="5100357"/>
            <a:ext cx="190495" cy="162485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286442" y="5048250"/>
            <a:ext cx="137156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Lazy evaluation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255204"/>
            <a:ext cx="342891" cy="28969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6773" y="114300"/>
            <a:ext cx="2924101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Range Factories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1371600"/>
            <a:ext cx="5333866" cy="2305049"/>
          </a:xfrm>
          <a:prstGeom prst="roundRect">
            <a:avLst>
              <a:gd name="adj" fmla="val 9917"/>
            </a:avLst>
          </a:prstGeom>
          <a:solidFill>
            <a:srgbClr val="1E293B">
              <a:alpha val="3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47703" y="1642696"/>
            <a:ext cx="304792" cy="2579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66793" y="1619250"/>
            <a:ext cx="131441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22D3EE"/>
                </a:solidFill>
                <a:latin typeface="Inter"/>
                <a:rFonts ascii="Inter" hAnsi="Inter" eastAsia="Inter" cs="Inter"/>
              </a:rPr>
              <a:t>empty_view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03" y="2114550"/>
            <a:ext cx="485762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1040"/>
              </a:spcAft>
            </a:pPr>
            <a:r>
              <a:rPr sz="1076" b="0">
                <a:solidFill>
                  <a:srgbClr val="94A3B8"/>
                </a:solidFill>
                <a:latin typeface="Inter"/>
                <a:rFonts ascii="Inter" hAnsi="Inter" eastAsia="Inter" cs="Inter"/>
              </a:rPr>
              <a:t>Creates an empty view with no elements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03" y="2533649"/>
            <a:ext cx="485762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auto</a:t>
            </a:r>
            <a:r>
              <a:rPr sz="956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 empty = </a:t>
            </a:r>
            <a:r>
              <a:rPr sz="956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std::views::empty</a:t>
            </a:r>
            <a:r>
              <a:rPr sz="956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&lt;</a:t>
            </a:r>
            <a:r>
              <a:rPr sz="956" b="0">
                <a:solidFill>
                  <a:srgbClr val="22D3EE"/>
                </a:solidFill>
                <a:latin typeface="JetBrains Mono"/>
                <a:rFonts ascii="JetBrains Mono" hAnsi="JetBrains Mono" eastAsia="JetBrains Mono" cs="JetBrains Mono"/>
              </a:rPr>
              <a:t>int</a:t>
            </a:r>
            <a:r>
              <a:rPr sz="956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&gt;;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03" y="2876549"/>
            <a:ext cx="485762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78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auto</a:t>
            </a:r>
            <a:r>
              <a:rPr sz="956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 empty_str = </a:t>
            </a:r>
            <a:r>
              <a:rPr sz="956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std::views::empty</a:t>
            </a:r>
            <a:r>
              <a:rPr sz="956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&lt;</a:t>
            </a:r>
            <a:r>
              <a:rPr sz="956" b="0">
                <a:solidFill>
                  <a:srgbClr val="22D3EE"/>
                </a:solidFill>
                <a:latin typeface="JetBrains Mono"/>
                <a:rFonts ascii="JetBrains Mono" hAnsi="JetBrains Mono" eastAsia="JetBrains Mono" cs="JetBrains Mono"/>
              </a:rPr>
              <a:t>std::string</a:t>
            </a:r>
            <a:r>
              <a:rPr sz="956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&gt;;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03" y="3219449"/>
            <a:ext cx="485762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78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JetBrains Mono"/>
                <a:rFonts ascii="JetBrains Mono" hAnsi="JetBrains Mono" eastAsia="JetBrains Mono" cs="JetBrains Mono"/>
              </a:rPr>
              <a:t>// empty.begin() == empty.end()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8243" y="1371600"/>
            <a:ext cx="5333866" cy="2305049"/>
          </a:xfrm>
          <a:prstGeom prst="roundRect">
            <a:avLst>
              <a:gd name="adj" fmla="val 9917"/>
            </a:avLst>
          </a:prstGeom>
          <a:solidFill>
            <a:srgbClr val="1E293B">
              <a:alpha val="3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6486362" y="1642696"/>
            <a:ext cx="304792" cy="25790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905452" y="1619250"/>
            <a:ext cx="1295367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22D3EE"/>
                </a:solidFill>
                <a:latin typeface="Inter"/>
                <a:rFonts ascii="Inter" hAnsi="Inter" eastAsia="Inter" cs="Inter"/>
              </a:rPr>
              <a:t>single_view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6362" y="2114550"/>
            <a:ext cx="485762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1040"/>
              </a:spcAft>
            </a:pPr>
            <a:r>
              <a:rPr sz="1076" b="0">
                <a:solidFill>
                  <a:srgbClr val="94A3B8"/>
                </a:solidFill>
                <a:latin typeface="Inter"/>
                <a:rFonts ascii="Inter" hAnsi="Inter" eastAsia="Inter" cs="Inter"/>
              </a:rPr>
              <a:t>Creates a view with a single element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6362" y="2533649"/>
            <a:ext cx="485762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auto</a:t>
            </a:r>
            <a:r>
              <a:rPr sz="956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 single = </a:t>
            </a:r>
            <a:r>
              <a:rPr sz="956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std::views::single</a:t>
            </a:r>
            <a:r>
              <a:rPr sz="956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(</a:t>
            </a:r>
            <a:r>
              <a:rPr sz="956" b="0">
                <a:solidFill>
                  <a:srgbClr val="4ADE80"/>
                </a:solidFill>
                <a:latin typeface="JetBrains Mono"/>
                <a:rFonts ascii="JetBrains Mono" hAnsi="JetBrains Mono" eastAsia="JetBrains Mono" cs="JetBrains Mono"/>
              </a:rPr>
              <a:t>42</a:t>
            </a:r>
            <a:r>
              <a:rPr sz="956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);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6362" y="2876549"/>
            <a:ext cx="485762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78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auto</a:t>
            </a:r>
            <a:r>
              <a:rPr sz="956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 single_str = </a:t>
            </a:r>
            <a:r>
              <a:rPr sz="956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std::views::single</a:t>
            </a:r>
            <a:r>
              <a:rPr sz="956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(</a:t>
            </a:r>
            <a:r>
              <a:rPr sz="956" b="0">
                <a:solidFill>
                  <a:srgbClr val="4ADE80"/>
                </a:solidFill>
                <a:latin typeface="JetBrains Mono"/>
                <a:rFonts ascii="JetBrains Mono" hAnsi="JetBrains Mono" eastAsia="JetBrains Mono" cs="JetBrains Mono"/>
              </a:rPr>
              <a:t>"hello"</a:t>
            </a:r>
            <a:r>
              <a:rPr sz="956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);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6362" y="3219449"/>
            <a:ext cx="485762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78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JetBrains Mono"/>
                <a:rFonts ascii="JetBrains Mono" hAnsi="JetBrains Mono" eastAsia="JetBrains Mono" cs="JetBrains Mono"/>
              </a:rPr>
              <a:t>// Contains exactly one element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9584" y="3981449"/>
            <a:ext cx="5333866" cy="2305049"/>
          </a:xfrm>
          <a:prstGeom prst="roundRect">
            <a:avLst>
              <a:gd name="adj" fmla="val 9917"/>
            </a:avLst>
          </a:prstGeom>
          <a:solidFill>
            <a:srgbClr val="1E293B">
              <a:alpha val="3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47703" y="4299438"/>
            <a:ext cx="304792" cy="164123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266793" y="4229100"/>
            <a:ext cx="1038199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22D3EE"/>
                </a:solidFill>
                <a:latin typeface="Inter"/>
                <a:rFonts ascii="Inter" hAnsi="Inter" eastAsia="Inter" cs="Inter"/>
              </a:rPr>
              <a:t>iota_view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703" y="4724399"/>
            <a:ext cx="485762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1040"/>
              </a:spcAft>
            </a:pPr>
            <a:r>
              <a:rPr sz="1076" b="0">
                <a:solidFill>
                  <a:srgbClr val="94A3B8"/>
                </a:solidFill>
                <a:latin typeface="Inter"/>
                <a:rFonts ascii="Inter" hAnsi="Inter" eastAsia="Inter" cs="Inter"/>
              </a:rPr>
              <a:t>Generates a sequence by incrementing a value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7703" y="5143500"/>
            <a:ext cx="485762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auto</a:t>
            </a:r>
            <a:r>
              <a:rPr sz="956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 numbers = </a:t>
            </a:r>
            <a:r>
              <a:rPr sz="956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std::views::iota</a:t>
            </a:r>
            <a:r>
              <a:rPr sz="956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(</a:t>
            </a:r>
            <a:r>
              <a:rPr sz="956" b="0">
                <a:solidFill>
                  <a:srgbClr val="4ADE80"/>
                </a:solidFill>
                <a:latin typeface="JetBrains Mono"/>
                <a:rFonts ascii="JetBrains Mono" hAnsi="JetBrains Mono" eastAsia="JetBrains Mono" cs="JetBrains Mono"/>
              </a:rPr>
              <a:t>1</a:t>
            </a:r>
            <a:r>
              <a:rPr sz="956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, </a:t>
            </a:r>
            <a:r>
              <a:rPr sz="956" b="0">
                <a:solidFill>
                  <a:srgbClr val="4ADE80"/>
                </a:solidFill>
                <a:latin typeface="JetBrains Mono"/>
                <a:rFonts ascii="JetBrains Mono" hAnsi="JetBrains Mono" eastAsia="JetBrains Mono" cs="JetBrains Mono"/>
              </a:rPr>
              <a:t>11</a:t>
            </a:r>
            <a:r>
              <a:rPr sz="956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);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7703" y="5486400"/>
            <a:ext cx="485762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78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auto</a:t>
            </a:r>
            <a:r>
              <a:rPr sz="956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 letters = </a:t>
            </a:r>
            <a:r>
              <a:rPr sz="956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std::views::iota</a:t>
            </a:r>
            <a:r>
              <a:rPr sz="956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(</a:t>
            </a:r>
            <a:r>
              <a:rPr sz="956" b="0">
                <a:solidFill>
                  <a:srgbClr val="4ADE80"/>
                </a:solidFill>
                <a:latin typeface="JetBrains Mono"/>
                <a:rFonts ascii="JetBrains Mono" hAnsi="JetBrains Mono" eastAsia="JetBrains Mono" cs="JetBrains Mono"/>
              </a:rPr>
              <a:t>'a'</a:t>
            </a:r>
            <a:r>
              <a:rPr sz="956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, </a:t>
            </a:r>
            <a:r>
              <a:rPr sz="956" b="0">
                <a:solidFill>
                  <a:srgbClr val="4ADE80"/>
                </a:solidFill>
                <a:latin typeface="JetBrains Mono"/>
                <a:rFonts ascii="JetBrains Mono" hAnsi="JetBrains Mono" eastAsia="JetBrains Mono" cs="JetBrains Mono"/>
              </a:rPr>
              <a:t>'k'</a:t>
            </a:r>
            <a:r>
              <a:rPr sz="956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);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7703" y="5829300"/>
            <a:ext cx="485762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78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JetBrains Mono"/>
                <a:rFonts ascii="JetBrains Mono" hAnsi="JetBrains Mono" eastAsia="JetBrains Mono" cs="JetBrains Mono"/>
              </a:rPr>
              <a:t>// Generates: 1, 2, 3, ..., 10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48243" y="3981449"/>
            <a:ext cx="5333866" cy="2305049"/>
          </a:xfrm>
          <a:prstGeom prst="roundRect">
            <a:avLst>
              <a:gd name="adj" fmla="val 9917"/>
            </a:avLst>
          </a:prstGeom>
          <a:solidFill>
            <a:srgbClr val="1E293B">
              <a:alpha val="3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486362" y="4252546"/>
            <a:ext cx="304792" cy="25790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905452" y="4229100"/>
            <a:ext cx="1342991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22D3EE"/>
                </a:solidFill>
                <a:latin typeface="Inter"/>
                <a:rFonts ascii="Inter" hAnsi="Inter" eastAsia="Inter" cs="Inter"/>
              </a:rPr>
              <a:t>repeat_view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86362" y="4724399"/>
            <a:ext cx="485762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1040"/>
              </a:spcAft>
            </a:pPr>
            <a:r>
              <a:rPr sz="1076" b="0">
                <a:solidFill>
                  <a:srgbClr val="94A3B8"/>
                </a:solidFill>
                <a:latin typeface="Inter"/>
                <a:rFonts ascii="Inter" hAnsi="Inter" eastAsia="Inter" cs="Inter"/>
              </a:rPr>
              <a:t>Generates a sequence by repeating a value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86362" y="5143500"/>
            <a:ext cx="485762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auto</a:t>
            </a:r>
            <a:r>
              <a:rPr sz="956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 repeat = </a:t>
            </a:r>
            <a:r>
              <a:rPr sz="956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std::views::repeat</a:t>
            </a:r>
            <a:r>
              <a:rPr sz="956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(</a:t>
            </a:r>
            <a:r>
              <a:rPr sz="956" b="0">
                <a:solidFill>
                  <a:srgbClr val="4ADE80"/>
                </a:solidFill>
                <a:latin typeface="JetBrains Mono"/>
                <a:rFonts ascii="JetBrains Mono" hAnsi="JetBrains Mono" eastAsia="JetBrains Mono" cs="JetBrains Mono"/>
              </a:rPr>
              <a:t>42</a:t>
            </a:r>
            <a:r>
              <a:rPr sz="956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);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86362" y="5486400"/>
            <a:ext cx="485762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78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auto</a:t>
            </a:r>
            <a:r>
              <a:rPr sz="956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 repeated = </a:t>
            </a:r>
            <a:r>
              <a:rPr sz="956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std::views::repeat</a:t>
            </a:r>
            <a:r>
              <a:rPr sz="956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(</a:t>
            </a:r>
            <a:r>
              <a:rPr sz="956" b="0">
                <a:solidFill>
                  <a:srgbClr val="4ADE80"/>
                </a:solidFill>
                <a:latin typeface="JetBrains Mono"/>
                <a:rFonts ascii="JetBrains Mono" hAnsi="JetBrains Mono" eastAsia="JetBrains Mono" cs="JetBrains Mono"/>
              </a:rPr>
              <a:t>"x"</a:t>
            </a:r>
            <a:r>
              <a:rPr sz="956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);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86362" y="5829300"/>
            <a:ext cx="485762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78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JetBrains Mono"/>
                <a:rFonts ascii="JetBrains Mono" hAnsi="JetBrains Mono" eastAsia="JetBrains Mono" cs="JetBrains Mono"/>
              </a:rPr>
              <a:t>// Generates: 42, 42, 42, ... (C++23)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278852"/>
            <a:ext cx="342891" cy="24239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6773" y="114300"/>
            <a:ext cx="3933726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Essential Views Part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1162050"/>
            <a:ext cx="5257668" cy="5334000"/>
          </a:xfrm>
          <a:prstGeom prst="roundRect">
            <a:avLst>
              <a:gd name="adj" fmla="val 4347"/>
            </a:avLst>
          </a:prstGeom>
          <a:solidFill>
            <a:srgbClr val="1E293B">
              <a:alpha val="3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47703" y="1480038"/>
            <a:ext cx="304792" cy="16412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66793" y="1409699"/>
            <a:ext cx="533386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22D3EE"/>
                </a:solidFill>
                <a:latin typeface="Inter"/>
                <a:rFonts ascii="Inter" hAnsi="Inter" eastAsia="Inter" cs="Inter"/>
              </a:rPr>
              <a:t>filter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03" y="1904999"/>
            <a:ext cx="478143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1040"/>
              </a:spcAft>
            </a:pPr>
            <a:r>
              <a:rPr sz="1076" b="0">
                <a:solidFill>
                  <a:srgbClr val="94A3B8"/>
                </a:solidFill>
                <a:latin typeface="Inter"/>
                <a:rFonts ascii="Inter" hAnsi="Inter" eastAsia="Inter" cs="Inter"/>
              </a:rPr>
              <a:t>Select elements satisfying a predicate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03" y="2324100"/>
            <a:ext cx="478143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auto</a:t>
            </a:r>
            <a:r>
              <a:rPr sz="956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 evens = numbers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03" y="2667000"/>
            <a:ext cx="4781430" cy="457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780"/>
              </a:spcBef>
              <a:spcAft>
                <a:spcPts val="0"/>
              </a:spcAft>
            </a:pPr>
            <a:r>
              <a:rPr sz="956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| </a:t>
            </a:r>
            <a:r>
              <a:rPr sz="956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std::views::filter</a:t>
            </a:r>
            <a:r>
              <a:rPr sz="956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([](</a:t>
            </a:r>
            <a:r>
              <a:rPr sz="956" b="0">
                <a:solidFill>
                  <a:srgbClr val="22D3EE"/>
                </a:solidFill>
                <a:latin typeface="JetBrains Mono"/>
                <a:rFonts ascii="JetBrains Mono" hAnsi="JetBrains Mono" eastAsia="JetBrains Mono" cs="JetBrains Mono"/>
              </a:rPr>
              <a:t>int</a:t>
            </a:r>
            <a:r>
              <a:rPr sz="956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 n) { </a:t>
            </a:r>
            <a:r>
              <a:rPr sz="956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return</a:t>
            </a:r>
            <a:r>
              <a:rPr sz="956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 n % </a:t>
            </a:r>
            <a:r>
              <a:rPr sz="956" b="0">
                <a:solidFill>
                  <a:srgbClr val="4ADE80"/>
                </a:solidFill>
                <a:latin typeface="JetBrains Mono"/>
                <a:rFonts ascii="JetBrains Mono" hAnsi="JetBrains Mono" eastAsia="JetBrains Mono" cs="JetBrains Mono"/>
              </a:rPr>
              <a:t>2</a:t>
            </a:r>
            <a:r>
              <a:rPr sz="956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 == </a:t>
            </a:r>
            <a:r>
              <a:rPr sz="956" b="0">
                <a:solidFill>
                  <a:srgbClr val="4ADE80"/>
                </a:solidFill>
                <a:latin typeface="JetBrains Mono"/>
                <a:rFonts ascii="JetBrains Mono" hAnsi="JetBrains Mono" eastAsia="JetBrains Mono" cs="JetBrains Mono"/>
              </a:rPr>
              <a:t>0</a:t>
            </a:r>
            <a:r>
              <a:rPr sz="956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; });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7703" y="3238500"/>
            <a:ext cx="4781430" cy="761999"/>
          </a:xfrm>
          <a:prstGeom prst="roundRect">
            <a:avLst>
              <a:gd name="adj" fmla="val 20000"/>
            </a:avLst>
          </a:prstGeom>
          <a:solidFill>
            <a:srgbClr val="0F172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0099" y="3390899"/>
            <a:ext cx="447663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0">
                <a:solidFill>
                  <a:srgbClr val="94A3B8"/>
                </a:solidFill>
                <a:latin typeface="JetBrains Mono"/>
                <a:rFonts ascii="JetBrains Mono" hAnsi="JetBrains Mono" eastAsia="JetBrains Mono" cs="JetBrains Mono"/>
              </a:rPr>
              <a:t>Input: [1, 2, 3, 4, 5, 6, 7, 8, 9, 10]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0099" y="3657600"/>
            <a:ext cx="447663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4A3B8"/>
                </a:solidFill>
                <a:latin typeface="JetBrains Mono"/>
                <a:rFonts ascii="JetBrains Mono" hAnsi="JetBrains Mono" eastAsia="JetBrains Mono" cs="JetBrains Mono"/>
              </a:rPr>
              <a:t>Output: [2, 4, 6, 8, 10]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47703" y="4166907"/>
            <a:ext cx="190495" cy="1624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14397" y="4114800"/>
            <a:ext cx="274313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JetBrains Mono"/>
                <a:rFonts ascii="JetBrains Mono" hAnsi="JetBrains Mono" eastAsia="JetBrains Mono" cs="JetBrains Mono"/>
              </a:rPr>
              <a:t>Predicates can be any callable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4441" y="1200150"/>
            <a:ext cx="5257668" cy="2524125"/>
          </a:xfrm>
          <a:prstGeom prst="roundRect">
            <a:avLst>
              <a:gd name="adj" fmla="val 9056"/>
            </a:avLst>
          </a:prstGeom>
          <a:solidFill>
            <a:srgbClr val="1E293B">
              <a:alpha val="3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524461" y="1399346"/>
            <a:ext cx="266693" cy="24930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905452" y="1390650"/>
            <a:ext cx="92390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22D3EE"/>
                </a:solidFill>
                <a:latin typeface="Inter"/>
                <a:rFonts ascii="Inter" hAnsi="Inter" eastAsia="Inter" cs="Inter"/>
              </a:rPr>
              <a:t>transform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4461" y="1809749"/>
            <a:ext cx="485762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780"/>
              </a:spcAft>
            </a:pPr>
            <a:r>
              <a:rPr sz="956" b="0">
                <a:solidFill>
                  <a:srgbClr val="94A3B8"/>
                </a:solidFill>
                <a:latin typeface="Inter"/>
                <a:rFonts ascii="Inter" hAnsi="Inter" eastAsia="Inter" cs="Inter"/>
              </a:rPr>
              <a:t>Apply function to each element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4461" y="2152650"/>
            <a:ext cx="485762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auto</a:t>
            </a:r>
            <a:r>
              <a:rPr sz="83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 squares = numbers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4461" y="2419349"/>
            <a:ext cx="485762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520"/>
              </a:spcBef>
              <a:spcAft>
                <a:spcPts val="0"/>
              </a:spcAft>
            </a:pPr>
            <a:r>
              <a:rPr sz="83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| </a:t>
            </a:r>
            <a:r>
              <a:rPr sz="83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std::views::transform</a:t>
            </a:r>
            <a:r>
              <a:rPr sz="83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([](</a:t>
            </a:r>
            <a:r>
              <a:rPr sz="837" b="0">
                <a:solidFill>
                  <a:srgbClr val="22D3EE"/>
                </a:solidFill>
                <a:latin typeface="JetBrains Mono"/>
                <a:rFonts ascii="JetBrains Mono" hAnsi="JetBrains Mono" eastAsia="JetBrains Mono" cs="JetBrains Mono"/>
              </a:rPr>
              <a:t>int</a:t>
            </a:r>
            <a:r>
              <a:rPr sz="83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 n) { </a:t>
            </a:r>
            <a:r>
              <a:rPr sz="83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return</a:t>
            </a:r>
            <a:r>
              <a:rPr sz="83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 n * n; });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4461" y="2686050"/>
            <a:ext cx="143823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94A3B8"/>
                </a:solidFill>
                <a:latin typeface="JetBrains Mono"/>
                <a:rFonts ascii="JetBrains Mono" hAnsi="JetBrains Mono" eastAsia="JetBrains Mono" cs="JetBrains Mono"/>
              </a:rPr>
              <a:t>[1, 2, 3] → [1, 4, 9]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24441" y="3943350"/>
            <a:ext cx="2514537" cy="2524125"/>
          </a:xfrm>
          <a:prstGeom prst="roundRect">
            <a:avLst>
              <a:gd name="adj" fmla="val 9090"/>
            </a:avLst>
          </a:prstGeom>
          <a:solidFill>
            <a:srgbClr val="1E293B">
              <a:alpha val="3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524461" y="4173192"/>
            <a:ext cx="266693" cy="22611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905452" y="4152899"/>
            <a:ext cx="40003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22D3EE"/>
                </a:solidFill>
                <a:latin typeface="Inter"/>
                <a:rFonts ascii="Inter" hAnsi="Inter" eastAsia="Inter" cs="Inter"/>
              </a:rPr>
              <a:t>take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4461" y="4572000"/>
            <a:ext cx="21144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780"/>
              </a:spcAft>
            </a:pPr>
            <a:r>
              <a:rPr sz="956" b="0">
                <a:solidFill>
                  <a:srgbClr val="94A3B8"/>
                </a:solidFill>
                <a:latin typeface="Inter"/>
                <a:rFonts ascii="Inter" hAnsi="Inter" eastAsia="Inter" cs="Inter"/>
              </a:rPr>
              <a:t>Take first N elements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4461" y="4914900"/>
            <a:ext cx="211449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auto</a:t>
            </a:r>
            <a:r>
              <a:rPr sz="83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 first3 = numbers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4461" y="5181599"/>
            <a:ext cx="211449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520"/>
              </a:spcBef>
              <a:spcAft>
                <a:spcPts val="0"/>
              </a:spcAft>
            </a:pPr>
            <a:r>
              <a:rPr sz="83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| </a:t>
            </a:r>
            <a:r>
              <a:rPr sz="83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std::views::take</a:t>
            </a:r>
            <a:r>
              <a:rPr sz="83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(</a:t>
            </a:r>
            <a:r>
              <a:rPr sz="837" b="0">
                <a:solidFill>
                  <a:srgbClr val="4ADE80"/>
                </a:solidFill>
                <a:latin typeface="JetBrains Mono"/>
                <a:rFonts ascii="JetBrains Mono" hAnsi="JetBrains Mono" eastAsia="JetBrains Mono" cs="JetBrains Mono"/>
              </a:rPr>
              <a:t>3</a:t>
            </a:r>
            <a:r>
              <a:rPr sz="83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);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4461" y="5448300"/>
            <a:ext cx="184780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94A3B8"/>
                </a:solidFill>
                <a:latin typeface="JetBrains Mono"/>
                <a:rFonts ascii="JetBrains Mono" hAnsi="JetBrains Mono" eastAsia="JetBrains Mono" cs="JetBrains Mono"/>
              </a:rPr>
              <a:t>[1, 2, 3, 4, 5] → [1, 2, 3]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67573" y="3943350"/>
            <a:ext cx="2514537" cy="2524125"/>
          </a:xfrm>
          <a:prstGeom prst="roundRect">
            <a:avLst>
              <a:gd name="adj" fmla="val 9090"/>
            </a:avLst>
          </a:prstGeom>
          <a:solidFill>
            <a:srgbClr val="1E293B">
              <a:alpha val="3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9267593" y="4181889"/>
            <a:ext cx="266693" cy="208721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648583" y="4152899"/>
            <a:ext cx="42861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22D3EE"/>
                </a:solidFill>
                <a:latin typeface="Inter"/>
                <a:rFonts ascii="Inter" hAnsi="Inter" eastAsia="Inter" cs="Inter"/>
              </a:rPr>
              <a:t>drop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67593" y="4572000"/>
            <a:ext cx="21144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780"/>
              </a:spcAft>
            </a:pPr>
            <a:r>
              <a:rPr sz="956" b="0">
                <a:solidFill>
                  <a:srgbClr val="94A3B8"/>
                </a:solidFill>
                <a:latin typeface="Inter"/>
                <a:rFonts ascii="Inter" hAnsi="Inter" eastAsia="Inter" cs="Inter"/>
              </a:rPr>
              <a:t>Skip first N elements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67593" y="4914900"/>
            <a:ext cx="211449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auto</a:t>
            </a:r>
            <a:r>
              <a:rPr sz="83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 rest = numbers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67593" y="5181599"/>
            <a:ext cx="211449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520"/>
              </a:spcBef>
              <a:spcAft>
                <a:spcPts val="0"/>
              </a:spcAft>
            </a:pPr>
            <a:r>
              <a:rPr sz="83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| </a:t>
            </a:r>
            <a:r>
              <a:rPr sz="83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std::views::drop</a:t>
            </a:r>
            <a:r>
              <a:rPr sz="83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(</a:t>
            </a:r>
            <a:r>
              <a:rPr sz="837" b="0">
                <a:solidFill>
                  <a:srgbClr val="4ADE80"/>
                </a:solidFill>
                <a:latin typeface="JetBrains Mono"/>
                <a:rFonts ascii="JetBrains Mono" hAnsi="JetBrains Mono" eastAsia="JetBrains Mono" cs="JetBrains Mono"/>
              </a:rPr>
              <a:t>2</a:t>
            </a:r>
            <a:r>
              <a:rPr sz="83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);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67593" y="5448300"/>
            <a:ext cx="184780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94A3B8"/>
                </a:solidFill>
                <a:latin typeface="JetBrains Mono"/>
                <a:rFonts ascii="JetBrains Mono" hAnsi="JetBrains Mono" eastAsia="JetBrains Mono" cs="JetBrains Mono"/>
              </a:rPr>
              <a:t>[1, 2, 3, 4, 5] → [3, 4, 5]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293632"/>
            <a:ext cx="342891" cy="21283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6773" y="114300"/>
            <a:ext cx="4009924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Essential Views Part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1143000"/>
            <a:ext cx="5257668" cy="2571750"/>
          </a:xfrm>
          <a:prstGeom prst="roundRect">
            <a:avLst>
              <a:gd name="adj" fmla="val 8888"/>
            </a:avLst>
          </a:prstGeom>
          <a:solidFill>
            <a:srgbClr val="1E293B">
              <a:alpha val="3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09604" y="1401831"/>
            <a:ext cx="266693" cy="1681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90595" y="1352549"/>
            <a:ext cx="70483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22D3EE"/>
                </a:solidFill>
                <a:latin typeface="Inter"/>
                <a:rFonts ascii="Inter" hAnsi="Inter" eastAsia="Inter" cs="Inter"/>
              </a:rPr>
              <a:t>reverse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04" y="1771650"/>
            <a:ext cx="485762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780"/>
              </a:spcAft>
            </a:pPr>
            <a:r>
              <a:rPr sz="956" b="0">
                <a:solidFill>
                  <a:srgbClr val="94A3B8"/>
                </a:solidFill>
                <a:latin typeface="Inter"/>
                <a:rFonts ascii="Inter" hAnsi="Inter" eastAsia="Inter" cs="Inter"/>
              </a:rPr>
              <a:t>Iterate in reverse order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04" y="2114550"/>
            <a:ext cx="485762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auto</a:t>
            </a:r>
            <a:r>
              <a:rPr sz="83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 rev = numbers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04" y="2381250"/>
            <a:ext cx="485762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520"/>
              </a:spcBef>
              <a:spcAft>
                <a:spcPts val="0"/>
              </a:spcAft>
            </a:pPr>
            <a:r>
              <a:rPr sz="83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| </a:t>
            </a:r>
            <a:r>
              <a:rPr sz="83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std::views::reverse</a:t>
            </a:r>
            <a:r>
              <a:rPr sz="83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04" y="2647949"/>
            <a:ext cx="1438239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94A3B8"/>
                </a:solidFill>
                <a:latin typeface="JetBrains Mono"/>
                <a:rFonts ascii="JetBrains Mono" hAnsi="JetBrains Mono" eastAsia="JetBrains Mono" cs="JetBrains Mono"/>
              </a:rPr>
              <a:t>[1, 2, 3] → [3, 2, 1]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9584" y="3943350"/>
            <a:ext cx="5257668" cy="2571750"/>
          </a:xfrm>
          <a:prstGeom prst="roundRect">
            <a:avLst>
              <a:gd name="adj" fmla="val 8888"/>
            </a:avLst>
          </a:prstGeom>
          <a:solidFill>
            <a:srgbClr val="1E293B">
              <a:alpha val="3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09604" y="4187686"/>
            <a:ext cx="266693" cy="19712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190595" y="4152899"/>
            <a:ext cx="34289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22D3EE"/>
                </a:solidFill>
                <a:latin typeface="Inter"/>
                <a:rFonts ascii="Inter" hAnsi="Inter" eastAsia="Inter" cs="Inter"/>
              </a:rPr>
              <a:t>join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04" y="4572000"/>
            <a:ext cx="485762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780"/>
              </a:spcAft>
            </a:pPr>
            <a:r>
              <a:rPr sz="956" b="0">
                <a:solidFill>
                  <a:srgbClr val="94A3B8"/>
                </a:solidFill>
                <a:latin typeface="Inter"/>
                <a:rFonts ascii="Inter" hAnsi="Inter" eastAsia="Inter" cs="Inter"/>
              </a:rPr>
              <a:t>Flatten ranges of ranges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604" y="4914900"/>
            <a:ext cx="485762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auto</a:t>
            </a:r>
            <a:r>
              <a:rPr sz="83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 flat = matrix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604" y="5181599"/>
            <a:ext cx="485762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520"/>
              </a:spcBef>
              <a:spcAft>
                <a:spcPts val="0"/>
              </a:spcAft>
            </a:pPr>
            <a:r>
              <a:rPr sz="83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| </a:t>
            </a:r>
            <a:r>
              <a:rPr sz="83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std::views::join</a:t>
            </a:r>
            <a:r>
              <a:rPr sz="83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604" y="5448300"/>
            <a:ext cx="171445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94A3B8"/>
                </a:solidFill>
                <a:latin typeface="JetBrains Mono"/>
                <a:rFonts ascii="JetBrains Mono" hAnsi="JetBrains Mono" eastAsia="JetBrains Mono" cs="JetBrains Mono"/>
              </a:rPr>
              <a:t>[[1,2],[3,4]] → [1,2,3,4]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24441" y="1143000"/>
            <a:ext cx="5257668" cy="2571750"/>
          </a:xfrm>
          <a:prstGeom prst="roundRect">
            <a:avLst>
              <a:gd name="adj" fmla="val 8888"/>
            </a:avLst>
          </a:prstGeom>
          <a:solidFill>
            <a:srgbClr val="1E293B">
              <a:alpha val="3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524461" y="1372842"/>
            <a:ext cx="266693" cy="22611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905452" y="1352549"/>
            <a:ext cx="40003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22D3EE"/>
                </a:solidFill>
                <a:latin typeface="Inter"/>
                <a:rFonts ascii="Inter" hAnsi="Inter" eastAsia="Inter" cs="Inter"/>
              </a:rPr>
              <a:t>split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4461" y="1771650"/>
            <a:ext cx="485762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780"/>
              </a:spcAft>
            </a:pPr>
            <a:r>
              <a:rPr sz="956" b="0">
                <a:solidFill>
                  <a:srgbClr val="94A3B8"/>
                </a:solidFill>
                <a:latin typeface="Inter"/>
                <a:rFonts ascii="Inter" hAnsi="Inter" eastAsia="Inter" cs="Inter"/>
              </a:rPr>
              <a:t>Split by delimiter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4461" y="2114550"/>
            <a:ext cx="485762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auto</a:t>
            </a:r>
            <a:r>
              <a:rPr sz="83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 parts = csv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4461" y="2381250"/>
            <a:ext cx="485762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520"/>
              </a:spcBef>
              <a:spcAft>
                <a:spcPts val="0"/>
              </a:spcAft>
            </a:pPr>
            <a:r>
              <a:rPr sz="83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| </a:t>
            </a:r>
            <a:r>
              <a:rPr sz="83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std::views::split</a:t>
            </a:r>
            <a:r>
              <a:rPr sz="83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(</a:t>
            </a:r>
            <a:r>
              <a:rPr sz="837" b="0">
                <a:solidFill>
                  <a:srgbClr val="4ADE80"/>
                </a:solidFill>
                <a:latin typeface="JetBrains Mono"/>
                <a:rFonts ascii="JetBrains Mono" hAnsi="JetBrains Mono" eastAsia="JetBrains Mono" cs="JetBrains Mono"/>
              </a:rPr>
              <a:t>","</a:t>
            </a:r>
            <a:r>
              <a:rPr sz="83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);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4461" y="2647949"/>
            <a:ext cx="158111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94A3B8"/>
                </a:solidFill>
                <a:latin typeface="JetBrains Mono"/>
                <a:rFonts ascii="JetBrains Mono" hAnsi="JetBrains Mono" eastAsia="JetBrains Mono" cs="JetBrains Mono"/>
              </a:rPr>
              <a:t>"a,b,c" → ["a","b","c"]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24441" y="3943350"/>
            <a:ext cx="5257668" cy="2571750"/>
          </a:xfrm>
          <a:prstGeom prst="roundRect">
            <a:avLst>
              <a:gd name="adj" fmla="val 8888"/>
            </a:avLst>
          </a:prstGeom>
          <a:solidFill>
            <a:srgbClr val="1E293B">
              <a:alpha val="3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524461" y="4213777"/>
            <a:ext cx="266693" cy="14494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6905452" y="4152899"/>
            <a:ext cx="126679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22D3EE"/>
                </a:solidFill>
                <a:latin typeface="Inter"/>
                <a:rFonts ascii="Inter" hAnsi="Inter" eastAsia="Inter" cs="Inter"/>
              </a:rPr>
              <a:t>keys &amp; values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4461" y="4572000"/>
            <a:ext cx="485762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780"/>
              </a:spcAft>
            </a:pPr>
            <a:r>
              <a:rPr sz="956" b="0">
                <a:solidFill>
                  <a:srgbClr val="94A3B8"/>
                </a:solidFill>
                <a:latin typeface="Inter"/>
                <a:rFonts ascii="Inter" hAnsi="Inter" eastAsia="Inter" cs="Inter"/>
              </a:rPr>
              <a:t>Extract from pairs (maps)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4461" y="4914900"/>
            <a:ext cx="485762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auto</a:t>
            </a:r>
            <a:r>
              <a:rPr sz="83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 keys = map | </a:t>
            </a:r>
            <a:r>
              <a:rPr sz="83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std::views::keys</a:t>
            </a:r>
            <a:r>
              <a:rPr sz="83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4461" y="5181599"/>
            <a:ext cx="485762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520"/>
              </a:spcBef>
              <a:spcAft>
                <a:spcPts val="0"/>
              </a:spcAft>
            </a:pPr>
            <a:r>
              <a:rPr sz="83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auto</a:t>
            </a:r>
            <a:r>
              <a:rPr sz="83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 vals = map | </a:t>
            </a:r>
            <a:r>
              <a:rPr sz="83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std::views::values</a:t>
            </a:r>
            <a:r>
              <a:rPr sz="83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4461" y="5448300"/>
            <a:ext cx="171445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94A3B8"/>
                </a:solidFill>
                <a:latin typeface="JetBrains Mono"/>
                <a:rFonts ascii="JetBrains Mono" hAnsi="JetBrains Mono" eastAsia="JetBrains Mono" cs="JetBrains Mono"/>
              </a:rPr>
              <a:t>{a:1, b:2} → [a,b], [1,2]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278852"/>
            <a:ext cx="342891" cy="24239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6773" y="114300"/>
            <a:ext cx="3247943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Range Algorithms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1162050"/>
            <a:ext cx="5181470" cy="5334000"/>
          </a:xfrm>
          <a:prstGeom prst="roundRect">
            <a:avLst>
              <a:gd name="adj" fmla="val 4411"/>
            </a:avLst>
          </a:prstGeom>
          <a:solidFill>
            <a:srgbClr val="1E293B">
              <a:alpha val="3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47703" y="1444869"/>
            <a:ext cx="304792" cy="23446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66793" y="1409699"/>
            <a:ext cx="1657308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CBD5E1"/>
                </a:solidFill>
                <a:latin typeface="Inter"/>
                <a:rFonts ascii="Inter" hAnsi="Inter" eastAsia="Inter" cs="Inter"/>
              </a:rPr>
              <a:t>Traditional STL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03" y="2000250"/>
            <a:ext cx="56196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390"/>
              </a:spcBef>
              <a:spcAft>
                <a:spcPts val="0"/>
              </a:spcAft>
            </a:pPr>
            <a:r>
              <a:rPr sz="837" b="0">
                <a:solidFill>
                  <a:srgbClr val="94A3B8"/>
                </a:solidFill>
                <a:latin typeface="JetBrains Mono"/>
                <a:rFonts ascii="JetBrains Mono" hAnsi="JetBrains Mono" eastAsia="JetBrains Mono" cs="JetBrains Mono"/>
              </a:rPr>
              <a:t>// Sort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23961" y="1943100"/>
            <a:ext cx="402897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std::sort</a:t>
            </a:r>
            <a:r>
              <a:rPr sz="956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(vec.</a:t>
            </a:r>
            <a:r>
              <a:rPr sz="956" b="0">
                <a:solidFill>
                  <a:srgbClr val="60A5FA"/>
                </a:solidFill>
                <a:latin typeface="JetBrains Mono"/>
                <a:rFonts ascii="JetBrains Mono" hAnsi="JetBrains Mono" eastAsia="JetBrains Mono" cs="JetBrains Mono"/>
              </a:rPr>
              <a:t>begin</a:t>
            </a:r>
            <a:r>
              <a:rPr sz="956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(), vec.</a:t>
            </a:r>
            <a:r>
              <a:rPr sz="956" b="0">
                <a:solidFill>
                  <a:srgbClr val="60A5FA"/>
                </a:solidFill>
                <a:latin typeface="JetBrains Mono"/>
                <a:rFonts ascii="JetBrains Mono" hAnsi="JetBrains Mono" eastAsia="JetBrains Mono" cs="JetBrains Mono"/>
              </a:rPr>
              <a:t>end</a:t>
            </a:r>
            <a:r>
              <a:rPr sz="956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());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03" y="2400300"/>
            <a:ext cx="120011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390"/>
              </a:spcBef>
              <a:spcAft>
                <a:spcPts val="0"/>
              </a:spcAft>
            </a:pPr>
            <a:r>
              <a:rPr sz="837" b="0">
                <a:solidFill>
                  <a:srgbClr val="94A3B8"/>
                </a:solidFill>
                <a:latin typeface="JetBrains Mono"/>
                <a:rFonts ascii="JetBrains Mono" hAnsi="JetBrains Mono" eastAsia="JetBrains Mono" cs="JetBrains Mono"/>
              </a:rPr>
              <a:t>// Find element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62120" y="2343150"/>
            <a:ext cx="3390815" cy="457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auto</a:t>
            </a:r>
            <a:r>
              <a:rPr sz="956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 it = </a:t>
            </a:r>
            <a:r>
              <a:rPr sz="956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std::find</a:t>
            </a:r>
            <a:r>
              <a:rPr sz="956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(vec.</a:t>
            </a:r>
            <a:r>
              <a:rPr sz="956" b="0">
                <a:solidFill>
                  <a:srgbClr val="60A5FA"/>
                </a:solidFill>
                <a:latin typeface="JetBrains Mono"/>
                <a:rFonts ascii="JetBrains Mono" hAnsi="JetBrains Mono" eastAsia="JetBrains Mono" cs="JetBrains Mono"/>
              </a:rPr>
              <a:t>begin</a:t>
            </a:r>
            <a:r>
              <a:rPr sz="956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(), vec.</a:t>
            </a:r>
            <a:r>
              <a:rPr sz="956" b="0">
                <a:solidFill>
                  <a:srgbClr val="60A5FA"/>
                </a:solidFill>
                <a:latin typeface="JetBrains Mono"/>
                <a:rFonts ascii="JetBrains Mono" hAnsi="JetBrains Mono" eastAsia="JetBrains Mono" cs="JetBrains Mono"/>
              </a:rPr>
              <a:t>end</a:t>
            </a:r>
            <a:r>
              <a:rPr sz="956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(), </a:t>
            </a:r>
            <a:r>
              <a:rPr sz="956" b="0">
                <a:solidFill>
                  <a:srgbClr val="4ADE80"/>
                </a:solidFill>
                <a:latin typeface="JetBrains Mono"/>
                <a:rFonts ascii="JetBrains Mono" hAnsi="JetBrains Mono" eastAsia="JetBrains Mono" cs="JetBrains Mono"/>
              </a:rPr>
              <a:t>42</a:t>
            </a:r>
            <a:r>
              <a:rPr sz="956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03" y="3009900"/>
            <a:ext cx="176208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390"/>
              </a:spcBef>
              <a:spcAft>
                <a:spcPts val="0"/>
              </a:spcAft>
            </a:pPr>
            <a:r>
              <a:rPr sz="837" b="0">
                <a:solidFill>
                  <a:srgbClr val="94A3B8"/>
                </a:solidFill>
                <a:latin typeface="JetBrains Mono"/>
                <a:rFonts ascii="JetBrains Mono" hAnsi="JetBrains Mono" eastAsia="JetBrains Mono" cs="JetBrains Mono"/>
              </a:rPr>
              <a:t>// Find with predicate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24081" y="2952750"/>
            <a:ext cx="2828854" cy="685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auto</a:t>
            </a:r>
            <a:r>
              <a:rPr sz="956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 it = </a:t>
            </a:r>
            <a:r>
              <a:rPr sz="956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std::find_if</a:t>
            </a:r>
            <a:r>
              <a:rPr sz="956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(vec.</a:t>
            </a:r>
            <a:r>
              <a:rPr sz="956" b="0">
                <a:solidFill>
                  <a:srgbClr val="60A5FA"/>
                </a:solidFill>
                <a:latin typeface="JetBrains Mono"/>
                <a:rFonts ascii="JetBrains Mono" hAnsi="JetBrains Mono" eastAsia="JetBrains Mono" cs="JetBrains Mono"/>
              </a:rPr>
              <a:t>begin</a:t>
            </a:r>
            <a:r>
              <a:rPr sz="956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(), vec.</a:t>
            </a:r>
            <a:r>
              <a:rPr sz="956" b="0">
                <a:solidFill>
                  <a:srgbClr val="60A5FA"/>
                </a:solidFill>
                <a:latin typeface="JetBrains Mono"/>
                <a:rFonts ascii="JetBrains Mono" hAnsi="JetBrains Mono" eastAsia="JetBrains Mono" cs="JetBrains Mono"/>
              </a:rPr>
              <a:t>end</a:t>
            </a:r>
            <a:r>
              <a:rPr sz="956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(), pred);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03" y="3848099"/>
            <a:ext cx="103819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390"/>
              </a:spcBef>
              <a:spcAft>
                <a:spcPts val="0"/>
              </a:spcAft>
            </a:pPr>
            <a:r>
              <a:rPr sz="837" b="0">
                <a:solidFill>
                  <a:srgbClr val="94A3B8"/>
                </a:solidFill>
                <a:latin typeface="JetBrains Mono"/>
                <a:rFonts ascii="JetBrains Mono" hAnsi="JetBrains Mono" eastAsia="JetBrains Mono" cs="JetBrains Mono"/>
              </a:rPr>
              <a:t>// Copy range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00199" y="3790949"/>
            <a:ext cx="3552736" cy="4572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std::copy</a:t>
            </a:r>
            <a:r>
              <a:rPr sz="956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(vec.</a:t>
            </a:r>
            <a:r>
              <a:rPr sz="956" b="0">
                <a:solidFill>
                  <a:srgbClr val="60A5FA"/>
                </a:solidFill>
                <a:latin typeface="JetBrains Mono"/>
                <a:rFonts ascii="JetBrains Mono" hAnsi="JetBrains Mono" eastAsia="JetBrains Mono" cs="JetBrains Mono"/>
              </a:rPr>
              <a:t>begin</a:t>
            </a:r>
            <a:r>
              <a:rPr sz="956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(), vec.</a:t>
            </a:r>
            <a:r>
              <a:rPr sz="956" b="0">
                <a:solidFill>
                  <a:srgbClr val="60A5FA"/>
                </a:solidFill>
                <a:latin typeface="JetBrains Mono"/>
                <a:rFonts ascii="JetBrains Mono" hAnsi="JetBrains Mono" eastAsia="JetBrains Mono" cs="JetBrains Mono"/>
              </a:rPr>
              <a:t>end</a:t>
            </a:r>
            <a:r>
              <a:rPr sz="956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(), out);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47703" y="4621468"/>
            <a:ext cx="171445" cy="11061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95347" y="4552949"/>
            <a:ext cx="210497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JetBrains Mono"/>
                <a:rFonts ascii="JetBrains Mono" hAnsi="JetBrains Mono" eastAsia="JetBrains Mono" cs="JetBrains Mono"/>
              </a:rPr>
              <a:t>Verbose begin/end pairs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47703" y="4926268"/>
            <a:ext cx="171445" cy="11061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95347" y="4857750"/>
            <a:ext cx="283837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JetBrains Mono"/>
                <a:rFonts ascii="JetBrains Mono" hAnsi="JetBrains Mono" eastAsia="JetBrains Mono" cs="JetBrains Mono"/>
              </a:rPr>
              <a:t>Error-prone iterator mismatches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639" y="1162050"/>
            <a:ext cx="5181470" cy="5334000"/>
          </a:xfrm>
          <a:prstGeom prst="roundRect">
            <a:avLst>
              <a:gd name="adj" fmla="val 4411"/>
            </a:avLst>
          </a:prstGeom>
          <a:gradFill rotWithShape="1">
            <a:gsLst>
              <a:gs pos="0">
                <a:srgbClr val="164E63">
                  <a:alpha val="30000"/>
                </a:srgbClr>
              </a:gs>
              <a:gs pos="100000">
                <a:srgbClr val="1E3A8A">
                  <a:alpha val="30000"/>
                </a:srgbClr>
              </a:gs>
            </a:gsLst>
            <a:lin scaled="0" ang="8100000"/>
          </a:gradFill>
          <a:ln w="825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638759" y="1418492"/>
            <a:ext cx="304792" cy="28721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057848" y="1409699"/>
            <a:ext cx="1971625" cy="3048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22D3EE"/>
                </a:solidFill>
                <a:latin typeface="Inter"/>
                <a:rFonts ascii="Inter" hAnsi="Inter" eastAsia="Inter" cs="Inter"/>
              </a:rPr>
              <a:t>Range Algorithms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38759" y="2000250"/>
            <a:ext cx="56196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390"/>
              </a:spcBef>
              <a:spcAft>
                <a:spcPts val="0"/>
              </a:spcAft>
            </a:pPr>
            <a:r>
              <a:rPr sz="837" b="0">
                <a:solidFill>
                  <a:srgbClr val="94A3B8"/>
                </a:solidFill>
                <a:latin typeface="JetBrains Mono"/>
                <a:rFonts ascii="JetBrains Mono" hAnsi="JetBrains Mono" eastAsia="JetBrains Mono" cs="JetBrains Mono"/>
              </a:rPr>
              <a:t>// Sort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017" y="1943100"/>
            <a:ext cx="402897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std::ranges::sort</a:t>
            </a:r>
            <a:r>
              <a:rPr sz="956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(vec);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38759" y="2400300"/>
            <a:ext cx="120011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390"/>
              </a:spcBef>
              <a:spcAft>
                <a:spcPts val="0"/>
              </a:spcAft>
            </a:pPr>
            <a:r>
              <a:rPr sz="837" b="0">
                <a:solidFill>
                  <a:srgbClr val="94A3B8"/>
                </a:solidFill>
                <a:latin typeface="JetBrains Mono"/>
                <a:rFonts ascii="JetBrains Mono" hAnsi="JetBrains Mono" eastAsia="JetBrains Mono" cs="JetBrains Mono"/>
              </a:rPr>
              <a:t>// Find element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3176" y="2343150"/>
            <a:ext cx="339081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auto</a:t>
            </a:r>
            <a:r>
              <a:rPr sz="956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 it = </a:t>
            </a:r>
            <a:r>
              <a:rPr sz="956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std::ranges::find</a:t>
            </a:r>
            <a:r>
              <a:rPr sz="956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(vec, </a:t>
            </a:r>
            <a:r>
              <a:rPr sz="956" b="0">
                <a:solidFill>
                  <a:srgbClr val="4ADE80"/>
                </a:solidFill>
                <a:latin typeface="JetBrains Mono"/>
                <a:rFonts ascii="JetBrains Mono" hAnsi="JetBrains Mono" eastAsia="JetBrains Mono" cs="JetBrains Mono"/>
              </a:rPr>
              <a:t>42</a:t>
            </a:r>
            <a:r>
              <a:rPr sz="956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);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38759" y="2800350"/>
            <a:ext cx="176208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390"/>
              </a:spcBef>
              <a:spcAft>
                <a:spcPts val="0"/>
              </a:spcAft>
            </a:pPr>
            <a:r>
              <a:rPr sz="837" b="0">
                <a:solidFill>
                  <a:srgbClr val="94A3B8"/>
                </a:solidFill>
                <a:latin typeface="JetBrains Mono"/>
                <a:rFonts ascii="JetBrains Mono" hAnsi="JetBrains Mono" eastAsia="JetBrains Mono" cs="JetBrains Mono"/>
              </a:rPr>
              <a:t>// Find with predicate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15137" y="2743200"/>
            <a:ext cx="2828854" cy="685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auto</a:t>
            </a:r>
            <a:r>
              <a:rPr sz="956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 it = </a:t>
            </a:r>
            <a:r>
              <a:rPr sz="956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std::ranges::find_if</a:t>
            </a:r>
            <a:r>
              <a:rPr sz="956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(vec, pred);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38759" y="3638550"/>
            <a:ext cx="103819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390"/>
              </a:spcBef>
              <a:spcAft>
                <a:spcPts val="0"/>
              </a:spcAft>
            </a:pPr>
            <a:r>
              <a:rPr sz="837" b="0">
                <a:solidFill>
                  <a:srgbClr val="94A3B8"/>
                </a:solidFill>
                <a:latin typeface="JetBrains Mono"/>
                <a:rFonts ascii="JetBrains Mono" hAnsi="JetBrains Mono" eastAsia="JetBrains Mono" cs="JetBrains Mono"/>
              </a:rPr>
              <a:t>// Copy range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91255" y="3581400"/>
            <a:ext cx="355273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std::ranges::copy</a:t>
            </a:r>
            <a:r>
              <a:rPr sz="956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(vec, out);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638759" y="4183011"/>
            <a:ext cx="171445" cy="14932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886402" y="4133849"/>
            <a:ext cx="219069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Concise, readable syntax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638759" y="4487811"/>
            <a:ext cx="171445" cy="149327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886402" y="4438649"/>
            <a:ext cx="256216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Type-safe, no iterator pairs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638759" y="4792611"/>
            <a:ext cx="171445" cy="149327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886402" y="4743450"/>
            <a:ext cx="210497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Support for projections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378303"/>
            <a:ext cx="342891" cy="4349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6773" y="114300"/>
            <a:ext cx="2057348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Projections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1114425"/>
            <a:ext cx="5181470" cy="2790824"/>
          </a:xfrm>
          <a:prstGeom prst="roundRect">
            <a:avLst>
              <a:gd name="adj" fmla="val 8191"/>
            </a:avLst>
          </a:prstGeom>
          <a:solidFill>
            <a:srgbClr val="1E293B">
              <a:alpha val="3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47703" y="1372842"/>
            <a:ext cx="266693" cy="2261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28694" y="1352549"/>
            <a:ext cx="127631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22D3EE"/>
                </a:solidFill>
                <a:latin typeface="Inter"/>
                <a:rFonts ascii="Inter" hAnsi="Inter" eastAsia="Inter" cs="Inter"/>
              </a:rPr>
              <a:t>Person Struct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03" y="1809749"/>
            <a:ext cx="470523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struct</a:t>
            </a:r>
            <a:r>
              <a:rPr sz="83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 </a:t>
            </a:r>
            <a:r>
              <a:rPr sz="837" b="0">
                <a:solidFill>
                  <a:srgbClr val="60A5FA"/>
                </a:solidFill>
                <a:latin typeface="JetBrains Mono"/>
                <a:rFonts ascii="JetBrains Mono" hAnsi="JetBrains Mono" eastAsia="JetBrains Mono" cs="JetBrains Mono"/>
              </a:rPr>
              <a:t>Person</a:t>
            </a:r>
            <a:r>
              <a:rPr sz="83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 {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03" y="2000250"/>
            <a:ext cx="470523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22D3EE"/>
                </a:solidFill>
                <a:latin typeface="JetBrains Mono"/>
                <a:rFonts ascii="JetBrains Mono" hAnsi="JetBrains Mono" eastAsia="JetBrains Mono" cs="JetBrains Mono"/>
              </a:rPr>
              <a:t>std::string</a:t>
            </a:r>
            <a:r>
              <a:rPr sz="83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 name;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03" y="2190749"/>
            <a:ext cx="470523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22D3EE"/>
                </a:solidFill>
                <a:latin typeface="JetBrains Mono"/>
                <a:rFonts ascii="JetBrains Mono" hAnsi="JetBrains Mono" eastAsia="JetBrains Mono" cs="JetBrains Mono"/>
              </a:rPr>
              <a:t>int</a:t>
            </a:r>
            <a:r>
              <a:rPr sz="83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 age;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03" y="2381250"/>
            <a:ext cx="470523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};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7703" y="2724150"/>
            <a:ext cx="4705232" cy="533399"/>
          </a:xfrm>
          <a:prstGeom prst="roundRect">
            <a:avLst>
              <a:gd name="adj" fmla="val 28571"/>
            </a:avLst>
          </a:prstGeom>
          <a:solidFill>
            <a:srgbClr val="0F172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2000" y="2838450"/>
            <a:ext cx="447663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94A3B8"/>
                </a:solidFill>
                <a:latin typeface="JetBrains Mono"/>
                <a:rFonts ascii="JetBrains Mono" hAnsi="JetBrains Mono" eastAsia="JetBrains Mono" cs="JetBrains Mono"/>
              </a:rPr>
              <a:t>Complex data structure requiring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000" y="2990849"/>
            <a:ext cx="447663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94A3B8"/>
                </a:solidFill>
                <a:latin typeface="JetBrains Mono"/>
                <a:rFonts ascii="JetBrains Mono" hAnsi="JetBrains Mono" eastAsia="JetBrains Mono" cs="JetBrains Mono"/>
              </a:rPr>
              <a:t>projections for algorithm operations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584" y="4133849"/>
            <a:ext cx="5181470" cy="2419349"/>
          </a:xfrm>
          <a:prstGeom prst="roundRect">
            <a:avLst>
              <a:gd name="adj" fmla="val 9448"/>
            </a:avLst>
          </a:prstGeom>
          <a:gradFill rotWithShape="1">
            <a:gsLst>
              <a:gs pos="0">
                <a:srgbClr val="164E63">
                  <a:alpha val="20000"/>
                </a:srgbClr>
              </a:gs>
              <a:gs pos="100000">
                <a:srgbClr val="1E3A8A">
                  <a:alpha val="20000"/>
                </a:srgbClr>
              </a:gs>
            </a:gsLst>
            <a:lin scaled="0" ang="8100000"/>
          </a:gradFill>
          <a:ln w="825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47703" y="4392267"/>
            <a:ext cx="266693" cy="22611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28694" y="4371975"/>
            <a:ext cx="177160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22D3EE"/>
                </a:solidFill>
                <a:latin typeface="Inter"/>
                <a:rFonts ascii="Inter" hAnsi="Inter" eastAsia="Inter" cs="Inter"/>
              </a:rPr>
              <a:t>Projection Benefits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47703" y="4824132"/>
            <a:ext cx="190495" cy="16248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52496" y="4791075"/>
            <a:ext cx="200972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Inter"/>
                <a:rFonts ascii="Inter" hAnsi="Inter" eastAsia="Inter" cs="Inter"/>
              </a:rPr>
              <a:t>Eliminates verbose lambdas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47703" y="5167032"/>
            <a:ext cx="190495" cy="16248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52496" y="5133975"/>
            <a:ext cx="280027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Inter"/>
                <a:rFonts ascii="Inter" hAnsi="Inter" eastAsia="Inter" cs="Inter"/>
              </a:rPr>
              <a:t>Projects complex data to simple values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47703" y="5509932"/>
            <a:ext cx="190495" cy="16248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52496" y="5476875"/>
            <a:ext cx="206687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Inter"/>
                <a:rFonts ascii="Inter" hAnsi="Inter" eastAsia="Inter" cs="Inter"/>
              </a:rPr>
              <a:t>Works with member pointers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47703" y="5852832"/>
            <a:ext cx="190495" cy="16248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152496" y="5819775"/>
            <a:ext cx="196210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Inter"/>
                <a:rFonts ascii="Inter" hAnsi="Inter" eastAsia="Inter" cs="Inter"/>
              </a:rPr>
              <a:t>Makes code more readable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639" y="1114425"/>
            <a:ext cx="5181470" cy="2571750"/>
          </a:xfrm>
          <a:prstGeom prst="roundRect">
            <a:avLst>
              <a:gd name="adj" fmla="val 8888"/>
            </a:avLst>
          </a:prstGeom>
          <a:solidFill>
            <a:srgbClr val="1E293B">
              <a:alpha val="3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638759" y="1413427"/>
            <a:ext cx="266693" cy="144945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019749" y="1352549"/>
            <a:ext cx="195257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22D3EE"/>
                </a:solidFill>
                <a:latin typeface="Inter"/>
                <a:rFonts ascii="Inter" hAnsi="Inter" eastAsia="Inter" cs="Inter"/>
              </a:rPr>
              <a:t>Traditional Approach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38759" y="1771650"/>
            <a:ext cx="470523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std::ranges::sort</a:t>
            </a:r>
            <a:r>
              <a:rPr sz="83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(people,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38759" y="2038349"/>
            <a:ext cx="470523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520"/>
              </a:spcBef>
              <a:spcAft>
                <a:spcPts val="0"/>
              </a:spcAft>
            </a:pPr>
            <a:r>
              <a:rPr sz="83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[&amp;](</a:t>
            </a:r>
            <a:r>
              <a:rPr sz="83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const</a:t>
            </a:r>
            <a:r>
              <a:rPr sz="83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 </a:t>
            </a:r>
            <a:r>
              <a:rPr sz="837" b="0">
                <a:solidFill>
                  <a:srgbClr val="60A5FA"/>
                </a:solidFill>
                <a:latin typeface="JetBrains Mono"/>
                <a:rFonts ascii="JetBrains Mono" hAnsi="JetBrains Mono" eastAsia="JetBrains Mono" cs="JetBrains Mono"/>
              </a:rPr>
              <a:t>Person</a:t>
            </a:r>
            <a:r>
              <a:rPr sz="83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&amp; a, </a:t>
            </a:r>
            <a:r>
              <a:rPr sz="83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const</a:t>
            </a:r>
            <a:r>
              <a:rPr sz="83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 </a:t>
            </a:r>
            <a:r>
              <a:rPr sz="837" b="0">
                <a:solidFill>
                  <a:srgbClr val="60A5FA"/>
                </a:solidFill>
                <a:latin typeface="JetBrains Mono"/>
                <a:rFonts ascii="JetBrains Mono" hAnsi="JetBrains Mono" eastAsia="JetBrains Mono" cs="JetBrains Mono"/>
              </a:rPr>
              <a:t>Person</a:t>
            </a:r>
            <a:r>
              <a:rPr sz="83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&amp; b) {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38759" y="2305049"/>
            <a:ext cx="470523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520"/>
              </a:spcBef>
              <a:spcAft>
                <a:spcPts val="0"/>
              </a:spcAft>
            </a:pPr>
            <a:r>
              <a:rPr sz="83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return</a:t>
            </a:r>
            <a:r>
              <a:rPr sz="83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 a.age &lt; b.age;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38759" y="2571750"/>
            <a:ext cx="470523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520"/>
              </a:spcBef>
              <a:spcAft>
                <a:spcPts val="0"/>
              </a:spcAft>
            </a:pPr>
            <a:r>
              <a:rPr sz="83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});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638759" y="2964118"/>
            <a:ext cx="171445" cy="110612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886402" y="2914650"/>
            <a:ext cx="207639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94A3B8"/>
                </a:solidFill>
                <a:latin typeface="Inter"/>
                <a:rFonts ascii="Inter" hAnsi="Inter" eastAsia="Inter" cs="Inter"/>
              </a:rPr>
              <a:t>Verbose lambda expressions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639" y="3914775"/>
            <a:ext cx="5181470" cy="2571750"/>
          </a:xfrm>
          <a:prstGeom prst="roundRect">
            <a:avLst>
              <a:gd name="adj" fmla="val 8888"/>
            </a:avLst>
          </a:prstGeom>
          <a:gradFill rotWithShape="1">
            <a:gsLst>
              <a:gs pos="0">
                <a:srgbClr val="164E63">
                  <a:alpha val="30000"/>
                </a:srgbClr>
              </a:gs>
              <a:gs pos="100000">
                <a:srgbClr val="1E3A8A">
                  <a:alpha val="30000"/>
                </a:srgbClr>
              </a:gs>
            </a:gsLst>
            <a:lin scaled="0" ang="8100000"/>
          </a:gradFill>
          <a:ln w="825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638759" y="4167394"/>
            <a:ext cx="266693" cy="23771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7019749" y="4152899"/>
            <a:ext cx="153348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22D3EE"/>
                </a:solidFill>
                <a:latin typeface="Inter"/>
                <a:rFonts ascii="Inter" hAnsi="Inter" eastAsia="Inter" cs="Inter"/>
              </a:rPr>
              <a:t>With Projections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38759" y="4572000"/>
            <a:ext cx="470523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std::ranges::sort</a:t>
            </a:r>
            <a:r>
              <a:rPr sz="83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(people, {}, &amp;</a:t>
            </a:r>
            <a:r>
              <a:rPr sz="837" b="0">
                <a:solidFill>
                  <a:srgbClr val="60A5FA"/>
                </a:solidFill>
                <a:latin typeface="JetBrains Mono"/>
                <a:rFonts ascii="JetBrains Mono" hAnsi="JetBrains Mono" eastAsia="JetBrains Mono" cs="JetBrains Mono"/>
              </a:rPr>
              <a:t>Person::age</a:t>
            </a:r>
            <a:r>
              <a:rPr sz="83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);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38759" y="4914900"/>
            <a:ext cx="4705232" cy="647699"/>
          </a:xfrm>
          <a:prstGeom prst="roundRect">
            <a:avLst>
              <a:gd name="adj" fmla="val 23529"/>
            </a:avLst>
          </a:prstGeom>
          <a:solidFill>
            <a:srgbClr val="0F172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53056" y="5029200"/>
            <a:ext cx="447663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520"/>
              </a:spcAft>
            </a:pPr>
            <a:r>
              <a:rPr sz="717" b="0">
                <a:solidFill>
                  <a:srgbClr val="94A3B8"/>
                </a:solidFill>
                <a:latin typeface="Inter"/>
                <a:rFonts ascii="Inter" hAnsi="Inter" eastAsia="Inter" cs="Inter"/>
              </a:rPr>
              <a:t>Third parameter is the projection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53056" y="5257800"/>
            <a:ext cx="447663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Inter"/>
                <a:rFonts ascii="Inter" hAnsi="Inter" eastAsia="Inter" cs="Inter"/>
              </a:rPr>
              <a:t>Projects each Person to age field</a:t>
            </a:r>
          </a:p>
        </p:txBody>
      </p:sp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638759" y="5707011"/>
            <a:ext cx="171445" cy="149327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886402" y="5676900"/>
            <a:ext cx="167635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Inter"/>
                <a:rFonts ascii="Inter" hAnsi="Inter" eastAsia="Inter" cs="Inter"/>
              </a:rPr>
              <a:t>Clean, expressive code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267028"/>
            <a:ext cx="342891" cy="26604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6773" y="114300"/>
            <a:ext cx="2638359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Composability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1114425"/>
            <a:ext cx="5181470" cy="2571750"/>
          </a:xfrm>
          <a:prstGeom prst="roundRect">
            <a:avLst>
              <a:gd name="adj" fmla="val 8888"/>
            </a:avLst>
          </a:prstGeom>
          <a:gradFill rotWithShape="1">
            <a:gsLst>
              <a:gs pos="0">
                <a:srgbClr val="164E63">
                  <a:alpha val="20000"/>
                </a:srgbClr>
              </a:gs>
              <a:gs pos="100000">
                <a:srgbClr val="1E3A8A">
                  <a:alpha val="20000"/>
                </a:srgbClr>
              </a:gs>
            </a:gsLst>
            <a:lin scaled="0" ang="8100000"/>
          </a:gradFill>
          <a:ln w="825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47703" y="1390235"/>
            <a:ext cx="266693" cy="1913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28694" y="1352549"/>
            <a:ext cx="204782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22D3EE"/>
                </a:solidFill>
                <a:latin typeface="Inter"/>
                <a:rFonts ascii="Inter" hAnsi="Inter" eastAsia="Inter" cs="Inter"/>
              </a:rPr>
              <a:t>Unix-Inspired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03" y="1771650"/>
            <a:ext cx="470523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1040"/>
              </a:spcAft>
            </a:pPr>
            <a:r>
              <a:rPr sz="956" b="0">
                <a:solidFill>
                  <a:srgbClr val="CBD5E1"/>
                </a:solidFill>
                <a:latin typeface="Inter"/>
                <a:rFonts ascii="Inter" hAnsi="Inter" eastAsia="Inter" cs="Inter"/>
              </a:rPr>
              <a:t>Chain operations using the </a:t>
            </a:r>
            <a:r>
              <a:rPr sz="956" b="1">
                <a:solidFill>
                  <a:srgbClr val="22D3EE"/>
                </a:solidFill>
                <a:latin typeface="Inter"/>
                <a:rFonts ascii="Inter" hAnsi="Inter" eastAsia="Inter" cs="Inter"/>
              </a:rPr>
              <a:t>pipe operator |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03" y="2152650"/>
            <a:ext cx="470523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4A3B8"/>
                </a:solidFill>
                <a:latin typeface="JetBrains Mono"/>
                <a:rFonts ascii="JetBrains Mono" hAnsi="JetBrains Mono" eastAsia="JetBrains Mono" cs="JetBrains Mono"/>
              </a:rPr>
              <a:t>// Linux command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03" y="2419349"/>
            <a:ext cx="470523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520"/>
              </a:spcBef>
              <a:spcAft>
                <a:spcPts val="0"/>
              </a:spcAft>
            </a:pPr>
            <a:r>
              <a:rPr sz="83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cat file.txt | grep "error" | wc -l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584" y="3914775"/>
            <a:ext cx="5181470" cy="2571750"/>
          </a:xfrm>
          <a:prstGeom prst="roundRect">
            <a:avLst>
              <a:gd name="adj" fmla="val 8888"/>
            </a:avLst>
          </a:prstGeom>
          <a:solidFill>
            <a:srgbClr val="1E293B">
              <a:alpha val="3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47703" y="4158697"/>
            <a:ext cx="266693" cy="25510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28694" y="4152899"/>
            <a:ext cx="156206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22D3EE"/>
                </a:solidFill>
                <a:latin typeface="Inter"/>
                <a:rFonts ascii="Inter" hAnsi="Inter" eastAsia="Inter" cs="Inter"/>
              </a:rPr>
              <a:t>Pipeline Benefits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47703" y="4605057"/>
            <a:ext cx="190495" cy="16248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52496" y="4572000"/>
            <a:ext cx="192400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Inter"/>
                <a:rFonts ascii="Inter" hAnsi="Inter" eastAsia="Inter" cs="Inter"/>
              </a:rPr>
              <a:t>Declarative, readable code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47703" y="4947957"/>
            <a:ext cx="190495" cy="16248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52496" y="4914900"/>
            <a:ext cx="173350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Inter"/>
                <a:rFonts ascii="Inter" hAnsi="Inter" eastAsia="Inter" cs="Inter"/>
              </a:rPr>
              <a:t>No intermediate storage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47703" y="5290857"/>
            <a:ext cx="190495" cy="16248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52496" y="5257800"/>
            <a:ext cx="190495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Inter"/>
                <a:rFonts ascii="Inter" hAnsi="Inter" eastAsia="Inter" cs="Inter"/>
              </a:rPr>
              <a:t>Easy to reorder operations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47703" y="5633757"/>
            <a:ext cx="190495" cy="16248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52496" y="5600700"/>
            <a:ext cx="195257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Inter"/>
                <a:rFonts ascii="Inter" hAnsi="Inter" eastAsia="Inter" cs="Inter"/>
              </a:rPr>
              <a:t>Lazy evaluation throughout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639" y="1114425"/>
            <a:ext cx="5181470" cy="5334000"/>
          </a:xfrm>
          <a:prstGeom prst="roundRect">
            <a:avLst>
              <a:gd name="adj" fmla="val 4411"/>
            </a:avLst>
          </a:prstGeom>
          <a:solidFill>
            <a:srgbClr val="1E293B">
              <a:alpha val="3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638759" y="1413427"/>
            <a:ext cx="266693" cy="14494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019749" y="1352549"/>
            <a:ext cx="268598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22D3EE"/>
                </a:solidFill>
                <a:latin typeface="Inter"/>
                <a:rFonts ascii="Inter" hAnsi="Inter" eastAsia="Inter" cs="Inter"/>
              </a:rPr>
              <a:t>Chained Operations Example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38759" y="1809749"/>
            <a:ext cx="470523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auto</a:t>
            </a:r>
            <a:r>
              <a:rPr sz="83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 result = numbers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0204" y="2114550"/>
            <a:ext cx="453378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| </a:t>
            </a:r>
            <a:r>
              <a:rPr sz="83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std::views::filter</a:t>
            </a:r>
            <a:r>
              <a:rPr sz="83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([](</a:t>
            </a:r>
            <a:r>
              <a:rPr sz="837" b="0">
                <a:solidFill>
                  <a:srgbClr val="22D3EE"/>
                </a:solidFill>
                <a:latin typeface="JetBrains Mono"/>
                <a:rFonts ascii="JetBrains Mono" hAnsi="JetBrains Mono" eastAsia="JetBrains Mono" cs="JetBrains Mono"/>
              </a:rPr>
              <a:t>int</a:t>
            </a:r>
            <a:r>
              <a:rPr sz="83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 n) { </a:t>
            </a:r>
            <a:r>
              <a:rPr sz="83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return</a:t>
            </a:r>
            <a:r>
              <a:rPr sz="83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 n % </a:t>
            </a:r>
            <a:r>
              <a:rPr sz="837" b="0">
                <a:solidFill>
                  <a:srgbClr val="4ADE80"/>
                </a:solidFill>
                <a:latin typeface="JetBrains Mono"/>
                <a:rFonts ascii="JetBrains Mono" hAnsi="JetBrains Mono" eastAsia="JetBrains Mono" cs="JetBrains Mono"/>
              </a:rPr>
              <a:t>2</a:t>
            </a:r>
            <a:r>
              <a:rPr sz="83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 == </a:t>
            </a:r>
            <a:r>
              <a:rPr sz="837" b="0">
                <a:solidFill>
                  <a:srgbClr val="4ADE80"/>
                </a:solidFill>
                <a:latin typeface="JetBrains Mono"/>
                <a:rFonts ascii="JetBrains Mono" hAnsi="JetBrains Mono" eastAsia="JetBrains Mono" cs="JetBrains Mono"/>
              </a:rPr>
              <a:t>0</a:t>
            </a:r>
            <a:r>
              <a:rPr sz="83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; })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0204" y="2381250"/>
            <a:ext cx="453378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520"/>
              </a:spcBef>
              <a:spcAft>
                <a:spcPts val="0"/>
              </a:spcAft>
            </a:pPr>
            <a:r>
              <a:rPr sz="837" b="0">
                <a:solidFill>
                  <a:srgbClr val="94A3B8"/>
                </a:solidFill>
                <a:latin typeface="JetBrains Mono"/>
                <a:rFonts ascii="JetBrains Mono" hAnsi="JetBrains Mono" eastAsia="JetBrains Mono" cs="JetBrains Mono"/>
              </a:rPr>
              <a:t>// Keep only even numbers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10204" y="2686050"/>
            <a:ext cx="453378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| </a:t>
            </a:r>
            <a:r>
              <a:rPr sz="83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std::views::transform</a:t>
            </a:r>
            <a:r>
              <a:rPr sz="83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([](</a:t>
            </a:r>
            <a:r>
              <a:rPr sz="837" b="0">
                <a:solidFill>
                  <a:srgbClr val="22D3EE"/>
                </a:solidFill>
                <a:latin typeface="JetBrains Mono"/>
                <a:rFonts ascii="JetBrains Mono" hAnsi="JetBrains Mono" eastAsia="JetBrains Mono" cs="JetBrains Mono"/>
              </a:rPr>
              <a:t>int</a:t>
            </a:r>
            <a:r>
              <a:rPr sz="83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 n) { </a:t>
            </a:r>
            <a:r>
              <a:rPr sz="83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return</a:t>
            </a:r>
            <a:r>
              <a:rPr sz="83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 n * n; })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0204" y="2952750"/>
            <a:ext cx="453378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520"/>
              </a:spcBef>
              <a:spcAft>
                <a:spcPts val="0"/>
              </a:spcAft>
            </a:pPr>
            <a:r>
              <a:rPr sz="837" b="0">
                <a:solidFill>
                  <a:srgbClr val="94A3B8"/>
                </a:solidFill>
                <a:latin typeface="JetBrains Mono"/>
                <a:rFonts ascii="JetBrains Mono" hAnsi="JetBrains Mono" eastAsia="JetBrains Mono" cs="JetBrains Mono"/>
              </a:rPr>
              <a:t>// Square each element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0204" y="3257550"/>
            <a:ext cx="453378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| </a:t>
            </a:r>
            <a:r>
              <a:rPr sz="83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std::views::take</a:t>
            </a:r>
            <a:r>
              <a:rPr sz="83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(</a:t>
            </a:r>
            <a:r>
              <a:rPr sz="837" b="0">
                <a:solidFill>
                  <a:srgbClr val="4ADE80"/>
                </a:solidFill>
                <a:latin typeface="JetBrains Mono"/>
                <a:rFonts ascii="JetBrains Mono" hAnsi="JetBrains Mono" eastAsia="JetBrains Mono" cs="JetBrains Mono"/>
              </a:rPr>
              <a:t>5</a:t>
            </a:r>
            <a:r>
              <a:rPr sz="83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);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0204" y="3524250"/>
            <a:ext cx="453378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520"/>
              </a:spcBef>
              <a:spcAft>
                <a:spcPts val="0"/>
              </a:spcAft>
            </a:pPr>
            <a:r>
              <a:rPr sz="837" b="0">
                <a:solidFill>
                  <a:srgbClr val="94A3B8"/>
                </a:solidFill>
                <a:latin typeface="JetBrains Mono"/>
                <a:rFonts ascii="JetBrains Mono" hAnsi="JetBrains Mono" eastAsia="JetBrains Mono" cs="JetBrains Mono"/>
              </a:rPr>
              <a:t>// Take first 5 elements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38759" y="3829050"/>
            <a:ext cx="4705232" cy="1295399"/>
          </a:xfrm>
          <a:prstGeom prst="roundRect">
            <a:avLst>
              <a:gd name="adj" fmla="val 11764"/>
            </a:avLst>
          </a:prstGeom>
          <a:solidFill>
            <a:srgbClr val="0F172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91155" y="3981449"/>
            <a:ext cx="44004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0">
                <a:solidFill>
                  <a:srgbClr val="94A3B8"/>
                </a:solidFill>
                <a:latin typeface="JetBrains Mono"/>
                <a:rFonts ascii="JetBrains Mono" hAnsi="JetBrains Mono" eastAsia="JetBrains Mono" cs="JetBrains Mono"/>
              </a:rPr>
              <a:t>Input: [1, 2, 3, 4, 5, 6, 7, 8, 9, 10]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91155" y="4248150"/>
            <a:ext cx="44004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0">
                <a:solidFill>
                  <a:srgbClr val="94A3B8"/>
                </a:solidFill>
                <a:latin typeface="JetBrains Mono"/>
                <a:rFonts ascii="JetBrains Mono" hAnsi="JetBrains Mono" eastAsia="JetBrains Mono" cs="JetBrains Mono"/>
              </a:rPr>
              <a:t>After filter: [2, 4, 6, 8, 10]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91155" y="4514850"/>
            <a:ext cx="44004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0">
                <a:solidFill>
                  <a:srgbClr val="94A3B8"/>
                </a:solidFill>
                <a:latin typeface="JetBrains Mono"/>
                <a:rFonts ascii="JetBrains Mono" hAnsi="JetBrains Mono" eastAsia="JetBrains Mono" cs="JetBrains Mono"/>
              </a:rPr>
              <a:t>After transform: [4, 16, 36, 64, 100]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91155" y="4781549"/>
            <a:ext cx="44004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Result: [4, 16, 36, 64, 100]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255204"/>
            <a:ext cx="342891" cy="28969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6773" y="114300"/>
            <a:ext cx="2857428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Lazy Evaluation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1114425"/>
            <a:ext cx="5181470" cy="2790824"/>
          </a:xfrm>
          <a:prstGeom prst="roundRect">
            <a:avLst>
              <a:gd name="adj" fmla="val 8191"/>
            </a:avLst>
          </a:prstGeom>
          <a:gradFill rotWithShape="1">
            <a:gsLst>
              <a:gs pos="0">
                <a:srgbClr val="164E63">
                  <a:alpha val="20000"/>
                </a:srgbClr>
              </a:gs>
              <a:gs pos="100000">
                <a:srgbClr val="1E3A8A">
                  <a:alpha val="20000"/>
                </a:srgbClr>
              </a:gs>
            </a:gsLst>
            <a:lin scaled="0" ang="8100000"/>
          </a:gradFill>
          <a:ln w="825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47703" y="1372842"/>
            <a:ext cx="266693" cy="2261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28694" y="1352549"/>
            <a:ext cx="244786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22D3EE"/>
                </a:solidFill>
                <a:latin typeface="Inter"/>
                <a:rFonts ascii="Inter" hAnsi="Inter" eastAsia="Inter" cs="Inter"/>
              </a:rPr>
              <a:t>When Evaluation Happens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47703" y="1838067"/>
            <a:ext cx="209544" cy="15291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71545" y="1771650"/>
            <a:ext cx="2114497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22D3EE"/>
                </a:solidFill>
                <a:latin typeface="Inter"/>
                <a:rFonts ascii="Inter" hAnsi="Inter" eastAsia="Inter" cs="Inter"/>
              </a:rPr>
              <a:t>View creation:</a:t>
            </a:r>
            <a:r>
              <a:rPr sz="956" b="0">
                <a:solidFill>
                  <a:srgbClr val="CBD5E1"/>
                </a:solidFill>
                <a:latin typeface="Inter"/>
                <a:rFonts ascii="Inter" hAnsi="Inter" eastAsia="Inter" cs="Inter"/>
              </a:rPr>
              <a:t> No work done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47703" y="2246612"/>
            <a:ext cx="209544" cy="1359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71545" y="2171700"/>
            <a:ext cx="330509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22D3EE"/>
                </a:solidFill>
                <a:latin typeface="Inter"/>
                <a:rFonts ascii="Inter" hAnsi="Inter" eastAsia="Inter" cs="Inter"/>
              </a:rPr>
              <a:t>Iteration time:</a:t>
            </a:r>
            <a:r>
              <a:rPr sz="956" b="0">
                <a:solidFill>
                  <a:srgbClr val="CBD5E1"/>
                </a:solidFill>
                <a:latin typeface="Inter"/>
                <a:rFonts ascii="Inter" hAnsi="Inter" eastAsia="Inter" cs="Inter"/>
              </a:rPr>
              <a:t> Work done element by element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47703" y="2655158"/>
            <a:ext cx="209544" cy="11893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171545" y="2571750"/>
            <a:ext cx="2543111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22D3EE"/>
                </a:solidFill>
                <a:latin typeface="Inter"/>
                <a:rFonts ascii="Inter" hAnsi="Inter" eastAsia="Inter" cs="Inter"/>
              </a:rPr>
              <a:t>Short-circuits:</a:t>
            </a:r>
            <a:r>
              <a:rPr sz="956" b="0">
                <a:solidFill>
                  <a:srgbClr val="CBD5E1"/>
                </a:solidFill>
                <a:latin typeface="Inter"/>
                <a:rFonts ascii="Inter" hAnsi="Inter" eastAsia="Inter" cs="Inter"/>
              </a:rPr>
              <a:t> Stops when needed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584" y="4133849"/>
            <a:ext cx="5181470" cy="2419349"/>
          </a:xfrm>
          <a:prstGeom prst="roundRect">
            <a:avLst>
              <a:gd name="adj" fmla="val 9448"/>
            </a:avLst>
          </a:prstGeom>
          <a:solidFill>
            <a:srgbClr val="1E293B">
              <a:alpha val="3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47703" y="4405312"/>
            <a:ext cx="266693" cy="2000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28694" y="4371975"/>
            <a:ext cx="203829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22D3EE"/>
                </a:solidFill>
                <a:latin typeface="Inter"/>
                <a:rFonts ascii="Inter" hAnsi="Inter" eastAsia="Inter" cs="Inter"/>
              </a:rPr>
              <a:t>Performance Benefits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47703" y="4824132"/>
            <a:ext cx="190495" cy="16248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52496" y="4791075"/>
            <a:ext cx="195257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Inter"/>
                <a:rFonts ascii="Inter" hAnsi="Inter" eastAsia="Inter" cs="Inter"/>
              </a:rPr>
              <a:t>No intermediate containers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47703" y="5167032"/>
            <a:ext cx="190495" cy="16248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52496" y="5133975"/>
            <a:ext cx="144776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Inter"/>
                <a:rFonts ascii="Inter" hAnsi="Inter" eastAsia="Inter" cs="Inter"/>
              </a:rPr>
              <a:t>Zero copy overhead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47703" y="5509932"/>
            <a:ext cx="190495" cy="16248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152496" y="5476875"/>
            <a:ext cx="1333466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Inter"/>
                <a:rFonts ascii="Inter" hAnsi="Inter" eastAsia="Inter" cs="Inter"/>
              </a:rPr>
              <a:t>O(1) extra memory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847703" y="5852832"/>
            <a:ext cx="190495" cy="16248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152496" y="5819775"/>
            <a:ext cx="240023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BD5E1"/>
                </a:solidFill>
                <a:latin typeface="Inter"/>
                <a:rFonts ascii="Inter" hAnsi="Inter" eastAsia="Inter" cs="Inter"/>
              </a:rPr>
              <a:t>Only processes needed elements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639" y="1114425"/>
            <a:ext cx="5181470" cy="5334000"/>
          </a:xfrm>
          <a:prstGeom prst="roundRect">
            <a:avLst>
              <a:gd name="adj" fmla="val 4411"/>
            </a:avLst>
          </a:prstGeom>
          <a:solidFill>
            <a:srgbClr val="1E293B">
              <a:alpha val="3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638759" y="1413427"/>
            <a:ext cx="266693" cy="14494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019749" y="1352549"/>
            <a:ext cx="80007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22D3EE"/>
                </a:solidFill>
                <a:latin typeface="Inter"/>
                <a:rFonts ascii="Inter" hAnsi="Inter" eastAsia="Inter" cs="Inter"/>
              </a:rPr>
              <a:t>Example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38759" y="1809749"/>
            <a:ext cx="470523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auto</a:t>
            </a:r>
            <a:r>
              <a:rPr sz="83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 view = numbers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38759" y="2114550"/>
            <a:ext cx="470523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780"/>
              </a:spcBef>
              <a:spcAft>
                <a:spcPts val="0"/>
              </a:spcAft>
            </a:pPr>
            <a:r>
              <a:rPr sz="83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| </a:t>
            </a:r>
            <a:r>
              <a:rPr sz="83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std::views::filter</a:t>
            </a:r>
            <a:r>
              <a:rPr sz="83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([](</a:t>
            </a:r>
            <a:r>
              <a:rPr sz="837" b="0">
                <a:solidFill>
                  <a:srgbClr val="22D3EE"/>
                </a:solidFill>
                <a:latin typeface="JetBrains Mono"/>
                <a:rFonts ascii="JetBrains Mono" hAnsi="JetBrains Mono" eastAsia="JetBrains Mono" cs="JetBrains Mono"/>
              </a:rPr>
              <a:t>int</a:t>
            </a:r>
            <a:r>
              <a:rPr sz="83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 n) { </a:t>
            </a:r>
            <a:r>
              <a:rPr sz="83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return</a:t>
            </a:r>
            <a:r>
              <a:rPr sz="83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 n % </a:t>
            </a:r>
            <a:r>
              <a:rPr sz="837" b="0">
                <a:solidFill>
                  <a:srgbClr val="4ADE80"/>
                </a:solidFill>
                <a:latin typeface="JetBrains Mono"/>
                <a:rFonts ascii="JetBrains Mono" hAnsi="JetBrains Mono" eastAsia="JetBrains Mono" cs="JetBrains Mono"/>
              </a:rPr>
              <a:t>2</a:t>
            </a:r>
            <a:r>
              <a:rPr sz="83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 == </a:t>
            </a:r>
            <a:r>
              <a:rPr sz="837" b="0">
                <a:solidFill>
                  <a:srgbClr val="4ADE80"/>
                </a:solidFill>
                <a:latin typeface="JetBrains Mono"/>
                <a:rFonts ascii="JetBrains Mono" hAnsi="JetBrains Mono" eastAsia="JetBrains Mono" cs="JetBrains Mono"/>
              </a:rPr>
              <a:t>0</a:t>
            </a:r>
            <a:r>
              <a:rPr sz="83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; })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38759" y="2419349"/>
            <a:ext cx="470523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780"/>
              </a:spcBef>
              <a:spcAft>
                <a:spcPts val="0"/>
              </a:spcAft>
            </a:pPr>
            <a:r>
              <a:rPr sz="83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| </a:t>
            </a:r>
            <a:r>
              <a:rPr sz="83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std::views::transform</a:t>
            </a:r>
            <a:r>
              <a:rPr sz="83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([](</a:t>
            </a:r>
            <a:r>
              <a:rPr sz="837" b="0">
                <a:solidFill>
                  <a:srgbClr val="22D3EE"/>
                </a:solidFill>
                <a:latin typeface="JetBrains Mono"/>
                <a:rFonts ascii="JetBrains Mono" hAnsi="JetBrains Mono" eastAsia="JetBrains Mono" cs="JetBrains Mono"/>
              </a:rPr>
              <a:t>int</a:t>
            </a:r>
            <a:r>
              <a:rPr sz="83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 n) { </a:t>
            </a:r>
            <a:r>
              <a:rPr sz="83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return</a:t>
            </a:r>
            <a:r>
              <a:rPr sz="83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 n * n; });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638759" y="2724150"/>
            <a:ext cx="4705232" cy="609600"/>
          </a:xfrm>
          <a:prstGeom prst="roundRect">
            <a:avLst>
              <a:gd name="adj" fmla="val 25000"/>
            </a:avLst>
          </a:prstGeom>
          <a:solidFill>
            <a:srgbClr val="0F172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53056" y="2838450"/>
            <a:ext cx="447663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520"/>
              </a:spcAft>
            </a:pPr>
            <a:r>
              <a:rPr sz="717" b="0">
                <a:solidFill>
                  <a:srgbClr val="94A3B8"/>
                </a:solidFill>
                <a:latin typeface="JetBrains Mono"/>
                <a:rFonts ascii="JetBrains Mono" hAnsi="JetBrains Mono" eastAsia="JetBrains Mono" cs="JetBrains Mono"/>
              </a:rPr>
              <a:t>// At this point: NO work done yet!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53056" y="3067050"/>
            <a:ext cx="447663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94A3B8"/>
                </a:solidFill>
                <a:latin typeface="JetBrains Mono"/>
                <a:rFonts ascii="JetBrains Mono" hAnsi="JetBrains Mono" eastAsia="JetBrains Mono" cs="JetBrains Mono"/>
              </a:rPr>
              <a:t>// Only a pipeline is created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638759" y="3448049"/>
            <a:ext cx="4705232" cy="1047749"/>
          </a:xfrm>
          <a:prstGeom prst="roundRect">
            <a:avLst>
              <a:gd name="adj" fmla="val 14545"/>
            </a:avLst>
          </a:prstGeom>
          <a:solidFill>
            <a:srgbClr val="164E63">
              <a:alpha val="20000"/>
            </a:srgbClr>
          </a:solidFill>
          <a:ln w="825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2580" y="3571875"/>
            <a:ext cx="445758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520"/>
              </a:spcAft>
            </a:pPr>
            <a:r>
              <a:rPr sz="717" b="0">
                <a:solidFill>
                  <a:srgbClr val="94A3B8"/>
                </a:solidFill>
                <a:latin typeface="JetBrains Mono"/>
                <a:rFonts ascii="JetBrains Mono" hAnsi="JetBrains Mono" eastAsia="JetBrains Mono" cs="JetBrains Mono"/>
              </a:rPr>
              <a:t>// Work happens now, element by element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2580" y="3800475"/>
            <a:ext cx="445758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for</a:t>
            </a:r>
            <a:r>
              <a:rPr sz="83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 (</a:t>
            </a:r>
            <a:r>
              <a:rPr sz="837" b="0">
                <a:solidFill>
                  <a:srgbClr val="22D3EE"/>
                </a:solidFill>
                <a:latin typeface="JetBrains Mono"/>
                <a:rFonts ascii="JetBrains Mono" hAnsi="JetBrains Mono" eastAsia="JetBrains Mono" cs="JetBrains Mono"/>
              </a:rPr>
              <a:t>int</a:t>
            </a:r>
            <a:r>
              <a:rPr sz="83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 n : view) {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2580" y="3990974"/>
            <a:ext cx="445758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std::cout</a:t>
            </a:r>
            <a:r>
              <a:rPr sz="83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 &lt;&lt; n &lt;&lt; </a:t>
            </a:r>
            <a:r>
              <a:rPr sz="837" b="0">
                <a:solidFill>
                  <a:srgbClr val="4ADE80"/>
                </a:solidFill>
                <a:latin typeface="JetBrains Mono"/>
                <a:rFonts ascii="JetBrains Mono" hAnsi="JetBrains Mono" eastAsia="JetBrains Mono" cs="JetBrains Mono"/>
              </a:rPr>
              <a:t>" "</a:t>
            </a:r>
            <a:r>
              <a:rPr sz="83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;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2580" y="4181474"/>
            <a:ext cx="445758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}</a:t>
            </a:r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638759" y="4640211"/>
            <a:ext cx="171445" cy="149327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886402" y="4610099"/>
            <a:ext cx="432424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Each element flows through all operations as requested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247814"/>
            <a:ext cx="342891" cy="30447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6773" y="114300"/>
            <a:ext cx="8477038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Extended Use Case 1: Data Processing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1038224"/>
            <a:ext cx="5257668" cy="2571750"/>
          </a:xfrm>
          <a:prstGeom prst="roundRect">
            <a:avLst>
              <a:gd name="adj" fmla="val 8888"/>
            </a:avLst>
          </a:prstGeom>
          <a:solidFill>
            <a:srgbClr val="1E293B">
              <a:alpha val="3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09604" y="1273691"/>
            <a:ext cx="247643" cy="1958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33446" y="1238249"/>
            <a:ext cx="176208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87171"/>
                </a:solidFill>
                <a:latin typeface="Inter"/>
                <a:rFonts ascii="Inter" hAnsi="Inter" eastAsia="Inter" cs="Inter"/>
              </a:rPr>
              <a:t>Traditional 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04" y="1657350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std::vector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&lt;</a:t>
            </a:r>
            <a:r>
              <a:rPr sz="717" b="0">
                <a:solidFill>
                  <a:srgbClr val="22D3EE"/>
                </a:solidFill>
                <a:latin typeface="JetBrains Mono"/>
                <a:rFonts ascii="JetBrains Mono" hAnsi="JetBrains Mono" eastAsia="JetBrains Mono" cs="JetBrains Mono"/>
              </a:rPr>
              <a:t>int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&gt; numbers = {1, 2, 3, 4, 5, 6, 7, 8, 9, 10};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04" y="1885950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std::vector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&lt;</a:t>
            </a:r>
            <a:r>
              <a:rPr sz="717" b="0">
                <a:solidFill>
                  <a:srgbClr val="22D3EE"/>
                </a:solidFill>
                <a:latin typeface="JetBrains Mono"/>
                <a:rFonts ascii="JetBrains Mono" hAnsi="JetBrains Mono" eastAsia="JetBrains Mono" cs="JetBrains Mono"/>
              </a:rPr>
              <a:t>int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&gt; temp;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04" y="2114550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std::copy_if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(numbers.</a:t>
            </a:r>
            <a:r>
              <a:rPr sz="717" b="0">
                <a:solidFill>
                  <a:srgbClr val="60A5FA"/>
                </a:solidFill>
                <a:latin typeface="JetBrains Mono"/>
                <a:rFonts ascii="JetBrains Mono" hAnsi="JetBrains Mono" eastAsia="JetBrains Mono" cs="JetBrains Mono"/>
              </a:rPr>
              <a:t>begin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(), numbers.</a:t>
            </a:r>
            <a:r>
              <a:rPr sz="717" b="0">
                <a:solidFill>
                  <a:srgbClr val="60A5FA"/>
                </a:solidFill>
                <a:latin typeface="JetBrains Mono"/>
                <a:rFonts ascii="JetBrains Mono" hAnsi="JetBrains Mono" eastAsia="JetBrains Mono" cs="JetBrains Mono"/>
              </a:rPr>
              <a:t>end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(),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04" y="2343150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std::back_inserter</a:t>
            </a: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(temp), even);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04" y="2571750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std::vector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&lt;</a:t>
            </a:r>
            <a:r>
              <a:rPr sz="717" b="0">
                <a:solidFill>
                  <a:srgbClr val="22D3EE"/>
                </a:solidFill>
                <a:latin typeface="JetBrains Mono"/>
                <a:rFonts ascii="JetBrains Mono" hAnsi="JetBrains Mono" eastAsia="JetBrains Mono" cs="JetBrains Mono"/>
              </a:rPr>
              <a:t>int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&gt; temp2(temp.</a:t>
            </a:r>
            <a:r>
              <a:rPr sz="717" b="0">
                <a:solidFill>
                  <a:srgbClr val="60A5FA"/>
                </a:solidFill>
                <a:latin typeface="JetBrains Mono"/>
                <a:rFonts ascii="JetBrains Mono" hAnsi="JetBrains Mono" eastAsia="JetBrains Mono" cs="JetBrains Mono"/>
              </a:rPr>
              <a:t>begin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()+1, temp.</a:t>
            </a:r>
            <a:r>
              <a:rPr sz="717" b="0">
                <a:solidFill>
                  <a:srgbClr val="60A5FA"/>
                </a:solidFill>
                <a:latin typeface="JetBrains Mono"/>
                <a:rFonts ascii="JetBrains Mono" hAnsi="JetBrains Mono" eastAsia="JetBrains Mono" cs="JetBrains Mono"/>
              </a:rPr>
              <a:t>end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());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04" y="2800350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for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 (</a:t>
            </a:r>
            <a:r>
              <a:rPr sz="717" b="0">
                <a:solidFill>
                  <a:srgbClr val="22D3EE"/>
                </a:solidFill>
                <a:latin typeface="JetBrains Mono"/>
                <a:rFonts ascii="JetBrains Mono" hAnsi="JetBrains Mono" eastAsia="JetBrains Mono" cs="JetBrains Mono"/>
              </a:rPr>
              <a:t>auto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 it = temp2.</a:t>
            </a:r>
            <a:r>
              <a:rPr sz="717" b="0">
                <a:solidFill>
                  <a:srgbClr val="60A5FA"/>
                </a:solidFill>
                <a:latin typeface="JetBrains Mono"/>
                <a:rFonts ascii="JetBrains Mono" hAnsi="JetBrains Mono" eastAsia="JetBrains Mono" cs="JetBrains Mono"/>
              </a:rPr>
              <a:t>rbegin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(); it != temp2.</a:t>
            </a:r>
            <a:r>
              <a:rPr sz="717" b="0">
                <a:solidFill>
                  <a:srgbClr val="60A5FA"/>
                </a:solidFill>
                <a:latin typeface="JetBrains Mono"/>
                <a:rFonts ascii="JetBrains Mono" hAnsi="JetBrains Mono" eastAsia="JetBrains Mono" cs="JetBrains Mono"/>
              </a:rPr>
              <a:t>rend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(); ++it)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04" y="3028950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std::cout</a:t>
            </a: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 &lt;&lt; *it &lt;&lt; </a:t>
            </a:r>
            <a:r>
              <a:rPr sz="717" b="0">
                <a:solidFill>
                  <a:srgbClr val="4ADE80"/>
                </a:solidFill>
                <a:latin typeface="JetBrains Mono"/>
                <a:rFonts ascii="JetBrains Mono" hAnsi="JetBrains Mono" eastAsia="JetBrains Mono" cs="JetBrains Mono"/>
              </a:rPr>
              <a:t>" "</a:t>
            </a: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;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09604" y="3345118"/>
            <a:ext cx="171445" cy="11061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57248" y="3295650"/>
            <a:ext cx="236214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4A3B8"/>
                </a:solidFill>
                <a:latin typeface="Inter"/>
                <a:rFonts ascii="Inter" hAnsi="Inter" eastAsia="Inter" cs="Inter"/>
              </a:rPr>
              <a:t>Multiple temp containers, error-prone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584" y="3609975"/>
            <a:ext cx="5257668" cy="2571750"/>
          </a:xfrm>
          <a:prstGeom prst="roundRect">
            <a:avLst>
              <a:gd name="adj" fmla="val 8888"/>
            </a:avLst>
          </a:prstGeom>
          <a:solidFill>
            <a:srgbClr val="1E293B">
              <a:alpha val="3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09604" y="3841432"/>
            <a:ext cx="228594" cy="16573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14397" y="3809999"/>
            <a:ext cx="3505112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B923C"/>
                </a:solidFill>
                <a:latin typeface="Inter"/>
                <a:rFonts ascii="Inter" hAnsi="Inter" eastAsia="Inter" cs="Inter"/>
              </a:rPr>
              <a:t>Problem: Find even numbers, skip first, reverse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604" y="4152899"/>
            <a:ext cx="4857628" cy="1066799"/>
          </a:xfrm>
          <a:prstGeom prst="roundRect">
            <a:avLst>
              <a:gd name="adj" fmla="val 14285"/>
            </a:avLst>
          </a:prstGeom>
          <a:solidFill>
            <a:srgbClr val="0F172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3901" y="4267199"/>
            <a:ext cx="462903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0">
                <a:solidFill>
                  <a:srgbClr val="94A3B8"/>
                </a:solidFill>
                <a:latin typeface="Inter"/>
                <a:rFonts ascii="Inter" hAnsi="Inter" eastAsia="Inter" cs="Inter"/>
              </a:rPr>
              <a:t>Input: [1, 2, 3, 4, 5, 6, 7, 8, 9, 10]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901" y="4533900"/>
            <a:ext cx="462903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Inter"/>
                <a:rFonts ascii="Inter" hAnsi="Inter" eastAsia="Inter" cs="Inter"/>
              </a:rPr>
              <a:t>Step 1: Filter even → [2, 4, 6, 8, 10]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901" y="4724399"/>
            <a:ext cx="462903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Inter"/>
                <a:rFonts ascii="Inter" hAnsi="Inter" eastAsia="Inter" cs="Inter"/>
              </a:rPr>
              <a:t>Step 2: Skip first → [4, 6, 8, 10]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901" y="4914900"/>
            <a:ext cx="462903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CBD5E1"/>
                </a:solidFill>
                <a:latin typeface="Inter"/>
                <a:rFonts ascii="Inter" hAnsi="Inter" eastAsia="Inter" cs="Inter"/>
              </a:rPr>
              <a:t>Step 3: Reverse → [10, 8, 6, 4]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24441" y="1038224"/>
            <a:ext cx="5257668" cy="5334000"/>
          </a:xfrm>
          <a:prstGeom prst="roundRect">
            <a:avLst>
              <a:gd name="adj" fmla="val 4347"/>
            </a:avLst>
          </a:prstGeom>
          <a:gradFill rotWithShape="1">
            <a:gsLst>
              <a:gs pos="0">
                <a:srgbClr val="164E63">
                  <a:alpha val="30000"/>
                </a:srgbClr>
              </a:gs>
              <a:gs pos="100000">
                <a:srgbClr val="1E3A8A">
                  <a:alpha val="30000"/>
                </a:srgbClr>
              </a:gs>
            </a:gsLst>
            <a:lin scaled="0" ang="8100000"/>
          </a:gradFill>
          <a:ln w="825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524461" y="1256413"/>
            <a:ext cx="247643" cy="230372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848303" y="1238249"/>
            <a:ext cx="135251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22D3EE"/>
                </a:solidFill>
                <a:latin typeface="Inter"/>
                <a:rFonts ascii="Inter" hAnsi="Inter" eastAsia="Inter" cs="Inter"/>
              </a:rPr>
              <a:t>Ranges Solution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4461" y="1657350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auto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 result = numbers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95907" y="1924049"/>
            <a:ext cx="468618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| </a:t>
            </a: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std::views::filter</a:t>
            </a: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(even)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95907" y="2152650"/>
            <a:ext cx="468618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94A3B8"/>
                </a:solidFill>
                <a:latin typeface="JetBrains Mono"/>
                <a:rFonts ascii="JetBrains Mono" hAnsi="JetBrains Mono" eastAsia="JetBrains Mono" cs="JetBrains Mono"/>
              </a:rPr>
              <a:t>// Keep even numbers: [2, 4, 6, 8, 10]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95907" y="2419349"/>
            <a:ext cx="468618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| </a:t>
            </a: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std::views::drop</a:t>
            </a: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(</a:t>
            </a:r>
            <a:r>
              <a:rPr sz="717" b="0">
                <a:solidFill>
                  <a:srgbClr val="4ADE80"/>
                </a:solidFill>
                <a:latin typeface="JetBrains Mono"/>
                <a:rFonts ascii="JetBrains Mono" hAnsi="JetBrains Mono" eastAsia="JetBrains Mono" cs="JetBrains Mono"/>
              </a:rPr>
              <a:t>1</a:t>
            </a: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95907" y="2647949"/>
            <a:ext cx="468618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94A3B8"/>
                </a:solidFill>
                <a:latin typeface="JetBrains Mono"/>
                <a:rFonts ascii="JetBrains Mono" hAnsi="JetBrains Mono" eastAsia="JetBrains Mono" cs="JetBrains Mono"/>
              </a:rPr>
              <a:t>// Skip first: [4, 6, 8, 10]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95907" y="2914650"/>
            <a:ext cx="468618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| </a:t>
            </a: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std::views::reverse</a:t>
            </a: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95907" y="3143250"/>
            <a:ext cx="468618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94A3B8"/>
                </a:solidFill>
                <a:latin typeface="JetBrains Mono"/>
                <a:rFonts ascii="JetBrains Mono" hAnsi="JetBrains Mono" eastAsia="JetBrains Mono" cs="JetBrains Mono"/>
              </a:rPr>
              <a:t>// Reverse: [10, 8, 6, 4]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4461" y="3409950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780"/>
              </a:spcBef>
              <a:spcAft>
                <a:spcPts val="0"/>
              </a:spcAft>
            </a:pP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for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 (</a:t>
            </a:r>
            <a:r>
              <a:rPr sz="717" b="0">
                <a:solidFill>
                  <a:srgbClr val="22D3EE"/>
                </a:solidFill>
                <a:latin typeface="JetBrains Mono"/>
                <a:rFonts ascii="JetBrains Mono" hAnsi="JetBrains Mono" eastAsia="JetBrains Mono" cs="JetBrains Mono"/>
              </a:rPr>
              <a:t>int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 n : result) {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4461" y="3676649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780"/>
              </a:spcBef>
              <a:spcAft>
                <a:spcPts val="0"/>
              </a:spcAft>
            </a:pP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std::cout</a:t>
            </a: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 &lt;&lt; n &lt;&lt; </a:t>
            </a:r>
            <a:r>
              <a:rPr sz="717" b="0">
                <a:solidFill>
                  <a:srgbClr val="4ADE80"/>
                </a:solidFill>
                <a:latin typeface="JetBrains Mono"/>
                <a:rFonts ascii="JetBrains Mono" hAnsi="JetBrains Mono" eastAsia="JetBrains Mono" cs="JetBrains Mono"/>
              </a:rPr>
              <a:t>" "</a:t>
            </a: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4461" y="3943350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780"/>
              </a:spcBef>
              <a:spcAft>
                <a:spcPts val="0"/>
              </a:spcAft>
            </a:pP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}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24461" y="4248150"/>
            <a:ext cx="4857628" cy="1409699"/>
          </a:xfrm>
          <a:prstGeom prst="roundRect">
            <a:avLst>
              <a:gd name="adj" fmla="val 10810"/>
            </a:avLst>
          </a:prstGeom>
          <a:solidFill>
            <a:srgbClr val="164E63">
              <a:alpha val="20000"/>
            </a:srgbClr>
          </a:solidFill>
          <a:ln w="825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648283" y="4405032"/>
            <a:ext cx="190495" cy="162485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914977" y="4371975"/>
            <a:ext cx="53338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CBD5E1"/>
                </a:solidFill>
                <a:latin typeface="Inter"/>
                <a:rFonts ascii="Inter" hAnsi="Inter" eastAsia="Inter" cs="Inter"/>
              </a:rPr>
              <a:t>Benefits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14977" y="4657725"/>
            <a:ext cx="434329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Inter"/>
                <a:rFonts ascii="Inter" hAnsi="Inter" eastAsia="Inter" cs="Inter"/>
              </a:rPr>
              <a:t>• No intermediate containers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14977" y="4886325"/>
            <a:ext cx="434329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Inter"/>
                <a:rFonts ascii="Inter" hAnsi="Inter" eastAsia="Inter" cs="Inter"/>
              </a:rPr>
              <a:t>• Single expression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14977" y="5114925"/>
            <a:ext cx="434329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Inter"/>
                <a:rFonts ascii="Inter" hAnsi="Inter" eastAsia="Inter" cs="Inter"/>
              </a:rPr>
              <a:t>• Lazy evaluation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14977" y="5343525"/>
            <a:ext cx="434329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Inter"/>
                <a:rFonts ascii="Inter" hAnsi="Inter" eastAsia="Inter" cs="Inter"/>
              </a:rPr>
              <a:t>• Type-safe operations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286242"/>
            <a:ext cx="342891" cy="22761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6773" y="114300"/>
            <a:ext cx="7610284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Extended Use Case 2: String Manipulation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1038224"/>
            <a:ext cx="5257668" cy="2571750"/>
          </a:xfrm>
          <a:prstGeom prst="roundRect">
            <a:avLst>
              <a:gd name="adj" fmla="val 8888"/>
            </a:avLst>
          </a:prstGeom>
          <a:solidFill>
            <a:srgbClr val="1E293B">
              <a:alpha val="3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09604" y="1273691"/>
            <a:ext cx="247643" cy="1958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33446" y="1238249"/>
            <a:ext cx="176208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87171"/>
                </a:solidFill>
                <a:latin typeface="Inter"/>
                <a:rFonts ascii="Inter" hAnsi="Inter" eastAsia="Inter" cs="Inter"/>
              </a:rPr>
              <a:t>Traditional 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04" y="1657350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std::string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 text = </a:t>
            </a:r>
            <a:r>
              <a:rPr sz="717" b="0">
                <a:solidFill>
                  <a:srgbClr val="4ADE80"/>
                </a:solidFill>
                <a:latin typeface="JetBrains Mono"/>
                <a:rFonts ascii="JetBrains Mono" hAnsi="JetBrains Mono" eastAsia="JetBrains Mono" cs="JetBrains Mono"/>
              </a:rPr>
              <a:t>"  Hello World  "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04" y="1885950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auto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 first = </a:t>
            </a: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std::find_if_not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(text.</a:t>
            </a:r>
            <a:r>
              <a:rPr sz="717" b="0">
                <a:solidFill>
                  <a:srgbClr val="60A5FA"/>
                </a:solidFill>
                <a:latin typeface="JetBrains Mono"/>
                <a:rFonts ascii="JetBrains Mono" hAnsi="JetBrains Mono" eastAsia="JetBrains Mono" cs="JetBrains Mono"/>
              </a:rPr>
              <a:t>begin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(), text.</a:t>
            </a:r>
            <a:r>
              <a:rPr sz="717" b="0">
                <a:solidFill>
                  <a:srgbClr val="60A5FA"/>
                </a:solidFill>
                <a:latin typeface="JetBrains Mono"/>
                <a:rFonts ascii="JetBrains Mono" hAnsi="JetBrains Mono" eastAsia="JetBrains Mono" cs="JetBrains Mono"/>
              </a:rPr>
              <a:t>end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(), ::isspace);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04" y="2114550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std::string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 trimmed(first, text.</a:t>
            </a:r>
            <a:r>
              <a:rPr sz="717" b="0">
                <a:solidFill>
                  <a:srgbClr val="60A5FA"/>
                </a:solidFill>
                <a:latin typeface="JetBrains Mono"/>
                <a:rFonts ascii="JetBrains Mono" hAnsi="JetBrains Mono" eastAsia="JetBrains Mono" cs="JetBrains Mono"/>
              </a:rPr>
              <a:t>end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());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04" y="2343150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std::transform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(trimmed.</a:t>
            </a:r>
            <a:r>
              <a:rPr sz="717" b="0">
                <a:solidFill>
                  <a:srgbClr val="60A5FA"/>
                </a:solidFill>
                <a:latin typeface="JetBrains Mono"/>
                <a:rFonts ascii="JetBrains Mono" hAnsi="JetBrains Mono" eastAsia="JetBrains Mono" cs="JetBrains Mono"/>
              </a:rPr>
              <a:t>begin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(), trimmed.</a:t>
            </a:r>
            <a:r>
              <a:rPr sz="717" b="0">
                <a:solidFill>
                  <a:srgbClr val="60A5FA"/>
                </a:solidFill>
                <a:latin typeface="JetBrains Mono"/>
                <a:rFonts ascii="JetBrains Mono" hAnsi="JetBrains Mono" eastAsia="JetBrains Mono" cs="JetBrains Mono"/>
              </a:rPr>
              <a:t>end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(),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04" y="2571750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trimmed.</a:t>
            </a:r>
            <a:r>
              <a:rPr sz="717" b="0">
                <a:solidFill>
                  <a:srgbClr val="60A5FA"/>
                </a:solidFill>
                <a:latin typeface="JetBrains Mono"/>
                <a:rFonts ascii="JetBrains Mono" hAnsi="JetBrains Mono" eastAsia="JetBrains Mono" cs="JetBrains Mono"/>
              </a:rPr>
              <a:t>begin</a:t>
            </a: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(), ::toupper);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09604" y="2887918"/>
            <a:ext cx="171445" cy="1106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57248" y="2838450"/>
            <a:ext cx="212402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4A3B8"/>
                </a:solidFill>
                <a:latin typeface="Inter"/>
                <a:rFonts ascii="Inter" hAnsi="Inter" eastAsia="Inter" cs="Inter"/>
              </a:rPr>
              <a:t>Verbose, manual iterator handling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584" y="3609975"/>
            <a:ext cx="5257668" cy="2571750"/>
          </a:xfrm>
          <a:prstGeom prst="roundRect">
            <a:avLst>
              <a:gd name="adj" fmla="val 8888"/>
            </a:avLst>
          </a:prstGeom>
          <a:solidFill>
            <a:srgbClr val="1E293B">
              <a:alpha val="3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09604" y="3835717"/>
            <a:ext cx="228594" cy="1771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14397" y="3809999"/>
            <a:ext cx="317174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B923C"/>
                </a:solidFill>
                <a:latin typeface="Inter"/>
                <a:rFonts ascii="Inter" hAnsi="Inter" eastAsia="Inter" cs="Inter"/>
              </a:rPr>
              <a:t>Problem: Trim leading spaces &amp; uppercase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604" y="4152899"/>
            <a:ext cx="4857628" cy="1333500"/>
          </a:xfrm>
          <a:prstGeom prst="roundRect">
            <a:avLst>
              <a:gd name="adj" fmla="val 11428"/>
            </a:avLst>
          </a:prstGeom>
          <a:solidFill>
            <a:srgbClr val="0F172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901" y="4267199"/>
            <a:ext cx="462903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0">
                <a:solidFill>
                  <a:srgbClr val="94A3B8"/>
                </a:solidFill>
                <a:latin typeface="Inter"/>
                <a:rFonts ascii="Inter" hAnsi="Inter" eastAsia="Inter" cs="Inter"/>
              </a:rPr>
              <a:t>Input: " Hello World 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901" y="4533900"/>
            <a:ext cx="462903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Inter"/>
                <a:rFonts ascii="Inter" hAnsi="Inter" eastAsia="Inter" cs="Inter"/>
              </a:rPr>
              <a:t>Step 1: Find first non-space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901" y="4724399"/>
            <a:ext cx="462903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Inter"/>
                <a:rFonts ascii="Inter" hAnsi="Inter" eastAsia="Inter" cs="Inter"/>
              </a:rPr>
              <a:t>Step 2: Create substring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901" y="4914900"/>
            <a:ext cx="462903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CBD5E1"/>
                </a:solidFill>
                <a:latin typeface="Inter"/>
                <a:rFonts ascii="Inter" hAnsi="Inter" eastAsia="Inter" cs="Inter"/>
              </a:rPr>
              <a:t>Step 3: Convert to uppercase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901" y="5181599"/>
            <a:ext cx="462903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520"/>
              </a:spcBef>
              <a:spcAft>
                <a:spcPts val="0"/>
              </a:spcAft>
            </a:pPr>
            <a:r>
              <a:rPr sz="837" b="0">
                <a:solidFill>
                  <a:srgbClr val="94A3B8"/>
                </a:solidFill>
                <a:latin typeface="Inter"/>
                <a:rFonts ascii="Inter" hAnsi="Inter" eastAsia="Inter" cs="Inter"/>
              </a:rPr>
              <a:t>Output: "HELLO WORLD "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24441" y="1038224"/>
            <a:ext cx="5257668" cy="5334000"/>
          </a:xfrm>
          <a:prstGeom prst="roundRect">
            <a:avLst>
              <a:gd name="adj" fmla="val 4347"/>
            </a:avLst>
          </a:prstGeom>
          <a:gradFill rotWithShape="1">
            <a:gsLst>
              <a:gs pos="0">
                <a:srgbClr val="164E63">
                  <a:alpha val="30000"/>
                </a:srgbClr>
              </a:gs>
              <a:gs pos="100000">
                <a:srgbClr val="1E3A8A">
                  <a:alpha val="30000"/>
                </a:srgbClr>
              </a:gs>
            </a:gsLst>
            <a:lin scaled="0" ang="8100000"/>
          </a:gradFill>
          <a:ln w="825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524461" y="1256413"/>
            <a:ext cx="247643" cy="23037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848303" y="1238249"/>
            <a:ext cx="135251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22D3EE"/>
                </a:solidFill>
                <a:latin typeface="Inter"/>
                <a:rFonts ascii="Inter" hAnsi="Inter" eastAsia="Inter" cs="Inter"/>
              </a:rPr>
              <a:t>Ranges Solution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4461" y="1657350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std::string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 text = </a:t>
            </a:r>
            <a:r>
              <a:rPr sz="717" b="0">
                <a:solidFill>
                  <a:srgbClr val="4ADE80"/>
                </a:solidFill>
                <a:latin typeface="JetBrains Mono"/>
                <a:rFonts ascii="JetBrains Mono" hAnsi="JetBrains Mono" eastAsia="JetBrains Mono" cs="JetBrains Mono"/>
              </a:rPr>
              <a:t>"  Hello World  "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4461" y="1924049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780"/>
              </a:spcBef>
              <a:spcAft>
                <a:spcPts val="0"/>
              </a:spcAft>
            </a:pP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auto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 result = text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95907" y="2190749"/>
            <a:ext cx="468618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| </a:t>
            </a: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std::views::drop_while</a:t>
            </a: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(::isspace)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95907" y="2419349"/>
            <a:ext cx="468618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94A3B8"/>
                </a:solidFill>
                <a:latin typeface="JetBrains Mono"/>
                <a:rFonts ascii="JetBrains Mono" hAnsi="JetBrains Mono" eastAsia="JetBrains Mono" cs="JetBrains Mono"/>
              </a:rPr>
              <a:t>// Drop leading spaces: "Hello World 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95907" y="2686050"/>
            <a:ext cx="468618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| </a:t>
            </a: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std::views::transform</a:t>
            </a: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(::toupper);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95907" y="2914650"/>
            <a:ext cx="468618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94A3B8"/>
                </a:solidFill>
                <a:latin typeface="JetBrains Mono"/>
                <a:rFonts ascii="JetBrains Mono" hAnsi="JetBrains Mono" eastAsia="JetBrains Mono" cs="JetBrains Mono"/>
              </a:rPr>
              <a:t>// Uppercase: "HELLO WORLD "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4461" y="3181350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780"/>
              </a:spcBef>
              <a:spcAft>
                <a:spcPts val="0"/>
              </a:spcAft>
            </a:pP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std::string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 output(result.</a:t>
            </a:r>
            <a:r>
              <a:rPr sz="717" b="0">
                <a:solidFill>
                  <a:srgbClr val="60A5FA"/>
                </a:solidFill>
                <a:latin typeface="JetBrains Mono"/>
                <a:rFonts ascii="JetBrains Mono" hAnsi="JetBrains Mono" eastAsia="JetBrains Mono" cs="JetBrains Mono"/>
              </a:rPr>
              <a:t>begin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(), result.</a:t>
            </a:r>
            <a:r>
              <a:rPr sz="717" b="0">
                <a:solidFill>
                  <a:srgbClr val="60A5FA"/>
                </a:solidFill>
                <a:latin typeface="JetBrains Mono"/>
                <a:rFonts ascii="JetBrains Mono" hAnsi="JetBrains Mono" eastAsia="JetBrains Mono" cs="JetBrains Mono"/>
              </a:rPr>
              <a:t>end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());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24461" y="3486150"/>
            <a:ext cx="4857628" cy="1371600"/>
          </a:xfrm>
          <a:prstGeom prst="roundRect">
            <a:avLst>
              <a:gd name="adj" fmla="val 11111"/>
            </a:avLst>
          </a:prstGeom>
          <a:solidFill>
            <a:srgbClr val="164E63">
              <a:alpha val="20000"/>
            </a:srgbClr>
          </a:solidFill>
          <a:ln w="825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648283" y="3643032"/>
            <a:ext cx="190495" cy="162485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6914977" y="3609975"/>
            <a:ext cx="125726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CBD5E1"/>
                </a:solidFill>
                <a:latin typeface="Inter"/>
                <a:rFonts ascii="Inter" hAnsi="Inter" eastAsia="Inter" cs="Inter"/>
              </a:rPr>
              <a:t>C++23: Even Better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14977" y="3895724"/>
            <a:ext cx="434329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auto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 output = text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14977" y="4124324"/>
            <a:ext cx="434329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| </a:t>
            </a: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std::views::drop_while</a:t>
            </a: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(::isspace)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14977" y="4352924"/>
            <a:ext cx="434329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| </a:t>
            </a: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std::views::transform</a:t>
            </a: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(::toupper)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14977" y="4581524"/>
            <a:ext cx="434329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| </a:t>
            </a: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std::ranges::to</a:t>
            </a: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&lt;</a:t>
            </a: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std::string</a:t>
            </a: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&gt;();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524461" y="5002161"/>
            <a:ext cx="171445" cy="149327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772105" y="4972050"/>
            <a:ext cx="314317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Inter"/>
                <a:rFonts ascii="Inter" hAnsi="Inter" eastAsia="Inter" cs="Inter"/>
              </a:rPr>
              <a:t>Drop conditionally removes while predicate is true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267028"/>
            <a:ext cx="342891" cy="26604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6773" y="114300"/>
            <a:ext cx="7572185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Extended Use Case 3: Working with Maps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1038224"/>
            <a:ext cx="5257668" cy="2857500"/>
          </a:xfrm>
          <a:prstGeom prst="roundRect">
            <a:avLst>
              <a:gd name="adj" fmla="val 8000"/>
            </a:avLst>
          </a:prstGeom>
          <a:solidFill>
            <a:srgbClr val="1E293B">
              <a:alpha val="3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09604" y="1282330"/>
            <a:ext cx="247643" cy="1785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33446" y="1238249"/>
            <a:ext cx="31812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B923C"/>
                </a:solidFill>
                <a:latin typeface="Inter"/>
                <a:rFonts ascii="Inter" hAnsi="Inter" eastAsia="Inter" cs="Inter"/>
              </a:rPr>
              <a:t>Problem: Process map data efficiently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604" y="1657350"/>
            <a:ext cx="4857628" cy="1028700"/>
          </a:xfrm>
          <a:prstGeom prst="roundRect">
            <a:avLst>
              <a:gd name="adj" fmla="val 14814"/>
            </a:avLst>
          </a:prstGeom>
          <a:solidFill>
            <a:srgbClr val="0F172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901" y="1771650"/>
            <a:ext cx="462903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520"/>
              </a:spcAft>
            </a:pPr>
            <a:r>
              <a:rPr sz="837" b="0">
                <a:solidFill>
                  <a:srgbClr val="94A3B8"/>
                </a:solidFill>
                <a:latin typeface="Inter"/>
                <a:rFonts ascii="Inter" hAnsi="Inter" eastAsia="Inter" cs="Inter"/>
              </a:rPr>
              <a:t>Map of person names to ages: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901" y="2038349"/>
            <a:ext cx="462903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{ </a:t>
            </a:r>
            <a:r>
              <a:rPr sz="717" b="0">
                <a:solidFill>
                  <a:srgbClr val="4ADE80"/>
                </a:solidFill>
                <a:latin typeface="JetBrains Mono"/>
                <a:rFonts ascii="JetBrains Mono" hAnsi="JetBrains Mono" eastAsia="JetBrains Mono" cs="JetBrains Mono"/>
              </a:rPr>
              <a:t>"Alice"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: </a:t>
            </a:r>
            <a:r>
              <a:rPr sz="717" b="0">
                <a:solidFill>
                  <a:srgbClr val="4ADE80"/>
                </a:solidFill>
                <a:latin typeface="JetBrains Mono"/>
                <a:rFonts ascii="JetBrains Mono" hAnsi="JetBrains Mono" eastAsia="JetBrains Mono" cs="JetBrains Mono"/>
              </a:rPr>
              <a:t>30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01" y="2228850"/>
            <a:ext cx="462903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  </a:t>
            </a:r>
            <a:r>
              <a:rPr sz="717" b="0">
                <a:solidFill>
                  <a:srgbClr val="4ADE80"/>
                </a:solidFill>
                <a:latin typeface="JetBrains Mono"/>
                <a:rFonts ascii="JetBrains Mono" hAnsi="JetBrains Mono" eastAsia="JetBrains Mono" cs="JetBrains Mono"/>
              </a:rPr>
              <a:t>"Bob"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: </a:t>
            </a:r>
            <a:r>
              <a:rPr sz="717" b="0">
                <a:solidFill>
                  <a:srgbClr val="4ADE80"/>
                </a:solidFill>
                <a:latin typeface="JetBrains Mono"/>
                <a:rFonts ascii="JetBrains Mono" hAnsi="JetBrains Mono" eastAsia="JetBrains Mono" cs="JetBrains Mono"/>
              </a:rPr>
              <a:t>25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01" y="2419349"/>
            <a:ext cx="462903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  </a:t>
            </a:r>
            <a:r>
              <a:rPr sz="717" b="0">
                <a:solidFill>
                  <a:srgbClr val="4ADE80"/>
                </a:solidFill>
                <a:latin typeface="JetBrains Mono"/>
                <a:rFonts ascii="JetBrains Mono" hAnsi="JetBrains Mono" eastAsia="JetBrains Mono" cs="JetBrains Mono"/>
              </a:rPr>
              <a:t>"Charlie"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: </a:t>
            </a:r>
            <a:r>
              <a:rPr sz="717" b="0">
                <a:solidFill>
                  <a:srgbClr val="4ADE80"/>
                </a:solidFill>
                <a:latin typeface="JetBrains Mono"/>
                <a:rFonts ascii="JetBrains Mono" hAnsi="JetBrains Mono" eastAsia="JetBrains Mono" cs="JetBrains Mono"/>
              </a:rPr>
              <a:t>40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 }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09604" y="2886915"/>
            <a:ext cx="190495" cy="13166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76298" y="2838450"/>
            <a:ext cx="136204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CBD5E1"/>
                </a:solidFill>
                <a:latin typeface="Inter"/>
                <a:rFonts ascii="Inter" hAnsi="Inter" eastAsia="Inter" cs="Inter"/>
              </a:rPr>
              <a:t>Extract all names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6298" y="3028950"/>
            <a:ext cx="136204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94A3B8"/>
                </a:solidFill>
                <a:latin typeface="Inter"/>
                <a:rFonts ascii="Inter" hAnsi="Inter" eastAsia="Inter" cs="Inter"/>
              </a:rPr>
              <a:t>["Alice", "Bob", "Charlie"]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09604" y="3306015"/>
            <a:ext cx="190495" cy="13166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76298" y="3257550"/>
            <a:ext cx="98105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CBD5E1"/>
                </a:solidFill>
                <a:latin typeface="Inter"/>
                <a:rFonts ascii="Inter" hAnsi="Inter" eastAsia="Inter" cs="Inter"/>
              </a:rPr>
              <a:t>Extract all 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6298" y="3448049"/>
            <a:ext cx="98105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94A3B8"/>
                </a:solidFill>
                <a:latin typeface="Inter"/>
                <a:rFonts ascii="Inter" hAnsi="Inter" eastAsia="Inter" cs="Inter"/>
              </a:rPr>
              <a:t>[30, 25, 40]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09604" y="3720913"/>
            <a:ext cx="190495" cy="140073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76298" y="3676649"/>
            <a:ext cx="171445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CBD5E1"/>
                </a:solidFill>
                <a:latin typeface="Inter"/>
                <a:rFonts ascii="Inter" hAnsi="Inter" eastAsia="Inter" cs="Inter"/>
              </a:rPr>
              <a:t>Find names of people &gt; 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6298" y="3867149"/>
            <a:ext cx="171445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94A3B8"/>
                </a:solidFill>
                <a:latin typeface="Inter"/>
                <a:rFonts ascii="Inter" hAnsi="Inter" eastAsia="Inter" cs="Inter"/>
              </a:rPr>
              <a:t>["Charlie"]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9584" y="3895724"/>
            <a:ext cx="5257668" cy="2286000"/>
          </a:xfrm>
          <a:prstGeom prst="roundRect">
            <a:avLst>
              <a:gd name="adj" fmla="val 10000"/>
            </a:avLst>
          </a:prstGeom>
          <a:solidFill>
            <a:srgbClr val="1E293B">
              <a:alpha val="3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09604" y="4117181"/>
            <a:ext cx="228594" cy="18573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114397" y="4095749"/>
            <a:ext cx="279075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ACC15"/>
                </a:solidFill>
                <a:latin typeface="Inter"/>
                <a:rFonts ascii="Inter" hAnsi="Inter" eastAsia="Inter" cs="Inter"/>
              </a:rPr>
              <a:t>Challenges with Traditional Approach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09604" y="4488118"/>
            <a:ext cx="171445" cy="11061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57248" y="4438649"/>
            <a:ext cx="219069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4A3B8"/>
                </a:solidFill>
                <a:latin typeface="Inter"/>
                <a:rFonts ascii="Inter" hAnsi="Inter" eastAsia="Inter" cs="Inter"/>
              </a:rPr>
              <a:t>Manual loop to extract keys/values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09604" y="4754818"/>
            <a:ext cx="171445" cy="11061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57248" y="4705350"/>
            <a:ext cx="191447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4A3B8"/>
                </a:solidFill>
                <a:latin typeface="Inter"/>
                <a:rFonts ascii="Inter" hAnsi="Inter" eastAsia="Inter" cs="Inter"/>
              </a:rPr>
              <a:t>Verbose temporary containers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09604" y="5021518"/>
            <a:ext cx="171445" cy="11061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057248" y="4972050"/>
            <a:ext cx="179065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4A3B8"/>
                </a:solidFill>
                <a:latin typeface="Inter"/>
                <a:rFonts ascii="Inter" hAnsi="Inter" eastAsia="Inter" cs="Inter"/>
              </a:rPr>
              <a:t>Hard to compose operations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09604" y="5288218"/>
            <a:ext cx="171445" cy="110612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57248" y="5238749"/>
            <a:ext cx="214307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94A3B8"/>
                </a:solidFill>
                <a:latin typeface="Inter"/>
                <a:rFonts ascii="Inter" hAnsi="Inter" eastAsia="Inter" cs="Inter"/>
              </a:rPr>
              <a:t>No direct view over map elements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24441" y="1038224"/>
            <a:ext cx="5257668" cy="5334000"/>
          </a:xfrm>
          <a:prstGeom prst="roundRect">
            <a:avLst>
              <a:gd name="adj" fmla="val 4347"/>
            </a:avLst>
          </a:prstGeom>
          <a:gradFill rotWithShape="1">
            <a:gsLst>
              <a:gs pos="0">
                <a:srgbClr val="164E63">
                  <a:alpha val="30000"/>
                </a:srgbClr>
              </a:gs>
              <a:gs pos="100000">
                <a:srgbClr val="1E3A8A">
                  <a:alpha val="30000"/>
                </a:srgbClr>
              </a:gs>
            </a:gsLst>
            <a:lin scaled="0" ang="8100000"/>
          </a:gradFill>
          <a:ln w="825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524461" y="1302488"/>
            <a:ext cx="247643" cy="138223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848303" y="1238249"/>
            <a:ext cx="135251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22D3EE"/>
                </a:solidFill>
                <a:latin typeface="Inter"/>
                <a:rFonts ascii="Inter" hAnsi="Inter" eastAsia="Inter" cs="Inter"/>
              </a:rPr>
              <a:t>Ranges Solution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4461" y="1657350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std::map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&lt;</a:t>
            </a:r>
            <a:r>
              <a:rPr sz="717" b="0">
                <a:solidFill>
                  <a:srgbClr val="22D3EE"/>
                </a:solidFill>
                <a:latin typeface="JetBrains Mono"/>
                <a:rFonts ascii="JetBrains Mono" hAnsi="JetBrains Mono" eastAsia="JetBrains Mono" cs="JetBrains Mono"/>
              </a:rPr>
              <a:t>std::string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, </a:t>
            </a:r>
            <a:r>
              <a:rPr sz="717" b="0">
                <a:solidFill>
                  <a:srgbClr val="22D3EE"/>
                </a:solidFill>
                <a:latin typeface="JetBrains Mono"/>
                <a:rFonts ascii="JetBrains Mono" hAnsi="JetBrains Mono" eastAsia="JetBrains Mono" cs="JetBrains Mono"/>
              </a:rPr>
              <a:t>int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&gt; name_age = {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4461" y="1924049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780"/>
              </a:spcBef>
              <a:spcAft>
                <a:spcPts val="0"/>
              </a:spcAft>
            </a:pP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{</a:t>
            </a:r>
            <a:r>
              <a:rPr sz="717" b="0">
                <a:solidFill>
                  <a:srgbClr val="4ADE80"/>
                </a:solidFill>
                <a:latin typeface="JetBrains Mono"/>
                <a:rFonts ascii="JetBrains Mono" hAnsi="JetBrains Mono" eastAsia="JetBrains Mono" cs="JetBrains Mono"/>
              </a:rPr>
              <a:t>"Alice"</a:t>
            </a: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, </a:t>
            </a:r>
            <a:r>
              <a:rPr sz="717" b="0">
                <a:solidFill>
                  <a:srgbClr val="4ADE80"/>
                </a:solidFill>
                <a:latin typeface="JetBrains Mono"/>
                <a:rFonts ascii="JetBrains Mono" hAnsi="JetBrains Mono" eastAsia="JetBrains Mono" cs="JetBrains Mono"/>
              </a:rPr>
              <a:t>30</a:t>
            </a: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}, {</a:t>
            </a:r>
            <a:r>
              <a:rPr sz="717" b="0">
                <a:solidFill>
                  <a:srgbClr val="4ADE80"/>
                </a:solidFill>
                <a:latin typeface="JetBrains Mono"/>
                <a:rFonts ascii="JetBrains Mono" hAnsi="JetBrains Mono" eastAsia="JetBrains Mono" cs="JetBrains Mono"/>
              </a:rPr>
              <a:t>"Bob"</a:t>
            </a: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, </a:t>
            </a:r>
            <a:r>
              <a:rPr sz="717" b="0">
                <a:solidFill>
                  <a:srgbClr val="4ADE80"/>
                </a:solidFill>
                <a:latin typeface="JetBrains Mono"/>
                <a:rFonts ascii="JetBrains Mono" hAnsi="JetBrains Mono" eastAsia="JetBrains Mono" cs="JetBrains Mono"/>
              </a:rPr>
              <a:t>25</a:t>
            </a: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}, {</a:t>
            </a:r>
            <a:r>
              <a:rPr sz="717" b="0">
                <a:solidFill>
                  <a:srgbClr val="4ADE80"/>
                </a:solidFill>
                <a:latin typeface="JetBrains Mono"/>
                <a:rFonts ascii="JetBrains Mono" hAnsi="JetBrains Mono" eastAsia="JetBrains Mono" cs="JetBrains Mono"/>
              </a:rPr>
              <a:t>"Charlie"</a:t>
            </a: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, </a:t>
            </a:r>
            <a:r>
              <a:rPr sz="717" b="0">
                <a:solidFill>
                  <a:srgbClr val="4ADE80"/>
                </a:solidFill>
                <a:latin typeface="JetBrains Mono"/>
                <a:rFonts ascii="JetBrains Mono" hAnsi="JetBrains Mono" eastAsia="JetBrains Mono" cs="JetBrains Mono"/>
              </a:rPr>
              <a:t>40</a:t>
            </a: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24461" y="2190749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780"/>
              </a:spcBef>
              <a:spcAft>
                <a:spcPts val="0"/>
              </a:spcAft>
            </a:pP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};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95907" y="2457450"/>
            <a:ext cx="468618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auto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 names = name_age | </a:t>
            </a: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std::views::keys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;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95907" y="2686050"/>
            <a:ext cx="468618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94A3B8"/>
                </a:solidFill>
                <a:latin typeface="JetBrains Mono"/>
                <a:rFonts ascii="JetBrains Mono" hAnsi="JetBrains Mono" eastAsia="JetBrains Mono" cs="JetBrains Mono"/>
              </a:rPr>
              <a:t>// ["Alice", "Bob", "Charlie"]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95907" y="2952750"/>
            <a:ext cx="468618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auto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 ages = name_age | </a:t>
            </a: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std::views::values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;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95907" y="3181350"/>
            <a:ext cx="468618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94A3B8"/>
                </a:solidFill>
                <a:latin typeface="JetBrains Mono"/>
                <a:rFonts ascii="JetBrains Mono" hAnsi="JetBrains Mono" eastAsia="JetBrains Mono" cs="JetBrains Mono"/>
              </a:rPr>
              <a:t>// [30, 25, 40]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95907" y="3448049"/>
            <a:ext cx="468618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auto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 seniors = name_age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95907" y="3676649"/>
            <a:ext cx="4686182" cy="304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| </a:t>
            </a: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std::views::filter</a:t>
            </a: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([](</a:t>
            </a: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const</a:t>
            </a: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 </a:t>
            </a: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auto</a:t>
            </a: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&amp; pair) { </a:t>
            </a: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return</a:t>
            </a: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 pair.second &gt; </a:t>
            </a:r>
            <a:r>
              <a:rPr sz="717" b="0">
                <a:solidFill>
                  <a:srgbClr val="4ADE80"/>
                </a:solidFill>
                <a:latin typeface="JetBrains Mono"/>
                <a:rFonts ascii="JetBrains Mono" hAnsi="JetBrains Mono" eastAsia="JetBrains Mono" cs="JetBrains Mono"/>
              </a:rPr>
              <a:t>30</a:t>
            </a: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; })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95907" y="4057650"/>
            <a:ext cx="468618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| </a:t>
            </a: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std::views::keys</a:t>
            </a: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;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95907" y="4286250"/>
            <a:ext cx="468618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94A3B8"/>
                </a:solidFill>
                <a:latin typeface="JetBrains Mono"/>
                <a:rFonts ascii="JetBrains Mono" hAnsi="JetBrains Mono" eastAsia="JetBrains Mono" cs="JetBrains Mono"/>
              </a:rPr>
              <a:t>// ["Charlie"]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524461" y="4591050"/>
            <a:ext cx="4857628" cy="1409699"/>
          </a:xfrm>
          <a:prstGeom prst="roundRect">
            <a:avLst>
              <a:gd name="adj" fmla="val 10810"/>
            </a:avLst>
          </a:prstGeom>
          <a:solidFill>
            <a:srgbClr val="164E63">
              <a:alpha val="20000"/>
            </a:srgbClr>
          </a:solidFill>
          <a:ln w="825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648283" y="4747932"/>
            <a:ext cx="190495" cy="162485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6914977" y="4714875"/>
            <a:ext cx="80960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CBD5E1"/>
                </a:solidFill>
                <a:latin typeface="Inter"/>
                <a:rFonts ascii="Inter" hAnsi="Inter" eastAsia="Inter" cs="Inter"/>
              </a:rPr>
              <a:t>Key Benefits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14977" y="5000625"/>
            <a:ext cx="434329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Inter"/>
                <a:rFonts ascii="Inter" hAnsi="Inter" eastAsia="Inter" cs="Inter"/>
              </a:rPr>
              <a:t>• Direct keys/values extraction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14977" y="5229225"/>
            <a:ext cx="434329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Inter"/>
                <a:rFonts ascii="Inter" hAnsi="Inter" eastAsia="Inter" cs="Inter"/>
              </a:rPr>
              <a:t>• Composable with other views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14977" y="5457825"/>
            <a:ext cx="434329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Inter"/>
                <a:rFonts ascii="Inter" hAnsi="Inter" eastAsia="Inter" cs="Inter"/>
              </a:rPr>
              <a:t>• No temporary containers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14977" y="5686425"/>
            <a:ext cx="434329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Inter"/>
                <a:rFonts ascii="Inter" hAnsi="Inter" eastAsia="Inter" cs="Inter"/>
              </a:rPr>
              <a:t>• Works with any pair-like type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267028"/>
            <a:ext cx="342891" cy="26604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6773" y="114300"/>
            <a:ext cx="3533686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Advanced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1038224"/>
            <a:ext cx="5257668" cy="2857500"/>
          </a:xfrm>
          <a:prstGeom prst="roundRect">
            <a:avLst>
              <a:gd name="adj" fmla="val 8000"/>
            </a:avLst>
          </a:prstGeom>
          <a:solidFill>
            <a:srgbClr val="1E293B">
              <a:alpha val="3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09604" y="1307823"/>
            <a:ext cx="266693" cy="1275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52496" y="1238249"/>
            <a:ext cx="71435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22D3EE"/>
                </a:solidFill>
                <a:latin typeface="Inter"/>
                <a:rFonts ascii="Inter" hAnsi="Inter" eastAsia="Inter" cs="Inter"/>
              </a:rPr>
              <a:t>zip_view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04" y="1619250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std::vector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&lt;</a:t>
            </a:r>
            <a:r>
              <a:rPr sz="717" b="0">
                <a:solidFill>
                  <a:srgbClr val="22D3EE"/>
                </a:solidFill>
                <a:latin typeface="JetBrains Mono"/>
                <a:rFonts ascii="JetBrains Mono" hAnsi="JetBrains Mono" eastAsia="JetBrains Mono" cs="JetBrains Mono"/>
              </a:rPr>
              <a:t>int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&gt; ids = {1, 2, 3};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04" y="1847849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std::vector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&lt;</a:t>
            </a:r>
            <a:r>
              <a:rPr sz="717" b="0">
                <a:solidFill>
                  <a:srgbClr val="22D3EE"/>
                </a:solidFill>
                <a:latin typeface="JetBrains Mono"/>
                <a:rFonts ascii="JetBrains Mono" hAnsi="JetBrains Mono" eastAsia="JetBrains Mono" cs="JetBrains Mono"/>
              </a:rPr>
              <a:t>std::string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&gt; names = {"Alice", "Bob", "Charlie"};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04" y="2076449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auto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 zipped = </a:t>
            </a: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std::views::zip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(ids, names);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04" y="2305049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for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 (</a:t>
            </a:r>
            <a:r>
              <a:rPr sz="717" b="0">
                <a:solidFill>
                  <a:srgbClr val="22D3EE"/>
                </a:solidFill>
                <a:latin typeface="JetBrains Mono"/>
                <a:rFonts ascii="JetBrains Mono" hAnsi="JetBrains Mono" eastAsia="JetBrains Mono" cs="JetBrains Mono"/>
              </a:rPr>
              <a:t>auto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 [id, name] : zipped) {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04" y="2533649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std::cout</a:t>
            </a: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 &lt;&lt; id &lt;&lt; </a:t>
            </a:r>
            <a:r>
              <a:rPr sz="717" b="0">
                <a:solidFill>
                  <a:srgbClr val="4ADE80"/>
                </a:solidFill>
                <a:latin typeface="JetBrains Mono"/>
                <a:rFonts ascii="JetBrains Mono" hAnsi="JetBrains Mono" eastAsia="JetBrains Mono" cs="JetBrains Mono"/>
              </a:rPr>
              <a:t>": "</a:t>
            </a: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 &lt;&lt; name &lt;&lt; </a:t>
            </a:r>
            <a:r>
              <a:rPr sz="717" b="0">
                <a:solidFill>
                  <a:srgbClr val="4ADE80"/>
                </a:solidFill>
                <a:latin typeface="JetBrains Mono"/>
                <a:rFonts ascii="JetBrains Mono" hAnsi="JetBrains Mono" eastAsia="JetBrains Mono" cs="JetBrains Mono"/>
              </a:rPr>
              <a:t>"\\n"</a:t>
            </a: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04" y="2762249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604" y="3028950"/>
            <a:ext cx="4857628" cy="323849"/>
          </a:xfrm>
          <a:prstGeom prst="roundRect">
            <a:avLst>
              <a:gd name="adj" fmla="val 47058"/>
            </a:avLst>
          </a:prstGeom>
          <a:solidFill>
            <a:srgbClr val="164E63">
              <a:alpha val="20000"/>
            </a:srgbClr>
          </a:solidFill>
          <a:ln w="825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5327" y="3114675"/>
            <a:ext cx="468618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94A3B8"/>
                </a:solidFill>
                <a:latin typeface="Inter"/>
                <a:rFonts ascii="Inter" hAnsi="Inter" eastAsia="Inter" cs="Inter"/>
              </a:rPr>
              <a:t>Combines multiple ranges element-wise into tuples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584" y="4086225"/>
            <a:ext cx="5257668" cy="2286000"/>
          </a:xfrm>
          <a:prstGeom prst="roundRect">
            <a:avLst>
              <a:gd name="adj" fmla="val 10000"/>
            </a:avLst>
          </a:prstGeom>
          <a:solidFill>
            <a:srgbClr val="1E293B">
              <a:alpha val="3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09604" y="4335531"/>
            <a:ext cx="266693" cy="16813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152496" y="4286250"/>
            <a:ext cx="119059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C084FC"/>
                </a:solidFill>
                <a:latin typeface="Inter"/>
                <a:rFonts ascii="Inter" hAnsi="Inter" eastAsia="Inter" cs="Inter"/>
              </a:rPr>
              <a:t>adjacent_view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604" y="4667249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std::vector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&lt;</a:t>
            </a:r>
            <a:r>
              <a:rPr sz="717" b="0">
                <a:solidFill>
                  <a:srgbClr val="22D3EE"/>
                </a:solidFill>
                <a:latin typeface="JetBrains Mono"/>
                <a:rFonts ascii="JetBrains Mono" hAnsi="JetBrains Mono" eastAsia="JetBrains Mono" cs="JetBrains Mono"/>
              </a:rPr>
              <a:t>int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&gt; nums = {1, 2, 3, 4, 5};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604" y="4895849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auto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 windows = nums | </a:t>
            </a: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std::views::adjacent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&lt;</a:t>
            </a:r>
            <a:r>
              <a:rPr sz="717" b="0">
                <a:solidFill>
                  <a:srgbClr val="4ADE80"/>
                </a:solidFill>
                <a:latin typeface="JetBrains Mono"/>
                <a:rFonts ascii="JetBrains Mono" hAnsi="JetBrains Mono" eastAsia="JetBrains Mono" cs="JetBrains Mono"/>
              </a:rPr>
              <a:t>2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&gt;();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604" y="5124449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for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 (</a:t>
            </a:r>
            <a:r>
              <a:rPr sz="717" b="0">
                <a:solidFill>
                  <a:srgbClr val="22D3EE"/>
                </a:solidFill>
                <a:latin typeface="JetBrains Mono"/>
                <a:rFonts ascii="JetBrains Mono" hAnsi="JetBrains Mono" eastAsia="JetBrains Mono" cs="JetBrains Mono"/>
              </a:rPr>
              <a:t>auto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 window : windows) {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604" y="5353049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auto</a:t>
            </a: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 [a, b] = window;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604" y="5581649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std::cout</a:t>
            </a: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 &lt;&lt; a &lt;&lt; </a:t>
            </a:r>
            <a:r>
              <a:rPr sz="717" b="0">
                <a:solidFill>
                  <a:srgbClr val="4ADE80"/>
                </a:solidFill>
                <a:latin typeface="JetBrains Mono"/>
                <a:rFonts ascii="JetBrains Mono" hAnsi="JetBrains Mono" eastAsia="JetBrains Mono" cs="JetBrains Mono"/>
              </a:rPr>
              <a:t>"+"</a:t>
            </a: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 &lt;&lt; b &lt;&lt; </a:t>
            </a:r>
            <a:r>
              <a:rPr sz="717" b="0">
                <a:solidFill>
                  <a:srgbClr val="4ADE80"/>
                </a:solidFill>
                <a:latin typeface="JetBrains Mono"/>
                <a:rFonts ascii="JetBrains Mono" hAnsi="JetBrains Mono" eastAsia="JetBrains Mono" cs="JetBrains Mono"/>
              </a:rPr>
              <a:t>"\\n"</a:t>
            </a: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604" y="5810249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}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09604" y="6068961"/>
            <a:ext cx="171445" cy="14932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57248" y="6038849"/>
            <a:ext cx="2152596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94A3B8"/>
                </a:solidFill>
                <a:latin typeface="Inter"/>
                <a:rFonts ascii="Inter" hAnsi="Inter" eastAsia="Inter" cs="Inter"/>
              </a:rPr>
              <a:t>Sliding windows of N adjacent elements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24441" y="1038224"/>
            <a:ext cx="5257668" cy="5334000"/>
          </a:xfrm>
          <a:prstGeom prst="roundRect">
            <a:avLst>
              <a:gd name="adj" fmla="val 4347"/>
            </a:avLst>
          </a:prstGeom>
          <a:gradFill rotWithShape="1">
            <a:gsLst>
              <a:gs pos="0">
                <a:srgbClr val="581C87">
                  <a:alpha val="30000"/>
                </a:srgbClr>
              </a:gs>
              <a:gs pos="100000">
                <a:srgbClr val="1E3A8A">
                  <a:alpha val="30000"/>
                </a:srgbClr>
              </a:gs>
            </a:gsLst>
            <a:lin scaled="0" ang="8100000"/>
          </a:gradFill>
          <a:ln w="825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524461" y="1267239"/>
            <a:ext cx="266693" cy="208721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867353" y="1238249"/>
            <a:ext cx="98105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C084FC"/>
                </a:solidFill>
                <a:latin typeface="Inter"/>
                <a:rFonts ascii="Inter" hAnsi="Inter" eastAsia="Inter" cs="Inter"/>
              </a:rPr>
              <a:t>chunk_view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4461" y="1657350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std::vector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&lt;</a:t>
            </a:r>
            <a:r>
              <a:rPr sz="717" b="0">
                <a:solidFill>
                  <a:srgbClr val="22D3EE"/>
                </a:solidFill>
                <a:latin typeface="JetBrains Mono"/>
                <a:rFonts ascii="JetBrains Mono" hAnsi="JetBrains Mono" eastAsia="JetBrains Mono" cs="JetBrains Mono"/>
              </a:rPr>
              <a:t>int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&gt; data = {1, 2, 3, 4, 5, 6, 7, 8};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4461" y="1924049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780"/>
              </a:spcBef>
              <a:spcAft>
                <a:spcPts val="0"/>
              </a:spcAft>
            </a:pP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auto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 chunks = data | </a:t>
            </a: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std::views::chunk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(</a:t>
            </a:r>
            <a:r>
              <a:rPr sz="717" b="0">
                <a:solidFill>
                  <a:srgbClr val="4ADE80"/>
                </a:solidFill>
                <a:latin typeface="JetBrains Mono"/>
                <a:rFonts ascii="JetBrains Mono" hAnsi="JetBrains Mono" eastAsia="JetBrains Mono" cs="JetBrains Mono"/>
              </a:rPr>
              <a:t>3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);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4461" y="2190749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780"/>
              </a:spcBef>
              <a:spcAft>
                <a:spcPts val="0"/>
              </a:spcAft>
            </a:pP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for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 (</a:t>
            </a:r>
            <a:r>
              <a:rPr sz="717" b="0">
                <a:solidFill>
                  <a:srgbClr val="22D3EE"/>
                </a:solidFill>
                <a:latin typeface="JetBrains Mono"/>
                <a:rFonts ascii="JetBrains Mono" hAnsi="JetBrains Mono" eastAsia="JetBrains Mono" cs="JetBrains Mono"/>
              </a:rPr>
              <a:t>auto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 chunk : chunks) {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4461" y="2457450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780"/>
              </a:spcBef>
              <a:spcAft>
                <a:spcPts val="0"/>
              </a:spcAft>
            </a:pP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for</a:t>
            </a: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 (</a:t>
            </a:r>
            <a:r>
              <a:rPr sz="717" b="0">
                <a:solidFill>
                  <a:srgbClr val="22D3EE"/>
                </a:solidFill>
                <a:latin typeface="JetBrains Mono"/>
                <a:rFonts ascii="JetBrains Mono" hAnsi="JetBrains Mono" eastAsia="JetBrains Mono" cs="JetBrains Mono"/>
              </a:rPr>
              <a:t>int</a:t>
            </a: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 n : chunk) {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4461" y="2724150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780"/>
              </a:spcBef>
              <a:spcAft>
                <a:spcPts val="0"/>
              </a:spcAft>
            </a:pP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std::cout</a:t>
            </a: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 &lt;&lt; n &lt;&lt; </a:t>
            </a:r>
            <a:r>
              <a:rPr sz="717" b="0">
                <a:solidFill>
                  <a:srgbClr val="4ADE80"/>
                </a:solidFill>
                <a:latin typeface="JetBrains Mono"/>
                <a:rFonts ascii="JetBrains Mono" hAnsi="JetBrains Mono" eastAsia="JetBrains Mono" cs="JetBrains Mono"/>
              </a:rPr>
              <a:t>" "</a:t>
            </a: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4461" y="2990849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780"/>
              </a:spcBef>
              <a:spcAft>
                <a:spcPts val="0"/>
              </a:spcAft>
            </a:pP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4461" y="3257550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780"/>
              </a:spcBef>
              <a:spcAft>
                <a:spcPts val="0"/>
              </a:spcAft>
            </a:pP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std::cout</a:t>
            </a: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 &lt;&lt; </a:t>
            </a:r>
            <a:r>
              <a:rPr sz="717" b="0">
                <a:solidFill>
                  <a:srgbClr val="4ADE80"/>
                </a:solidFill>
                <a:latin typeface="JetBrains Mono"/>
                <a:rFonts ascii="JetBrains Mono" hAnsi="JetBrains Mono" eastAsia="JetBrains Mono" cs="JetBrains Mono"/>
              </a:rPr>
              <a:t>"\\n"</a:t>
            </a: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4461" y="3524250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780"/>
              </a:spcBef>
              <a:spcAft>
                <a:spcPts val="0"/>
              </a:spcAft>
            </a:pP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}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24461" y="3829050"/>
            <a:ext cx="4857628" cy="1066799"/>
          </a:xfrm>
          <a:prstGeom prst="roundRect">
            <a:avLst>
              <a:gd name="adj" fmla="val 14285"/>
            </a:avLst>
          </a:prstGeom>
          <a:solidFill>
            <a:srgbClr val="581C87">
              <a:alpha val="20000"/>
            </a:srgbClr>
          </a:solidFill>
          <a:ln w="825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648283" y="3985932"/>
            <a:ext cx="190495" cy="162485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914977" y="3952874"/>
            <a:ext cx="44766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CBD5E1"/>
                </a:solidFill>
                <a:latin typeface="Inter"/>
                <a:rFonts ascii="Inter" hAnsi="Inter" eastAsia="Inter" cs="Inter"/>
              </a:rPr>
              <a:t>Output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14977" y="4238624"/>
            <a:ext cx="434329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1 2 3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14977" y="4429125"/>
            <a:ext cx="434329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4 5 6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14977" y="4619625"/>
            <a:ext cx="434329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7 8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24461" y="5048250"/>
            <a:ext cx="4857628" cy="1409699"/>
          </a:xfrm>
          <a:prstGeom prst="roundRect">
            <a:avLst>
              <a:gd name="adj" fmla="val 10810"/>
            </a:avLst>
          </a:prstGeom>
          <a:solidFill>
            <a:srgbClr val="581C87">
              <a:alpha val="20000"/>
            </a:srgbClr>
          </a:solidFill>
          <a:ln w="825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648283" y="5205132"/>
            <a:ext cx="190495" cy="162485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914977" y="5172075"/>
            <a:ext cx="68578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CBD5E1"/>
                </a:solidFill>
                <a:latin typeface="Inter"/>
                <a:rFonts ascii="Inter" hAnsi="Inter" eastAsia="Inter" cs="Inter"/>
              </a:rPr>
              <a:t>Use Cases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14977" y="5457825"/>
            <a:ext cx="434329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Inter"/>
                <a:rFonts ascii="Inter" hAnsi="Inter" eastAsia="Inter" cs="Inter"/>
              </a:rPr>
              <a:t>• Batch processing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14977" y="5686425"/>
            <a:ext cx="434329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Inter"/>
                <a:rFonts ascii="Inter" hAnsi="Inter" eastAsia="Inter" cs="Inter"/>
              </a:rPr>
              <a:t>• Data pagination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14977" y="5915025"/>
            <a:ext cx="434329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Inter"/>
                <a:rFonts ascii="Inter" hAnsi="Inter" eastAsia="Inter" cs="Inter"/>
              </a:rPr>
              <a:t>• Parallel operations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14977" y="6143625"/>
            <a:ext cx="434329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Inter"/>
                <a:rFonts ascii="Inter" hAnsi="Inter" eastAsia="Inter" cs="Inter"/>
              </a:rPr>
              <a:t>• Moving window averages</a:t>
            </a:r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524461" y="6605126"/>
            <a:ext cx="171445" cy="143796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6772105" y="6572250"/>
            <a:ext cx="224784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94A3B8"/>
                </a:solidFill>
                <a:latin typeface="Inter"/>
                <a:rFonts ascii="Inter" hAnsi="Inter" eastAsia="Inter" cs="Inter"/>
              </a:rPr>
              <a:t>C++23 features - check compiler support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246336"/>
            <a:ext cx="342891" cy="30742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6773" y="114300"/>
            <a:ext cx="3086022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C++23 Additions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1038224"/>
            <a:ext cx="5257668" cy="28575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164E63">
                  <a:alpha val="30000"/>
                </a:srgbClr>
              </a:gs>
              <a:gs pos="100000">
                <a:srgbClr val="1E3A8A">
                  <a:alpha val="30000"/>
                </a:srgbClr>
              </a:gs>
            </a:gsLst>
            <a:lin scaled="0" ang="8100000"/>
          </a:gradFill>
          <a:ln w="825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09604" y="1275935"/>
            <a:ext cx="266693" cy="1913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52496" y="1238249"/>
            <a:ext cx="85722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22D3EE"/>
                </a:solidFill>
                <a:latin typeface="Inter"/>
                <a:rFonts ascii="Inter" hAnsi="Inter" eastAsia="Inter" cs="Inter"/>
              </a:rPr>
              <a:t>ranges::to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04" y="1619250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std::vector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&lt;</a:t>
            </a:r>
            <a:r>
              <a:rPr sz="717" b="0">
                <a:solidFill>
                  <a:srgbClr val="22D3EE"/>
                </a:solidFill>
                <a:latin typeface="JetBrains Mono"/>
                <a:rFonts ascii="JetBrains Mono" hAnsi="JetBrains Mono" eastAsia="JetBrains Mono" cs="JetBrains Mono"/>
              </a:rPr>
              <a:t>int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&gt; numbers = {1, 2, 3, 4, 5};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04" y="1847849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auto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 result = numbers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04" y="2076449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| </a:t>
            </a: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std::views::filter</a:t>
            </a: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([](</a:t>
            </a:r>
            <a:r>
              <a:rPr sz="717" b="0">
                <a:solidFill>
                  <a:srgbClr val="22D3EE"/>
                </a:solidFill>
                <a:latin typeface="JetBrains Mono"/>
                <a:rFonts ascii="JetBrains Mono" hAnsi="JetBrains Mono" eastAsia="JetBrains Mono" cs="JetBrains Mono"/>
              </a:rPr>
              <a:t>int</a:t>
            </a: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 n) { </a:t>
            </a: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return</a:t>
            </a: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 n % </a:t>
            </a:r>
            <a:r>
              <a:rPr sz="717" b="0">
                <a:solidFill>
                  <a:srgbClr val="4ADE80"/>
                </a:solidFill>
                <a:latin typeface="JetBrains Mono"/>
                <a:rFonts ascii="JetBrains Mono" hAnsi="JetBrains Mono" eastAsia="JetBrains Mono" cs="JetBrains Mono"/>
              </a:rPr>
              <a:t>2</a:t>
            </a: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 == </a:t>
            </a:r>
            <a:r>
              <a:rPr sz="717" b="0">
                <a:solidFill>
                  <a:srgbClr val="4ADE80"/>
                </a:solidFill>
                <a:latin typeface="JetBrains Mono"/>
                <a:rFonts ascii="JetBrains Mono" hAnsi="JetBrains Mono" eastAsia="JetBrains Mono" cs="JetBrains Mono"/>
              </a:rPr>
              <a:t>0</a:t>
            </a: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; })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04" y="2305049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| </a:t>
            </a: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std::views::transform</a:t>
            </a: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([](</a:t>
            </a:r>
            <a:r>
              <a:rPr sz="717" b="0">
                <a:solidFill>
                  <a:srgbClr val="22D3EE"/>
                </a:solidFill>
                <a:latin typeface="JetBrains Mono"/>
                <a:rFonts ascii="JetBrains Mono" hAnsi="JetBrains Mono" eastAsia="JetBrains Mono" cs="JetBrains Mono"/>
              </a:rPr>
              <a:t>int</a:t>
            </a: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 n) { </a:t>
            </a: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return</a:t>
            </a: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 n * n; })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04" y="2533649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| </a:t>
            </a: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std::ranges::to</a:t>
            </a: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&lt;</a:t>
            </a: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std::vector</a:t>
            </a: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&gt;();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604" y="2800350"/>
            <a:ext cx="4857628" cy="323849"/>
          </a:xfrm>
          <a:prstGeom prst="roundRect">
            <a:avLst>
              <a:gd name="adj" fmla="val 47058"/>
            </a:avLst>
          </a:prstGeom>
          <a:solidFill>
            <a:srgbClr val="164E63">
              <a:alpha val="20000"/>
            </a:srgbClr>
          </a:solidFill>
          <a:ln w="825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5327" y="2886075"/>
            <a:ext cx="468618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94A3B8"/>
                </a:solidFill>
                <a:latin typeface="Inter"/>
                <a:rFonts ascii="Inter" hAnsi="Inter" eastAsia="Inter" cs="Inter"/>
              </a:rPr>
              <a:t>Convert view to container efficiently - no manual copy needed!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584" y="4086225"/>
            <a:ext cx="5257668" cy="2286000"/>
          </a:xfrm>
          <a:prstGeom prst="roundRect">
            <a:avLst>
              <a:gd name="adj" fmla="val 10000"/>
            </a:avLst>
          </a:prstGeom>
          <a:solidFill>
            <a:srgbClr val="1E293B">
              <a:alpha val="3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09604" y="4323935"/>
            <a:ext cx="266693" cy="19132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52496" y="4286250"/>
            <a:ext cx="137156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4ADE80"/>
                </a:solidFill>
                <a:latin typeface="Inter"/>
                <a:rFonts ascii="Inter" hAnsi="Inter" eastAsia="Inter" cs="Inter"/>
              </a:rPr>
              <a:t>enumerate_view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604" y="4667249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std::vector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&lt;</a:t>
            </a:r>
            <a:r>
              <a:rPr sz="717" b="0">
                <a:solidFill>
                  <a:srgbClr val="22D3EE"/>
                </a:solidFill>
                <a:latin typeface="JetBrains Mono"/>
                <a:rFonts ascii="JetBrains Mono" hAnsi="JetBrains Mono" eastAsia="JetBrains Mono" cs="JetBrains Mono"/>
              </a:rPr>
              <a:t>std::string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&gt; words = {"apple", "banana", "cherry"};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604" y="4895849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for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 (</a:t>
            </a:r>
            <a:r>
              <a:rPr sz="717" b="0">
                <a:solidFill>
                  <a:srgbClr val="22D3EE"/>
                </a:solidFill>
                <a:latin typeface="JetBrains Mono"/>
                <a:rFonts ascii="JetBrains Mono" hAnsi="JetBrains Mono" eastAsia="JetBrains Mono" cs="JetBrains Mono"/>
              </a:rPr>
              <a:t>auto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 [i, word] : words | </a:t>
            </a: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std::views::enumerate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) {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604" y="5124449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std::cout</a:t>
            </a: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 &lt;&lt; i &lt;&lt; </a:t>
            </a:r>
            <a:r>
              <a:rPr sz="717" b="0">
                <a:solidFill>
                  <a:srgbClr val="4ADE80"/>
                </a:solidFill>
                <a:latin typeface="JetBrains Mono"/>
                <a:rFonts ascii="JetBrains Mono" hAnsi="JetBrains Mono" eastAsia="JetBrains Mono" cs="JetBrains Mono"/>
              </a:rPr>
              <a:t>": "</a:t>
            </a: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 &lt;&lt; word &lt;&lt; </a:t>
            </a:r>
            <a:r>
              <a:rPr sz="717" b="0">
                <a:solidFill>
                  <a:srgbClr val="4ADE80"/>
                </a:solidFill>
                <a:latin typeface="JetBrains Mono"/>
                <a:rFonts ascii="JetBrains Mono" hAnsi="JetBrains Mono" eastAsia="JetBrains Mono" cs="JetBrains Mono"/>
              </a:rPr>
              <a:t>"\\n"</a:t>
            </a: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;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604" y="5353049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}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09604" y="5611761"/>
            <a:ext cx="171445" cy="14932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57248" y="5581649"/>
            <a:ext cx="222879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94A3B8"/>
                </a:solidFill>
                <a:latin typeface="Inter"/>
                <a:rFonts ascii="Inter" hAnsi="Inter" eastAsia="Inter" cs="Inter"/>
              </a:rPr>
              <a:t>Pairs each element with its index position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24441" y="1038224"/>
            <a:ext cx="5257668" cy="5334000"/>
          </a:xfrm>
          <a:prstGeom prst="roundRect">
            <a:avLst>
              <a:gd name="adj" fmla="val 4347"/>
            </a:avLst>
          </a:prstGeom>
          <a:gradFill rotWithShape="1">
            <a:gsLst>
              <a:gs pos="0">
                <a:srgbClr val="581C87">
                  <a:alpha val="30000"/>
                </a:srgbClr>
              </a:gs>
              <a:gs pos="100000">
                <a:srgbClr val="831843">
                  <a:alpha val="30000"/>
                </a:srgbClr>
              </a:gs>
            </a:gsLst>
            <a:lin scaled="0" ang="8100000"/>
          </a:gradFill>
          <a:ln w="825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524461" y="1258542"/>
            <a:ext cx="266693" cy="22611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867353" y="1238249"/>
            <a:ext cx="199067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C084FC"/>
                </a:solidFill>
                <a:latin typeface="Inter"/>
                <a:rFonts ascii="Inter" hAnsi="Inter" eastAsia="Inter" cs="Inter"/>
              </a:rPr>
              <a:t>cartesian_product_view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4461" y="1657350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std::vector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&lt;</a:t>
            </a:r>
            <a:r>
              <a:rPr sz="717" b="0">
                <a:solidFill>
                  <a:srgbClr val="22D3EE"/>
                </a:solidFill>
                <a:latin typeface="JetBrains Mono"/>
                <a:rFonts ascii="JetBrains Mono" hAnsi="JetBrains Mono" eastAsia="JetBrains Mono" cs="JetBrains Mono"/>
              </a:rPr>
              <a:t>int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&gt; colors = {1, 2, 3};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4461" y="1924049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780"/>
              </a:spcBef>
              <a:spcAft>
                <a:spcPts val="0"/>
              </a:spcAft>
            </a:pP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std::vector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&lt;</a:t>
            </a:r>
            <a:r>
              <a:rPr sz="717" b="0">
                <a:solidFill>
                  <a:srgbClr val="22D3EE"/>
                </a:solidFill>
                <a:latin typeface="JetBrains Mono"/>
                <a:rFonts ascii="JetBrains Mono" hAnsi="JetBrains Mono" eastAsia="JetBrains Mono" cs="JetBrains Mono"/>
              </a:rPr>
              <a:t>int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&gt; shapes = {10, 20};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4461" y="2190749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780"/>
              </a:spcBef>
              <a:spcAft>
                <a:spcPts val="0"/>
              </a:spcAft>
            </a:pP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auto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 product = </a:t>
            </a: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std::views::cartesian_product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(colors, shapes);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4461" y="2457450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780"/>
              </a:spcBef>
              <a:spcAft>
                <a:spcPts val="0"/>
              </a:spcAft>
            </a:pP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for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 (</a:t>
            </a:r>
            <a:r>
              <a:rPr sz="717" b="0">
                <a:solidFill>
                  <a:srgbClr val="22D3EE"/>
                </a:solidFill>
                <a:latin typeface="JetBrains Mono"/>
                <a:rFonts ascii="JetBrains Mono" hAnsi="JetBrains Mono" eastAsia="JetBrains Mono" cs="JetBrains Mono"/>
              </a:rPr>
              <a:t>auto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 [color, shape] : product) {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4461" y="2724150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780"/>
              </a:spcBef>
              <a:spcAft>
                <a:spcPts val="0"/>
              </a:spcAft>
            </a:pP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std::cout</a:t>
            </a: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 &lt;&lt; color &lt;&lt; </a:t>
            </a:r>
            <a:r>
              <a:rPr sz="717" b="0">
                <a:solidFill>
                  <a:srgbClr val="4ADE80"/>
                </a:solidFill>
                <a:latin typeface="JetBrains Mono"/>
                <a:rFonts ascii="JetBrains Mono" hAnsi="JetBrains Mono" eastAsia="JetBrains Mono" cs="JetBrains Mono"/>
              </a:rPr>
              <a:t>"-"</a:t>
            </a: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 &lt;&lt; shape &lt;&lt; </a:t>
            </a:r>
            <a:r>
              <a:rPr sz="717" b="0">
                <a:solidFill>
                  <a:srgbClr val="4ADE80"/>
                </a:solidFill>
                <a:latin typeface="JetBrains Mono"/>
                <a:rFonts ascii="JetBrains Mono" hAnsi="JetBrains Mono" eastAsia="JetBrains Mono" cs="JetBrains Mono"/>
              </a:rPr>
              <a:t>" "</a:t>
            </a: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;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4461" y="2990849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780"/>
              </a:spcBef>
              <a:spcAft>
                <a:spcPts val="0"/>
              </a:spcAft>
            </a:pP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}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24461" y="3295650"/>
            <a:ext cx="4857628" cy="685800"/>
          </a:xfrm>
          <a:prstGeom prst="roundRect">
            <a:avLst>
              <a:gd name="adj" fmla="val 22222"/>
            </a:avLst>
          </a:prstGeom>
          <a:solidFill>
            <a:srgbClr val="581C87">
              <a:alpha val="20000"/>
            </a:srgbClr>
          </a:solidFill>
          <a:ln w="825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648283" y="3458135"/>
            <a:ext cx="190495" cy="151279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914977" y="3419474"/>
            <a:ext cx="44766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CBD5E1"/>
                </a:solidFill>
                <a:latin typeface="Inter"/>
                <a:rFonts ascii="Inter" hAnsi="Inter" eastAsia="Inter" cs="Inter"/>
              </a:rPr>
              <a:t>Output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14977" y="3705224"/>
            <a:ext cx="434329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1-10 1-20 2-10 2-20 3-10 3-20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24461" y="4133849"/>
            <a:ext cx="4857628" cy="1409699"/>
          </a:xfrm>
          <a:prstGeom prst="roundRect">
            <a:avLst>
              <a:gd name="adj" fmla="val 10810"/>
            </a:avLst>
          </a:prstGeom>
          <a:solidFill>
            <a:srgbClr val="581C87">
              <a:alpha val="20000"/>
            </a:srgbClr>
          </a:solidFill>
          <a:ln w="825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648283" y="4290732"/>
            <a:ext cx="190495" cy="162485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914977" y="4257675"/>
            <a:ext cx="80960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CBD5E1"/>
                </a:solidFill>
                <a:latin typeface="Inter"/>
                <a:rFonts ascii="Inter" hAnsi="Inter" eastAsia="Inter" cs="Inter"/>
              </a:rPr>
              <a:t>Key Benefits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14977" y="4543425"/>
            <a:ext cx="434329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Inter"/>
                <a:rFonts ascii="Inter" hAnsi="Inter" eastAsia="Inter" cs="Inter"/>
              </a:rPr>
              <a:t>• Simplifies view-to-container conversion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14977" y="4772025"/>
            <a:ext cx="434329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Inter"/>
                <a:rFonts ascii="Inter" hAnsi="Inter" eastAsia="Inter" cs="Inter"/>
              </a:rPr>
              <a:t>• Enables index-based iteration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14977" y="5000625"/>
            <a:ext cx="434329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Inter"/>
                <a:rFonts ascii="Inter" hAnsi="Inter" eastAsia="Inter" cs="Inter"/>
              </a:rPr>
              <a:t>• Combines ranges combinatorially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14977" y="5229225"/>
            <a:ext cx="434329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26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Inter"/>
                <a:rFonts ascii="Inter" hAnsi="Inter" eastAsia="Inter" cs="Inter"/>
              </a:rPr>
              <a:t>• More expressive and concise code</a:t>
            </a:r>
          </a:p>
        </p:txBody>
      </p:sp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524461" y="5690726"/>
            <a:ext cx="171445" cy="143796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772105" y="5657850"/>
            <a:ext cx="262883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94A3B8"/>
                </a:solidFill>
                <a:latin typeface="Inter"/>
                <a:rFonts ascii="Inter" hAnsi="Inter" eastAsia="Inter" cs="Inter"/>
              </a:rPr>
              <a:t>Check your compiler support for C++23 features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247814"/>
            <a:ext cx="342891" cy="30447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6773" y="114300"/>
            <a:ext cx="3181270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Custom Adaptors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1038224"/>
            <a:ext cx="5257668" cy="28575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164E63">
                  <a:alpha val="30000"/>
                </a:srgbClr>
              </a:gs>
              <a:gs pos="100000">
                <a:srgbClr val="1E3A8A">
                  <a:alpha val="30000"/>
                </a:srgbClr>
              </a:gs>
            </a:gsLst>
            <a:lin scaled="0" ang="8100000"/>
          </a:gradFill>
          <a:ln w="825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09604" y="1244047"/>
            <a:ext cx="266693" cy="2551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52496" y="1238249"/>
            <a:ext cx="222879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22D3EE"/>
                </a:solidFill>
                <a:latin typeface="Inter"/>
                <a:rFonts ascii="Inter" hAnsi="Inter" eastAsia="Inter" cs="Inter"/>
              </a:rPr>
              <a:t>Creating Custom Adaptors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604" y="1657350"/>
            <a:ext cx="209544" cy="304800"/>
          </a:xfrm>
          <a:prstGeom prst="roundRect">
            <a:avLst>
              <a:gd name="adj" fmla="val 36363"/>
            </a:avLst>
          </a:prstGeom>
          <a:solidFill>
            <a:srgbClr val="06B6D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5802" y="1733550"/>
            <a:ext cx="57148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22D3EE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347" y="1619250"/>
            <a:ext cx="279075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Inter"/>
                <a:rFonts ascii="Inter" hAnsi="Inter" eastAsia="Inter" cs="Inter"/>
              </a:rPr>
              <a:t>Define a callable object (lambda or function)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604" y="2076449"/>
            <a:ext cx="238119" cy="304800"/>
          </a:xfrm>
          <a:prstGeom prst="roundRect">
            <a:avLst>
              <a:gd name="adj" fmla="val 32000"/>
            </a:avLst>
          </a:prstGeom>
          <a:solidFill>
            <a:srgbClr val="06B6D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5802" y="2152650"/>
            <a:ext cx="85722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22D3EE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3921" y="2038349"/>
            <a:ext cx="234309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Inter"/>
                <a:rFonts ascii="Inter" hAnsi="Inter" eastAsia="Inter" cs="Inter"/>
              </a:rPr>
              <a:t>Use existing views as building blocks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604" y="2495550"/>
            <a:ext cx="238119" cy="304800"/>
          </a:xfrm>
          <a:prstGeom prst="roundRect">
            <a:avLst>
              <a:gd name="adj" fmla="val 32000"/>
            </a:avLst>
          </a:prstGeom>
          <a:solidFill>
            <a:srgbClr val="06B6D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5802" y="2571750"/>
            <a:ext cx="85722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22D3EE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3921" y="2457450"/>
            <a:ext cx="274313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Inter"/>
                <a:rFonts ascii="Inter" hAnsi="Inter" eastAsia="Inter" cs="Inter"/>
              </a:rPr>
              <a:t>Return a composed view with pipe operator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604" y="2914650"/>
            <a:ext cx="238119" cy="304800"/>
          </a:xfrm>
          <a:prstGeom prst="roundRect">
            <a:avLst>
              <a:gd name="adj" fmla="val 32000"/>
            </a:avLst>
          </a:prstGeom>
          <a:solidFill>
            <a:srgbClr val="06B6D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5802" y="2990849"/>
            <a:ext cx="85722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22D3EE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3921" y="2876549"/>
            <a:ext cx="216212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Inter"/>
                <a:rFonts ascii="Inter" hAnsi="Inter" eastAsia="Inter" cs="Inter"/>
              </a:rPr>
              <a:t>Use with any range | your_adaptor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9584" y="4086225"/>
            <a:ext cx="5257668" cy="2286000"/>
          </a:xfrm>
          <a:prstGeom prst="roundRect">
            <a:avLst>
              <a:gd name="adj" fmla="val 10000"/>
            </a:avLst>
          </a:prstGeom>
          <a:solidFill>
            <a:srgbClr val="1E293B">
              <a:alpha val="3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09604" y="4296396"/>
            <a:ext cx="266693" cy="24640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152496" y="4286250"/>
            <a:ext cx="2085922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4ADE80"/>
                </a:solidFill>
                <a:latin typeface="Inter"/>
                <a:rFonts ascii="Inter" hAnsi="Inter" eastAsia="Inter" cs="Inter"/>
              </a:rPr>
              <a:t>When to Create Custom?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09604" y="4697361"/>
            <a:ext cx="171445" cy="149327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57248" y="4667249"/>
            <a:ext cx="197162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Inter"/>
                <a:rFonts ascii="Inter" hAnsi="Inter" eastAsia="Inter" cs="Inter"/>
              </a:rPr>
              <a:t>Standard library doesn't have it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09604" y="4964061"/>
            <a:ext cx="171445" cy="14932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57248" y="4933950"/>
            <a:ext cx="147633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Inter"/>
                <a:rFonts ascii="Inter" hAnsi="Inter" eastAsia="Inter" cs="Inter"/>
              </a:rPr>
              <a:t>Frequently reused logic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09604" y="5230761"/>
            <a:ext cx="171445" cy="14932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57248" y="5200650"/>
            <a:ext cx="24383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Inter"/>
                <a:rFonts ascii="Inter" hAnsi="Inter" eastAsia="Inter" cs="Inter"/>
              </a:rPr>
              <a:t>Encapsulates complex transformations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09604" y="5497461"/>
            <a:ext cx="171445" cy="14932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057248" y="5467349"/>
            <a:ext cx="262883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94A3B8"/>
                </a:solidFill>
                <a:latin typeface="Inter"/>
                <a:rFonts ascii="Inter" hAnsi="Inter" eastAsia="Inter" cs="Inter"/>
              </a:rPr>
              <a:t>Otherwise, prefer composition of standard views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24441" y="1038224"/>
            <a:ext cx="5257668" cy="5334000"/>
          </a:xfrm>
          <a:prstGeom prst="roundRect">
            <a:avLst>
              <a:gd name="adj" fmla="val 4347"/>
            </a:avLst>
          </a:prstGeom>
          <a:gradFill rotWithShape="1">
            <a:gsLst>
              <a:gs pos="0">
                <a:srgbClr val="581C87">
                  <a:alpha val="30000"/>
                </a:srgbClr>
              </a:gs>
              <a:gs pos="100000">
                <a:srgbClr val="831843">
                  <a:alpha val="30000"/>
                </a:srgbClr>
              </a:gs>
            </a:gsLst>
            <a:lin scaled="0" ang="8100000"/>
          </a:gradFill>
          <a:ln w="825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524461" y="1299127"/>
            <a:ext cx="266693" cy="14494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867353" y="1238249"/>
            <a:ext cx="1828754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C084FC"/>
                </a:solidFill>
                <a:latin typeface="Inter"/>
                <a:rFonts ascii="Inter" hAnsi="Inter" eastAsia="Inter" cs="Inter"/>
              </a:rPr>
              <a:t>Example: CSV Splitter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4461" y="1657350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auto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 split_csv = [](</a:t>
            </a:r>
            <a:r>
              <a:rPr sz="717" b="0">
                <a:solidFill>
                  <a:srgbClr val="22D3EE"/>
                </a:solidFill>
                <a:latin typeface="JetBrains Mono"/>
                <a:rFonts ascii="JetBrains Mono" hAnsi="JetBrains Mono" eastAsia="JetBrains Mono" cs="JetBrains Mono"/>
              </a:rPr>
              <a:t>std::string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 csv) {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4461" y="1924049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780"/>
              </a:spcBef>
              <a:spcAft>
                <a:spcPts val="0"/>
              </a:spcAft>
            </a:pP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return</a:t>
            </a: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 csv | </a:t>
            </a: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std::views::split</a:t>
            </a: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(</a:t>
            </a:r>
            <a:r>
              <a:rPr sz="717" b="0">
                <a:solidFill>
                  <a:srgbClr val="4ADE80"/>
                </a:solidFill>
                <a:latin typeface="JetBrains Mono"/>
                <a:rFonts ascii="JetBrains Mono" hAnsi="JetBrains Mono" eastAsia="JetBrains Mono" cs="JetBrains Mono"/>
              </a:rPr>
              <a:t>","</a:t>
            </a: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);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4461" y="2190749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780"/>
              </a:spcBef>
              <a:spcAft>
                <a:spcPts val="0"/>
              </a:spcAft>
            </a:pP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};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24461" y="2457450"/>
            <a:ext cx="4857628" cy="9525"/>
          </a:xfrm>
          <a:prstGeom prst="rect">
            <a:avLst/>
          </a:prstGeom>
          <a:solidFill>
            <a:srgbClr val="A855F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24461" y="2581275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780"/>
              </a:spcBef>
              <a:spcAft>
                <a:spcPts val="0"/>
              </a:spcAft>
            </a:pP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auto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 extract_numbers = [](</a:t>
            </a:r>
            <a:r>
              <a:rPr sz="717" b="0">
                <a:solidFill>
                  <a:srgbClr val="22D3EE"/>
                </a:solidFill>
                <a:latin typeface="JetBrains Mono"/>
                <a:rFonts ascii="JetBrains Mono" hAnsi="JetBrains Mono" eastAsia="JetBrains Mono" cs="JetBrains Mono"/>
              </a:rPr>
              <a:t>auto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 range) {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4461" y="2847974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780"/>
              </a:spcBef>
              <a:spcAft>
                <a:spcPts val="0"/>
              </a:spcAft>
            </a:pP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return</a:t>
            </a: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 range | </a:t>
            </a: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std::views::transform</a:t>
            </a: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([](</a:t>
            </a:r>
            <a:r>
              <a:rPr sz="717" b="0">
                <a:solidFill>
                  <a:srgbClr val="22D3EE"/>
                </a:solidFill>
                <a:latin typeface="JetBrains Mono"/>
                <a:rFonts ascii="JetBrains Mono" hAnsi="JetBrains Mono" eastAsia="JetBrains Mono" cs="JetBrains Mono"/>
              </a:rPr>
              <a:t>auto</a:t>
            </a: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 chunk) {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24461" y="3114675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780"/>
              </a:spcBef>
              <a:spcAft>
                <a:spcPts val="0"/>
              </a:spcAft>
            </a:pPr>
            <a:r>
              <a:rPr sz="717" b="0">
                <a:solidFill>
                  <a:srgbClr val="22D3EE"/>
                </a:solidFill>
                <a:latin typeface="JetBrains Mono"/>
                <a:rFonts ascii="JetBrains Mono" hAnsi="JetBrains Mono" eastAsia="JetBrains Mono" cs="JetBrains Mono"/>
              </a:rPr>
              <a:t>std::string</a:t>
            </a: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 s(chunk.</a:t>
            </a:r>
            <a:r>
              <a:rPr sz="717" b="0">
                <a:solidFill>
                  <a:srgbClr val="60A5FA"/>
                </a:solidFill>
                <a:latin typeface="JetBrains Mono"/>
                <a:rFonts ascii="JetBrains Mono" hAnsi="JetBrains Mono" eastAsia="JetBrains Mono" cs="JetBrains Mono"/>
              </a:rPr>
              <a:t>begin</a:t>
            </a: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(), chunk.</a:t>
            </a:r>
            <a:r>
              <a:rPr sz="717" b="0">
                <a:solidFill>
                  <a:srgbClr val="60A5FA"/>
                </a:solidFill>
                <a:latin typeface="JetBrains Mono"/>
                <a:rFonts ascii="JetBrains Mono" hAnsi="JetBrains Mono" eastAsia="JetBrains Mono" cs="JetBrains Mono"/>
              </a:rPr>
              <a:t>end</a:t>
            </a: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());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4461" y="3381375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780"/>
              </a:spcBef>
              <a:spcAft>
                <a:spcPts val="0"/>
              </a:spcAft>
            </a:pP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return</a:t>
            </a: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 </a:t>
            </a: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std::stoi</a:t>
            </a: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(s);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24461" y="3648074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780"/>
              </a:spcBef>
              <a:spcAft>
                <a:spcPts val="0"/>
              </a:spcAft>
            </a:pP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});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4461" y="3914775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780"/>
              </a:spcBef>
              <a:spcAft>
                <a:spcPts val="0"/>
              </a:spcAft>
            </a:pP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};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24461" y="4181474"/>
            <a:ext cx="4857628" cy="9525"/>
          </a:xfrm>
          <a:prstGeom prst="rect">
            <a:avLst/>
          </a:prstGeom>
          <a:solidFill>
            <a:srgbClr val="A855F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24461" y="4305300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780"/>
              </a:spcBef>
              <a:spcAft>
                <a:spcPts val="0"/>
              </a:spcAft>
            </a:pP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auto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 numbers = </a:t>
            </a:r>
            <a:r>
              <a:rPr sz="717" b="0">
                <a:solidFill>
                  <a:srgbClr val="4ADE80"/>
                </a:solidFill>
                <a:latin typeface="JetBrains Mono"/>
                <a:rFonts ascii="JetBrains Mono" hAnsi="JetBrains Mono" eastAsia="JetBrains Mono" cs="JetBrains Mono"/>
              </a:rPr>
              <a:t>"1,2,3,4,5"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 | split_csv | extract_numbers;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524461" y="4610099"/>
            <a:ext cx="4857628" cy="1219200"/>
          </a:xfrm>
          <a:prstGeom prst="roundRect">
            <a:avLst>
              <a:gd name="adj" fmla="val 12500"/>
            </a:avLst>
          </a:prstGeom>
          <a:solidFill>
            <a:srgbClr val="581C87">
              <a:alpha val="20000"/>
            </a:srgbClr>
          </a:solidFill>
          <a:ln w="825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648283" y="4772585"/>
            <a:ext cx="190495" cy="151279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914977" y="4733925"/>
            <a:ext cx="40956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CBD5E1"/>
                </a:solidFill>
                <a:latin typeface="Inter"/>
                <a:rFonts ascii="Inter" hAnsi="Inter" eastAsia="Inter" cs="Inter"/>
              </a:rPr>
              <a:t>Usage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14977" y="5019675"/>
            <a:ext cx="434329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for (int n : numbers) {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14977" y="5172075"/>
            <a:ext cx="434329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std::cout &lt;&lt; n &lt;&lt; " ";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14977" y="5324474"/>
            <a:ext cx="4343291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}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48283" y="5553074"/>
            <a:ext cx="460998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94A3B8"/>
                </a:solidFill>
                <a:latin typeface="Inter"/>
                <a:rFonts ascii="Inter" hAnsi="Inter" eastAsia="Inter" cs="Inter"/>
              </a:rPr>
              <a:t>Output: 1 2 3 4 5</a:t>
            </a:r>
          </a:p>
        </p:txBody>
      </p:sp>
      <p:pic>
        <p:nvPicPr>
          <p:cNvPr id="52" name="Picture 51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524461" y="5973711"/>
            <a:ext cx="171445" cy="149327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6772105" y="5943600"/>
            <a:ext cx="3705132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94A3B8"/>
                </a:solidFill>
                <a:latin typeface="Inter"/>
                <a:rFonts ascii="Inter" hAnsi="Inter" eastAsia="Inter" cs="Inter"/>
              </a:rPr>
              <a:t>Custom adaptors make complex pipelines reusable and maintainable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261116"/>
            <a:ext cx="342891" cy="27786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6773" y="114300"/>
            <a:ext cx="2962200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Common Pitfalls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1038224"/>
            <a:ext cx="5257668" cy="28575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7F1D1D">
                  <a:alpha val="30000"/>
                </a:srgbClr>
              </a:gs>
              <a:gs pos="100000">
                <a:srgbClr val="7C2D12">
                  <a:alpha val="30000"/>
                </a:srgbClr>
              </a:gs>
            </a:gsLst>
            <a:lin scaled="0" ang="8100000"/>
          </a:gradFill>
          <a:ln w="8255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09604" y="1267239"/>
            <a:ext cx="266693" cy="2087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52496" y="1238249"/>
            <a:ext cx="160015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87171"/>
                </a:solidFill>
                <a:latin typeface="Inter"/>
                <a:rFonts ascii="Inter" hAnsi="Inter" eastAsia="Inter" cs="Inter"/>
              </a:rPr>
              <a:t>Temporary Objects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04" y="1619250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94A3B8"/>
                </a:solidFill>
                <a:latin typeface="JetBrains Mono"/>
                <a:rFonts ascii="JetBrains Mono" hAnsi="JetBrains Mono" eastAsia="JetBrains Mono" cs="JetBrains Mono"/>
              </a:rPr>
              <a:t>// ❌ DANGER: Returns dangling reference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04" y="1847849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auto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 get_squares() {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04" y="2076449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std::vector</a:t>
            </a: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&lt;</a:t>
            </a:r>
            <a:r>
              <a:rPr sz="717" b="0">
                <a:solidFill>
                  <a:srgbClr val="22D3EE"/>
                </a:solidFill>
                <a:latin typeface="JetBrains Mono"/>
                <a:rFonts ascii="JetBrains Mono" hAnsi="JetBrains Mono" eastAsia="JetBrains Mono" cs="JetBrains Mono"/>
              </a:rPr>
              <a:t>int</a:t>
            </a: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&gt; data = {1, 2, 3, 4, 5};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04" y="2305049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return</a:t>
            </a: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 data | </a:t>
            </a: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std::views::transform</a:t>
            </a: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([](</a:t>
            </a:r>
            <a:r>
              <a:rPr sz="717" b="0">
                <a:solidFill>
                  <a:srgbClr val="22D3EE"/>
                </a:solidFill>
                <a:latin typeface="JetBrains Mono"/>
                <a:rFonts ascii="JetBrains Mono" hAnsi="JetBrains Mono" eastAsia="JetBrains Mono" cs="JetBrains Mono"/>
              </a:rPr>
              <a:t>int</a:t>
            </a: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 n) { </a:t>
            </a: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return</a:t>
            </a: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 n * n; });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04" y="2533649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604" y="2762249"/>
            <a:ext cx="4857628" cy="9525"/>
          </a:xfrm>
          <a:prstGeom prst="rect">
            <a:avLst/>
          </a:prstGeom>
          <a:solidFill>
            <a:srgbClr val="EF4444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604" y="2847974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94A3B8"/>
                </a:solidFill>
                <a:latin typeface="JetBrains Mono"/>
                <a:rFonts ascii="JetBrains Mono" hAnsi="JetBrains Mono" eastAsia="JetBrains Mono" cs="JetBrains Mono"/>
              </a:rPr>
              <a:t>// ✅ SAFE: Return actual container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04" y="3076574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auto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 get_squares_safe() {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604" y="3305174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std::vector</a:t>
            </a: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&lt;</a:t>
            </a:r>
            <a:r>
              <a:rPr sz="717" b="0">
                <a:solidFill>
                  <a:srgbClr val="22D3EE"/>
                </a:solidFill>
                <a:latin typeface="JetBrains Mono"/>
                <a:rFonts ascii="JetBrains Mono" hAnsi="JetBrains Mono" eastAsia="JetBrains Mono" cs="JetBrains Mono"/>
              </a:rPr>
              <a:t>int</a:t>
            </a: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&gt; data = {1, 2, 3, 4, 5};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604" y="3533774"/>
            <a:ext cx="4857628" cy="3048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auto</a:t>
            </a: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 squares = data | </a:t>
            </a: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std::views::transform</a:t>
            </a: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([](</a:t>
            </a:r>
            <a:r>
              <a:rPr sz="717" b="0">
                <a:solidFill>
                  <a:srgbClr val="22D3EE"/>
                </a:solidFill>
                <a:latin typeface="JetBrains Mono"/>
                <a:rFonts ascii="JetBrains Mono" hAnsi="JetBrains Mono" eastAsia="JetBrains Mono" cs="JetBrains Mono"/>
              </a:rPr>
              <a:t>int</a:t>
            </a: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 n) { </a:t>
            </a: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return</a:t>
            </a: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 n * n; });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604" y="3914775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return</a:t>
            </a: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 </a:t>
            </a: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std::vector</a:t>
            </a: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(squares.</a:t>
            </a:r>
            <a:r>
              <a:rPr sz="717" b="0">
                <a:solidFill>
                  <a:srgbClr val="60A5FA"/>
                </a:solidFill>
                <a:latin typeface="JetBrains Mono"/>
                <a:rFonts ascii="JetBrains Mono" hAnsi="JetBrains Mono" eastAsia="JetBrains Mono" cs="JetBrains Mono"/>
              </a:rPr>
              <a:t>begin</a:t>
            </a: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(), squares.</a:t>
            </a:r>
            <a:r>
              <a:rPr sz="717" b="0">
                <a:solidFill>
                  <a:srgbClr val="60A5FA"/>
                </a:solidFill>
                <a:latin typeface="JetBrains Mono"/>
                <a:rFonts ascii="JetBrains Mono" hAnsi="JetBrains Mono" eastAsia="JetBrains Mono" cs="JetBrains Mono"/>
              </a:rPr>
              <a:t>end</a:t>
            </a: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());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604" y="4143375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}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9584" y="4086225"/>
            <a:ext cx="5257668" cy="2286000"/>
          </a:xfrm>
          <a:prstGeom prst="roundRect">
            <a:avLst>
              <a:gd name="adj" fmla="val 10000"/>
            </a:avLst>
          </a:prstGeom>
          <a:solidFill>
            <a:srgbClr val="1E293B">
              <a:alpha val="3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09604" y="4315239"/>
            <a:ext cx="266693" cy="20872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152496" y="4286250"/>
            <a:ext cx="1743031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ACC15"/>
                </a:solidFill>
                <a:latin typeface="Inter"/>
                <a:rFonts ascii="Inter" hAnsi="Inter" eastAsia="Inter" cs="Inter"/>
              </a:rPr>
              <a:t>Dangling References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09604" y="4716718"/>
            <a:ext cx="171445" cy="11061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57248" y="4667249"/>
            <a:ext cx="167635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Inter"/>
                <a:rFonts ascii="Inter" hAnsi="Inter" eastAsia="Inter" cs="Inter"/>
              </a:rPr>
              <a:t>Views don't own their data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09604" y="4983418"/>
            <a:ext cx="171445" cy="11061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057248" y="4933950"/>
            <a:ext cx="425756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Inter"/>
                <a:rFonts ascii="Inter" hAnsi="Inter" eastAsia="Inter" cs="Inter"/>
              </a:rPr>
              <a:t>Never return views from functions that create temporary containers</a:t>
            </a:r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09604" y="5230761"/>
            <a:ext cx="171445" cy="14932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057248" y="5200650"/>
            <a:ext cx="374323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Inter"/>
                <a:rFonts ascii="Inter" hAnsi="Inter" eastAsia="Inter" cs="Inter"/>
              </a:rPr>
              <a:t>Use ranges::to&lt;Container&gt;() to convert views to containers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09604" y="5497461"/>
            <a:ext cx="171445" cy="149327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057248" y="5467349"/>
            <a:ext cx="340033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Inter"/>
                <a:rFonts ascii="Inter" hAnsi="Inter" eastAsia="Inter" cs="Inter"/>
              </a:rPr>
              <a:t>Keep underlying data alive as long as the view is used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24441" y="1038224"/>
            <a:ext cx="5257668" cy="28575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7C2D12">
                  <a:alpha val="30000"/>
                </a:srgbClr>
              </a:gs>
              <a:gs pos="100000">
                <a:srgbClr val="713F12">
                  <a:alpha val="30000"/>
                </a:srgbClr>
              </a:gs>
            </a:gsLst>
            <a:lin scaled="0" ang="8100000"/>
          </a:gradFill>
          <a:ln w="8255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524461" y="1328116"/>
            <a:ext cx="266693" cy="86967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867353" y="1238249"/>
            <a:ext cx="1495387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B923C"/>
                </a:solidFill>
                <a:latin typeface="Inter"/>
                <a:rFonts ascii="Inter" hAnsi="Inter" eastAsia="Inter" cs="Inter"/>
              </a:rPr>
              <a:t>Namespace Quirk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4461" y="1619250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94A3B8"/>
                </a:solidFill>
                <a:latin typeface="JetBrains Mono"/>
                <a:rFonts ascii="JetBrains Mono" hAnsi="JetBrains Mono" eastAsia="JetBrains Mono" cs="JetBrains Mono"/>
              </a:rPr>
              <a:t>// ❌ Works but not portable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4461" y="1847849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using namespace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 std::views;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4461" y="2076449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auto</a:t>
            </a:r>
            <a:r>
              <a:rPr sz="717" b="0">
                <a:solidFill>
                  <a:srgbClr val="E2E8F0"/>
                </a:solidFill>
                <a:latin typeface="JetBrains Mono"/>
                <a:rFonts ascii="JetBrains Mono" hAnsi="JetBrains Mono" eastAsia="JetBrains Mono" cs="JetBrains Mono"/>
              </a:rPr>
              <a:t> v = vec | filter(pred);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24461" y="2305049"/>
            <a:ext cx="4857628" cy="9525"/>
          </a:xfrm>
          <a:prstGeom prst="rect">
            <a:avLst/>
          </a:prstGeom>
          <a:solidFill>
            <a:srgbClr val="F9731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24461" y="2390774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94A3B8"/>
                </a:solidFill>
                <a:latin typeface="JetBrains Mono"/>
                <a:rFonts ascii="JetBrains Mono" hAnsi="JetBrains Mono" eastAsia="JetBrains Mono" cs="JetBrains Mono"/>
              </a:rPr>
              <a:t>// ✅ Always use full path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4461" y="2619374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namespace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 rv = </a:t>
            </a: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std::ranges::views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;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24461" y="2847974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auto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 v = vec | rv::filter(pred);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524461" y="3076574"/>
            <a:ext cx="4857628" cy="9525"/>
          </a:xfrm>
          <a:prstGeom prst="rect">
            <a:avLst/>
          </a:prstGeom>
          <a:solidFill>
            <a:srgbClr val="F97316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24461" y="3162299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94A3B8"/>
                </a:solidFill>
                <a:latin typeface="JetBrains Mono"/>
                <a:rFonts ascii="JetBrains Mono" hAnsi="JetBrains Mono" eastAsia="JetBrains Mono" cs="JetBrains Mono"/>
              </a:rPr>
              <a:t>// ✅ Or use alias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4461" y="3390899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using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 std::views::filter;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24461" y="3619499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using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 std::views::transform;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24461" y="3848099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auto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 v = vec | filter(pred) | transform(fn);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24441" y="4086225"/>
            <a:ext cx="5257668" cy="22860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581C87">
                  <a:alpha val="30000"/>
                </a:srgbClr>
              </a:gs>
              <a:gs pos="100000">
                <a:srgbClr val="831843">
                  <a:alpha val="30000"/>
                </a:srgbClr>
              </a:gs>
            </a:gsLst>
            <a:lin scaled="0" ang="8100000"/>
          </a:gradFill>
          <a:ln w="825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524461" y="4300744"/>
            <a:ext cx="266693" cy="23771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867353" y="4286250"/>
            <a:ext cx="120011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C084FC"/>
                </a:solidFill>
                <a:latin typeface="Inter"/>
                <a:rFonts ascii="Inter" hAnsi="Inter" eastAsia="Inter" cs="Inter"/>
              </a:rPr>
              <a:t>Best Practices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524461" y="4686300"/>
            <a:ext cx="209544" cy="266699"/>
          </a:xfrm>
          <a:prstGeom prst="roundRect">
            <a:avLst>
              <a:gd name="adj" fmla="val 36363"/>
            </a:avLst>
          </a:prstGeom>
          <a:solidFill>
            <a:srgbClr val="A855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00659" y="4743450"/>
            <a:ext cx="57148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C084FC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10204" y="4667249"/>
            <a:ext cx="388610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Inter"/>
                <a:rFonts ascii="Inter" hAnsi="Inter" eastAsia="Inter" cs="Inter"/>
              </a:rPr>
              <a:t>Prefer std::ranges::views::meow over std::ranges::meow_view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24461" y="5048250"/>
            <a:ext cx="238119" cy="266699"/>
          </a:xfrm>
          <a:prstGeom prst="roundRect">
            <a:avLst>
              <a:gd name="adj" fmla="val 32000"/>
            </a:avLst>
          </a:prstGeom>
          <a:solidFill>
            <a:srgbClr val="A855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00659" y="5105400"/>
            <a:ext cx="85722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C084FC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38779" y="5029200"/>
            <a:ext cx="241928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Inter"/>
                <a:rFonts ascii="Inter" hAnsi="Inter" eastAsia="Inter" cs="Inter"/>
              </a:rPr>
              <a:t>Be careful with temporaries in pipeline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524461" y="5410199"/>
            <a:ext cx="238119" cy="266699"/>
          </a:xfrm>
          <a:prstGeom prst="roundRect">
            <a:avLst>
              <a:gd name="adj" fmla="val 32000"/>
            </a:avLst>
          </a:prstGeom>
          <a:solidFill>
            <a:srgbClr val="A855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600659" y="5467349"/>
            <a:ext cx="85722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C084FC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38779" y="5391150"/>
            <a:ext cx="297172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Inter"/>
                <a:rFonts ascii="Inter" hAnsi="Inter" eastAsia="Inter" cs="Inter"/>
              </a:rPr>
              <a:t>Use ranges::to&lt;Container&gt;() for materialization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524461" y="5772150"/>
            <a:ext cx="238119" cy="266699"/>
          </a:xfrm>
          <a:prstGeom prst="roundRect">
            <a:avLst>
              <a:gd name="adj" fmla="val 32000"/>
            </a:avLst>
          </a:prstGeom>
          <a:solidFill>
            <a:srgbClr val="A855F7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00659" y="5829300"/>
            <a:ext cx="85722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C084FC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38779" y="5753099"/>
            <a:ext cx="275265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Inter"/>
                <a:rFonts ascii="Inter" hAnsi="Inter" eastAsia="Inter" cs="Inter"/>
              </a:rPr>
              <a:t>Check compiler support for C++23 features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246336"/>
            <a:ext cx="342891" cy="30742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6773" y="114300"/>
            <a:ext cx="2609784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Best Practices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1038224"/>
            <a:ext cx="5257668" cy="2857500"/>
          </a:xfrm>
          <a:prstGeom prst="roundRect">
            <a:avLst>
              <a:gd name="adj" fmla="val 8000"/>
            </a:avLst>
          </a:prstGeom>
          <a:gradFill rotWithShape="1">
            <a:gsLst>
              <a:gs pos="0">
                <a:srgbClr val="14532D">
                  <a:alpha val="30000"/>
                </a:srgbClr>
              </a:gs>
              <a:gs pos="100000">
                <a:srgbClr val="064E3B">
                  <a:alpha val="30000"/>
                </a:srgbClr>
              </a:gs>
            </a:gsLst>
            <a:lin scaled="0" ang="8100000"/>
          </a:gradFill>
          <a:ln w="8255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09604" y="1299127"/>
            <a:ext cx="266693" cy="14494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52496" y="1238249"/>
            <a:ext cx="1666833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4ADE80"/>
                </a:solidFill>
                <a:latin typeface="Inter"/>
                <a:rFonts ascii="Inter" hAnsi="Inter" eastAsia="Inter" cs="Inter"/>
              </a:rPr>
              <a:t>Prefer views::meow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04" y="1619250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94A3B8"/>
                </a:solidFill>
                <a:latin typeface="JetBrains Mono"/>
                <a:rFonts ascii="JetBrains Mono" hAnsi="JetBrains Mono" eastAsia="JetBrains Mono" cs="JetBrains Mono"/>
              </a:rPr>
              <a:t>// ✅ RECOMMENDED: User-facing algorithm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04" y="1847849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auto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 v = numbers | </a:t>
            </a: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std::views::transform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(square);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04" y="2076449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auto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 v = numbers | </a:t>
            </a: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std::views::filter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(even);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9604" y="2305049"/>
            <a:ext cx="4857628" cy="9525"/>
          </a:xfrm>
          <a:prstGeom prst="rect">
            <a:avLst/>
          </a:prstGeom>
          <a:solidFill>
            <a:srgbClr val="22C55E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604" y="2390774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94A3B8"/>
                </a:solidFill>
                <a:latin typeface="JetBrains Mono"/>
                <a:rFonts ascii="JetBrains Mono" hAnsi="JetBrains Mono" eastAsia="JetBrains Mono" cs="JetBrains Mono"/>
              </a:rPr>
              <a:t>// ❌ AVOID: Implementation detail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04" y="2619374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auto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 v = </a:t>
            </a: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std::ranges::transform_view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(numbers, square);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04" y="2847974"/>
            <a:ext cx="485762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520"/>
              </a:spcBef>
              <a:spcAft>
                <a:spcPts val="0"/>
              </a:spcAft>
            </a:pP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auto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 v = </a:t>
            </a:r>
            <a:r>
              <a:rPr sz="717" b="0">
                <a:solidFill>
                  <a:srgbClr val="F472B6"/>
                </a:solidFill>
                <a:latin typeface="JetBrains Mono"/>
                <a:rFonts ascii="JetBrains Mono" hAnsi="JetBrains Mono" eastAsia="JetBrains Mono" cs="JetBrains Mono"/>
              </a:rPr>
              <a:t>std::ranges::filter_view</a:t>
            </a:r>
            <a:r>
              <a:rPr sz="717" b="0">
                <a:solidFill>
                  <a:srgbClr val="CBD5E1"/>
                </a:solidFill>
                <a:latin typeface="JetBrains Mono"/>
                <a:rFonts ascii="JetBrains Mono" hAnsi="JetBrains Mono" eastAsia="JetBrains Mono" cs="JetBrains Mono"/>
              </a:rPr>
              <a:t>(numbers, even);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09604" y="3101155"/>
            <a:ext cx="171445" cy="16038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57248" y="3076574"/>
            <a:ext cx="225736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0"/>
              </a:spcBef>
              <a:spcAft>
                <a:spcPts val="0"/>
              </a:spcAft>
            </a:pPr>
            <a:r>
              <a:rPr sz="717" b="0">
                <a:solidFill>
                  <a:srgbClr val="94A3B8"/>
                </a:solidFill>
                <a:latin typeface="Inter"/>
                <a:rFonts ascii="Inter" hAnsi="Inter" eastAsia="Inter" cs="Inter"/>
              </a:rPr>
              <a:t>views::meow is smarter and more generic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584" y="4086225"/>
            <a:ext cx="5257668" cy="2286000"/>
          </a:xfrm>
          <a:prstGeom prst="roundRect">
            <a:avLst>
              <a:gd name="adj" fmla="val 10000"/>
            </a:avLst>
          </a:prstGeom>
          <a:solidFill>
            <a:srgbClr val="1E293B">
              <a:alpha val="3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09604" y="4347127"/>
            <a:ext cx="266693" cy="14494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52496" y="4286250"/>
            <a:ext cx="2371665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ACC15"/>
                </a:solidFill>
                <a:latin typeface="Inter"/>
                <a:rFonts ascii="Inter" hAnsi="Inter" eastAsia="Inter" cs="Inter"/>
              </a:rPr>
              <a:t>Be Careful with Temporaries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09604" y="4716718"/>
            <a:ext cx="171445" cy="11061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057248" y="4667249"/>
            <a:ext cx="365750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Inter"/>
                <a:rFonts ascii="Inter" hAnsi="Inter" eastAsia="Inter" cs="Inter"/>
              </a:rPr>
              <a:t>Never return views from functions that create temporaries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809604" y="4983418"/>
            <a:ext cx="171445" cy="11061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57248" y="4933950"/>
            <a:ext cx="324794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Inter"/>
                <a:rFonts ascii="Inter" hAnsi="Inter" eastAsia="Inter" cs="Inter"/>
              </a:rPr>
              <a:t>Don't store views with references to destroyed data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09604" y="5230761"/>
            <a:ext cx="171445" cy="149327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57248" y="5200650"/>
            <a:ext cx="307649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Inter"/>
                <a:rFonts ascii="Inter" hAnsi="Inter" eastAsia="Inter" cs="Inter"/>
              </a:rPr>
              <a:t>Keep underlying data alive as long as view exists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809604" y="5497461"/>
            <a:ext cx="171445" cy="14932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057248" y="5467349"/>
            <a:ext cx="308602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Inter"/>
                <a:rFonts ascii="Inter" hAnsi="Inter" eastAsia="Inter" cs="Inter"/>
              </a:rPr>
              <a:t>Use ranges::to&lt;Container&gt;() to materialize views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24441" y="1038224"/>
            <a:ext cx="5257668" cy="5334000"/>
          </a:xfrm>
          <a:prstGeom prst="roundRect">
            <a:avLst>
              <a:gd name="adj" fmla="val 4347"/>
            </a:avLst>
          </a:prstGeom>
          <a:gradFill rotWithShape="1">
            <a:gsLst>
              <a:gs pos="0">
                <a:srgbClr val="164E63">
                  <a:alpha val="30000"/>
                </a:srgbClr>
              </a:gs>
              <a:gs pos="100000">
                <a:srgbClr val="1E3A8A">
                  <a:alpha val="30000"/>
                </a:srgbClr>
              </a:gs>
            </a:gsLst>
            <a:lin scaled="0" ang="8100000"/>
          </a:gradFill>
          <a:ln w="825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524461" y="1258542"/>
            <a:ext cx="266693" cy="22611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867353" y="1238249"/>
            <a:ext cx="2819329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22D3EE"/>
                </a:solidFill>
                <a:latin typeface="Inter"/>
                <a:rFonts ascii="Inter" hAnsi="Inter" eastAsia="Inter" cs="Inter"/>
              </a:rPr>
              <a:t>Effective Range Usage Guidelines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24461" y="1695449"/>
            <a:ext cx="209544" cy="304800"/>
          </a:xfrm>
          <a:prstGeom prst="roundRect">
            <a:avLst>
              <a:gd name="adj" fmla="val 36363"/>
            </a:avLst>
          </a:prstGeom>
          <a:solidFill>
            <a:srgbClr val="06B6D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00659" y="1771650"/>
            <a:ext cx="57148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22D3EE"/>
                </a:solidFill>
                <a:latin typeface="Inter"/>
                <a:rFonts ascii="Inter" hAnsi="Inter" eastAsia="Inter" cs="Inter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48303" y="1657350"/>
            <a:ext cx="3171745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CBD5E1"/>
                </a:solidFill>
                <a:latin typeface="Inter"/>
                <a:rFonts ascii="Inter" hAnsi="Inter" eastAsia="Inter" cs="Inter"/>
              </a:rPr>
              <a:t>Use ranges for readability and composability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48303" y="1885950"/>
            <a:ext cx="3171745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94A3B8"/>
                </a:solidFill>
                <a:latin typeface="Inter"/>
                <a:rFonts ascii="Inter" hAnsi="Inter" eastAsia="Inter" cs="Inter"/>
              </a:rPr>
              <a:t>Chained operations are more expressive than nested loops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24461" y="2190749"/>
            <a:ext cx="238119" cy="304800"/>
          </a:xfrm>
          <a:prstGeom prst="roundRect">
            <a:avLst>
              <a:gd name="adj" fmla="val 32000"/>
            </a:avLst>
          </a:prstGeom>
          <a:solidFill>
            <a:srgbClr val="06B6D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00659" y="2266950"/>
            <a:ext cx="85722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22D3EE"/>
                </a:solidFill>
                <a:latin typeface="Inter"/>
                <a:rFonts ascii="Inter" hAnsi="Inter" eastAsia="Inter" cs="Inter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76878" y="2152650"/>
            <a:ext cx="346701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CBD5E1"/>
                </a:solidFill>
                <a:latin typeface="Inter"/>
                <a:rFonts ascii="Inter" hAnsi="Inter" eastAsia="Inter" cs="Inter"/>
              </a:rPr>
              <a:t>Leverage lazy evaluation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76878" y="2381250"/>
            <a:ext cx="3467013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94A3B8"/>
                </a:solidFill>
                <a:latin typeface="Inter"/>
                <a:rFonts ascii="Inter" hAnsi="Inter" eastAsia="Inter" cs="Inter"/>
              </a:rPr>
              <a:t>Views are only evaluated when iterated, no intermediate storage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24461" y="2686050"/>
            <a:ext cx="238119" cy="304800"/>
          </a:xfrm>
          <a:prstGeom prst="roundRect">
            <a:avLst>
              <a:gd name="adj" fmla="val 32000"/>
            </a:avLst>
          </a:prstGeom>
          <a:solidFill>
            <a:srgbClr val="06B6D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00659" y="2762249"/>
            <a:ext cx="85722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22D3EE"/>
                </a:solidFill>
                <a:latin typeface="Inter"/>
                <a:rFonts ascii="Inter" hAnsi="Inter" eastAsia="Inter" cs="Inter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76878" y="2647949"/>
            <a:ext cx="269550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CBD5E1"/>
                </a:solidFill>
                <a:latin typeface="Inter"/>
                <a:rFonts ascii="Inter" hAnsi="Inter" eastAsia="Inter" cs="Inter"/>
              </a:rPr>
              <a:t>Prefer range algorithms over iterator pairs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76878" y="2876549"/>
            <a:ext cx="2695507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94A3B8"/>
                </a:solidFill>
                <a:latin typeface="Inter"/>
                <a:rFonts ascii="Inter" hAnsi="Inter" eastAsia="Inter" cs="Inter"/>
              </a:rPr>
              <a:t>std::ranges::sort(v) vs std::sort(v.begin(), v.end())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24461" y="3181350"/>
            <a:ext cx="238119" cy="304800"/>
          </a:xfrm>
          <a:prstGeom prst="roundRect">
            <a:avLst>
              <a:gd name="adj" fmla="val 32000"/>
            </a:avLst>
          </a:prstGeom>
          <a:solidFill>
            <a:srgbClr val="06B6D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00659" y="3257550"/>
            <a:ext cx="85722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22D3EE"/>
                </a:solidFill>
                <a:latin typeface="Inter"/>
                <a:rFonts ascii="Inter" hAnsi="Inter" eastAsia="Inter" cs="Inter"/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76878" y="3143250"/>
            <a:ext cx="2276418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CBD5E1"/>
                </a:solidFill>
                <a:latin typeface="Inter"/>
                <a:rFonts ascii="Inter" hAnsi="Inter" eastAsia="Inter" cs="Inter"/>
              </a:rPr>
              <a:t>Use projections for complex data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76878" y="3371850"/>
            <a:ext cx="2276418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94A3B8"/>
                </a:solidFill>
                <a:latin typeface="Inter"/>
                <a:rFonts ascii="Inter" hAnsi="Inter" eastAsia="Inter" cs="Inter"/>
              </a:rPr>
              <a:t>std::ranges::sort(people, {}, &amp;Person::age)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524461" y="3676649"/>
            <a:ext cx="238119" cy="304800"/>
          </a:xfrm>
          <a:prstGeom prst="roundRect">
            <a:avLst>
              <a:gd name="adj" fmla="val 32000"/>
            </a:avLst>
          </a:prstGeom>
          <a:solidFill>
            <a:srgbClr val="06B6D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00659" y="3752849"/>
            <a:ext cx="85722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22D3EE"/>
                </a:solidFill>
                <a:latin typeface="Inter"/>
                <a:rFonts ascii="Inter" hAnsi="Inter" eastAsia="Inter" cs="Inter"/>
              </a:rP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76878" y="3638550"/>
            <a:ext cx="356226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CBD5E1"/>
                </a:solidFill>
                <a:latin typeface="Inter"/>
                <a:rFonts ascii="Inter" hAnsi="Inter" eastAsia="Inter" cs="Inter"/>
              </a:rPr>
              <a:t>Check compiler support for C++23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76878" y="3867149"/>
            <a:ext cx="3562260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94A3B8"/>
                </a:solidFill>
                <a:latin typeface="Inter"/>
                <a:rFonts ascii="Inter" hAnsi="Inter" eastAsia="Inter" cs="Inter"/>
              </a:rPr>
              <a:t>ranges::to, enumerate, cartesian_product require newer compilers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524461" y="4171950"/>
            <a:ext cx="238119" cy="304800"/>
          </a:xfrm>
          <a:prstGeom prst="roundRect">
            <a:avLst>
              <a:gd name="adj" fmla="val 32000"/>
            </a:avLst>
          </a:prstGeom>
          <a:solidFill>
            <a:srgbClr val="06B6D4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600659" y="4248150"/>
            <a:ext cx="85722" cy="16192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22D3EE"/>
                </a:solidFill>
                <a:latin typeface="Inter"/>
                <a:rFonts ascii="Inter" hAnsi="Inter" eastAsia="Inter" cs="Inter"/>
              </a:rP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76878" y="4133849"/>
            <a:ext cx="302887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CBD5E1"/>
                </a:solidFill>
                <a:latin typeface="Inter"/>
                <a:rFonts ascii="Inter" hAnsi="Inter" eastAsia="Inter" cs="Inter"/>
              </a:rPr>
              <a:t>Profile for performance-critical code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76878" y="4362450"/>
            <a:ext cx="3028874" cy="1524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717" b="0">
                <a:solidFill>
                  <a:srgbClr val="94A3B8"/>
                </a:solidFill>
                <a:latin typeface="Inter"/>
                <a:rFonts ascii="Inter" hAnsi="Inter" eastAsia="Inter" cs="Inter"/>
              </a:rPr>
              <a:t>Sometimes iterator-based code can be marginally faster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1E293B"/>
            </a:gs>
            <a:gs pos="100000">
              <a:srgbClr val="0F172A"/>
            </a:gs>
          </a:gsLst>
          <a:lin scaled="0" ang="810000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609584" y="267028"/>
            <a:ext cx="342891" cy="26604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66773" y="114300"/>
            <a:ext cx="4676658" cy="5715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  <a:latin typeface="Inter"/>
                <a:rFonts ascii="Inter" hAnsi="Inter" eastAsia="Inter" cs="Inter"/>
              </a:rPr>
              <a:t>Summary and 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9584" y="1038224"/>
            <a:ext cx="5257668" cy="2286000"/>
          </a:xfrm>
          <a:prstGeom prst="roundRect">
            <a:avLst>
              <a:gd name="adj" fmla="val 10000"/>
            </a:avLst>
          </a:prstGeom>
          <a:gradFill rotWithShape="1">
            <a:gsLst>
              <a:gs pos="0">
                <a:srgbClr val="164E63">
                  <a:alpha val="30000"/>
                </a:srgbClr>
              </a:gs>
              <a:gs pos="100000">
                <a:srgbClr val="1E3A8A">
                  <a:alpha val="30000"/>
                </a:srgbClr>
              </a:gs>
            </a:gsLst>
            <a:lin scaled="0" ang="8100000"/>
          </a:gradFill>
          <a:ln w="825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809604" y="1265052"/>
            <a:ext cx="247643" cy="2130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33446" y="1238249"/>
            <a:ext cx="1057248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22D3EE"/>
                </a:solidFill>
                <a:latin typeface="Inter"/>
                <a:rFonts ascii="Inter" hAnsi="Inter" eastAsia="Inter" cs="Inter"/>
              </a:rPr>
              <a:t>Key Benefits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09604" y="1654268"/>
            <a:ext cx="190495" cy="12046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76298" y="1619250"/>
            <a:ext cx="96200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Inter"/>
                <a:rFonts ascii="Inter" hAnsi="Inter" eastAsia="Inter" cs="Inter"/>
              </a:rPr>
              <a:t>Concise syntax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276518" y="1654268"/>
            <a:ext cx="190495" cy="12046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543211" y="1619250"/>
            <a:ext cx="742931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Inter"/>
                <a:rFonts ascii="Inter" hAnsi="Inter" eastAsia="Inter" cs="Inter"/>
              </a:rPr>
              <a:t>Type safety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09604" y="1920968"/>
            <a:ext cx="190495" cy="12046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76298" y="1885950"/>
            <a:ext cx="904852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Inter"/>
                <a:rFonts ascii="Inter" hAnsi="Inter" eastAsia="Inter" cs="Inter"/>
              </a:rPr>
              <a:t>Composability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276518" y="1920968"/>
            <a:ext cx="190495" cy="12046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543211" y="1885950"/>
            <a:ext cx="98105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Inter"/>
                <a:rFonts ascii="Inter" hAnsi="Inter" eastAsia="Inter" cs="Inter"/>
              </a:rPr>
              <a:t>Lazy evaluation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809604" y="2187668"/>
            <a:ext cx="190495" cy="120463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76298" y="2152650"/>
            <a:ext cx="118107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Inter"/>
                <a:rFonts ascii="Inter" hAnsi="Inter" eastAsia="Inter" cs="Inter"/>
              </a:rPr>
              <a:t>Memory efficiency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3276518" y="2187668"/>
            <a:ext cx="190495" cy="120463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543211" y="2152650"/>
            <a:ext cx="102867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Inter"/>
                <a:rFonts ascii="Inter" hAnsi="Inter" eastAsia="Inter" cs="Inter"/>
              </a:rPr>
              <a:t>Unix-style pipes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9584" y="3476624"/>
            <a:ext cx="5257668" cy="2286000"/>
          </a:xfrm>
          <a:prstGeom prst="roundRect">
            <a:avLst>
              <a:gd name="adj" fmla="val 10000"/>
            </a:avLst>
          </a:prstGeom>
          <a:solidFill>
            <a:srgbClr val="1E293B">
              <a:alpha val="30000"/>
            </a:srgbClr>
          </a:solidFill>
          <a:ln w="825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09604" y="3704892"/>
            <a:ext cx="247643" cy="21021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133446" y="3676649"/>
            <a:ext cx="1733506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4ADE80"/>
                </a:solidFill>
                <a:latin typeface="Inter"/>
                <a:rFonts ascii="Inter" hAnsi="Inter" eastAsia="Inter" cs="Inter"/>
              </a:rPr>
              <a:t>When to Use Ranges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604" y="4076699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22C55E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6753" y="4095749"/>
            <a:ext cx="11429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4ADE80"/>
                </a:solidFill>
                <a:latin typeface="Inter"/>
                <a:rFonts ascii="Inter" hAnsi="Inter" eastAsia="Inter" cs="Inter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4397" y="4057650"/>
            <a:ext cx="1847803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Inter"/>
                <a:rFonts ascii="Inter" hAnsi="Inter" eastAsia="Inter" cs="Inter"/>
              </a:rPr>
              <a:t>Data transformation pipelines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604" y="4400550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22C55E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6753" y="4419600"/>
            <a:ext cx="11429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4ADE80"/>
                </a:solidFill>
                <a:latin typeface="Inter"/>
                <a:rFonts ascii="Inter" hAnsi="Inter" eastAsia="Inter" cs="Inter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4397" y="4381499"/>
            <a:ext cx="2238319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Inter"/>
                <a:rFonts ascii="Inter" hAnsi="Inter" eastAsia="Inter" cs="Inter"/>
              </a:rPr>
              <a:t>Filtering and processing collections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604" y="4724399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22C55E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6753" y="4743450"/>
            <a:ext cx="11429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4ADE80"/>
                </a:solidFill>
                <a:latin typeface="Inter"/>
                <a:rFonts ascii="Inter" hAnsi="Inter" eastAsia="Inter" cs="Inter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4397" y="4705350"/>
            <a:ext cx="235261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Inter"/>
                <a:rFonts ascii="Inter" hAnsi="Inter" eastAsia="Inter" cs="Inter"/>
              </a:rPr>
              <a:t>Readability and maintainability matter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9604" y="5048250"/>
            <a:ext cx="228594" cy="228600"/>
          </a:xfrm>
          <a:prstGeom prst="roundRect">
            <a:avLst>
              <a:gd name="adj" fmla="val 83325000"/>
            </a:avLst>
          </a:prstGeom>
          <a:solidFill>
            <a:srgbClr val="22C55E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6753" y="5067299"/>
            <a:ext cx="114297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4ADE80"/>
                </a:solidFill>
                <a:latin typeface="Inter"/>
                <a:rFonts ascii="Inter" hAnsi="Inter" eastAsia="Inter" cs="Inter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4397" y="5029200"/>
            <a:ext cx="1781130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Inter"/>
                <a:rFonts ascii="Inter" hAnsi="Inter" eastAsia="Inter" cs="Inter"/>
              </a:rPr>
              <a:t>Complex data manipulations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24441" y="1038224"/>
            <a:ext cx="5257668" cy="5334000"/>
          </a:xfrm>
          <a:prstGeom prst="roundRect">
            <a:avLst>
              <a:gd name="adj" fmla="val 4347"/>
            </a:avLst>
          </a:prstGeom>
          <a:gradFill rotWithShape="1">
            <a:gsLst>
              <a:gs pos="0">
                <a:srgbClr val="581C87">
                  <a:alpha val="30000"/>
                </a:srgbClr>
              </a:gs>
              <a:gs pos="100000">
                <a:srgbClr val="831843">
                  <a:alpha val="30000"/>
                </a:srgbClr>
              </a:gs>
            </a:gsLst>
            <a:lin scaled="0" ang="8100000"/>
          </a:gradFill>
          <a:ln w="825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6524461" y="1246946"/>
            <a:ext cx="266693" cy="249306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867353" y="1238249"/>
            <a:ext cx="2181170" cy="2666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C084FC"/>
                </a:solidFill>
                <a:latin typeface="Inter"/>
                <a:rFonts ascii="Inter" hAnsi="Inter" eastAsia="Inter" cs="Inter"/>
              </a:rPr>
              <a:t>The Future of C++ Ranges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24461" y="1657350"/>
            <a:ext cx="4857628" cy="819149"/>
          </a:xfrm>
          <a:prstGeom prst="roundRect">
            <a:avLst>
              <a:gd name="adj" fmla="val 18604"/>
            </a:avLst>
          </a:prstGeom>
          <a:solidFill>
            <a:srgbClr val="581C87">
              <a:alpha val="20000"/>
            </a:srgbClr>
          </a:solidFill>
          <a:ln w="825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6686382" y="1874108"/>
            <a:ext cx="209544" cy="118933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972125" y="1819275"/>
            <a:ext cx="1657308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60A5FA"/>
                </a:solidFill>
                <a:latin typeface="Inter"/>
                <a:rFonts ascii="Inter" hAnsi="Inter" eastAsia="Inter" cs="Inter"/>
              </a:rPr>
              <a:t>C++23 Enhancements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86382" y="2124075"/>
            <a:ext cx="453378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Inter"/>
                <a:rFonts ascii="Inter" hAnsi="Inter" eastAsia="Inter" cs="Inter"/>
              </a:rPr>
              <a:t>ranges::to, enumerate, cartesian_product, adjacent views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24461" y="2628900"/>
            <a:ext cx="4857628" cy="819149"/>
          </a:xfrm>
          <a:prstGeom prst="roundRect">
            <a:avLst>
              <a:gd name="adj" fmla="val 18604"/>
            </a:avLst>
          </a:prstGeom>
          <a:solidFill>
            <a:srgbClr val="581C87">
              <a:alpha val="20000"/>
            </a:srgbClr>
          </a:solidFill>
          <a:ln w="825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6686382" y="2804597"/>
            <a:ext cx="209544" cy="201054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972125" y="2790824"/>
            <a:ext cx="1400139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4ADE80"/>
                </a:solidFill>
                <a:latin typeface="Inter"/>
                <a:rFonts ascii="Inter" hAnsi="Inter" eastAsia="Inter" cs="Inter"/>
              </a:rPr>
              <a:t>Ecosystem Growth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86382" y="3095625"/>
            <a:ext cx="453378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Inter"/>
                <a:rFonts ascii="Inter" hAnsi="Inter" eastAsia="Inter" cs="Inter"/>
              </a:rPr>
              <a:t>More libraries adopting range-based APIs, better tooling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524461" y="3600450"/>
            <a:ext cx="4857628" cy="819149"/>
          </a:xfrm>
          <a:prstGeom prst="roundRect">
            <a:avLst>
              <a:gd name="adj" fmla="val 18604"/>
            </a:avLst>
          </a:prstGeom>
          <a:solidFill>
            <a:srgbClr val="581C87">
              <a:alpha val="20000"/>
            </a:srgbClr>
          </a:solidFill>
          <a:ln w="825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6686382" y="3794554"/>
            <a:ext cx="209544" cy="164241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972125" y="3762374"/>
            <a:ext cx="158111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ACC15"/>
                </a:solidFill>
                <a:latin typeface="Inter"/>
                <a:rFonts ascii="Inter" hAnsi="Inter" eastAsia="Inter" cs="Inter"/>
              </a:rPr>
              <a:t>Community Adoption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86382" y="4067174"/>
            <a:ext cx="453378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Inter"/>
                <a:rFonts ascii="Inter" hAnsi="Inter" eastAsia="Inter" cs="Inter"/>
              </a:rPr>
              <a:t>Growing best practices, design patterns, and resources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524461" y="4572000"/>
            <a:ext cx="4857628" cy="819149"/>
          </a:xfrm>
          <a:prstGeom prst="roundRect">
            <a:avLst>
              <a:gd name="adj" fmla="val 18604"/>
            </a:avLst>
          </a:prstGeom>
          <a:solidFill>
            <a:srgbClr val="581C87">
              <a:alpha val="20000"/>
            </a:srgbClr>
          </a:solidFill>
          <a:ln w="825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image.png"/>
          <p:cNvPicPr>
            <a:picLocks noChangeAspect="1"/>
          </p:cNvPicPr>
          <p:nvPr/>
        </p:nvPicPr>
        <p:blipFill>
          <a:blip r:embed="rId10">
            <a:alphaModFix amt="100000"/>
          </a:blip>
          <a:stretch>
            <a:fillRect/>
          </a:stretch>
        </p:blipFill>
        <p:spPr>
          <a:xfrm>
            <a:off x="6686382" y="4766104"/>
            <a:ext cx="209544" cy="164241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6972125" y="4733925"/>
            <a:ext cx="164778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22D3EE"/>
                </a:solidFill>
                <a:latin typeface="Inter"/>
                <a:rFonts ascii="Inter" hAnsi="Inter" eastAsia="Inter" cs="Inter"/>
              </a:rPr>
              <a:t>Modern C++ Standard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86382" y="5038724"/>
            <a:ext cx="4533786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0">
                <a:solidFill>
                  <a:srgbClr val="CBD5E1"/>
                </a:solidFill>
                <a:latin typeface="Inter"/>
                <a:rFonts ascii="Inter" hAnsi="Inter" eastAsia="Inter" cs="Inter"/>
              </a:rPr>
              <a:t>Ranges are becoming the preferred way to work with sequences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524461" y="5734050"/>
            <a:ext cx="4857628" cy="438149"/>
          </a:xfrm>
          <a:prstGeom prst="roundRect">
            <a:avLst>
              <a:gd name="adj" fmla="val 34782"/>
            </a:avLst>
          </a:prstGeom>
          <a:gradFill rotWithShape="1">
            <a:gsLst>
              <a:gs pos="0">
                <a:srgbClr val="A855F7">
                  <a:alpha val="20000"/>
                </a:srgbClr>
              </a:gs>
              <a:gs pos="100000">
                <a:srgbClr val="EC4899">
                  <a:alpha val="20000"/>
                </a:srgbClr>
              </a:gs>
            </a:gsLst>
            <a:lin scaled="0" ang="10800000"/>
          </a:gradFill>
          <a:ln w="8255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48283" y="5857875"/>
            <a:ext cx="4609984" cy="19049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837" b="1">
                <a:solidFill>
                  <a:srgbClr val="E2E8F0"/>
                </a:solidFill>
                <a:latin typeface="Inter"/>
                <a:rFonts ascii="Inter" hAnsi="Inter" eastAsia="Inter" cs="Inter"/>
              </a:rPr>
              <a:t>"Ranges represent a paradigm shift in C++ programming"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