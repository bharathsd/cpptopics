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0.png"/><Relationship Id="rId7" Type="http://schemas.openxmlformats.org/officeDocument/2006/relationships/image" Target="../media/image27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9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9.png"/><Relationship Id="rId8" Type="http://schemas.openxmlformats.org/officeDocument/2006/relationships/image" Target="../media/image5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53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42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43.png"/><Relationship Id="rId7" Type="http://schemas.openxmlformats.org/officeDocument/2006/relationships/image" Target="../media/image9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6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30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63.png"/><Relationship Id="rId4" Type="http://schemas.openxmlformats.org/officeDocument/2006/relationships/image" Target="../media/image21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42.png"/><Relationship Id="rId6" Type="http://schemas.openxmlformats.org/officeDocument/2006/relationships/image" Target="../media/image9.png"/><Relationship Id="rId7" Type="http://schemas.openxmlformats.org/officeDocument/2006/relationships/image" Target="../media/image5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63.png"/><Relationship Id="rId8" Type="http://schemas.openxmlformats.org/officeDocument/2006/relationships/image" Target="../media/image9.png"/><Relationship Id="rId9" Type="http://schemas.openxmlformats.org/officeDocument/2006/relationships/image" Target="../media/image27.png"/><Relationship Id="rId10" Type="http://schemas.openxmlformats.org/officeDocument/2006/relationships/image" Target="../media/image11.png"/><Relationship Id="rId11" Type="http://schemas.openxmlformats.org/officeDocument/2006/relationships/image" Target="../media/image10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27.png"/><Relationship Id="rId4" Type="http://schemas.openxmlformats.org/officeDocument/2006/relationships/image" Target="../media/image69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70.png"/><Relationship Id="rId6" Type="http://schemas.openxmlformats.org/officeDocument/2006/relationships/image" Target="../media/image56.png"/><Relationship Id="rId7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0.png"/><Relationship Id="rId4" Type="http://schemas.openxmlformats.org/officeDocument/2006/relationships/image" Target="../media/image74.png"/><Relationship Id="rId5" Type="http://schemas.openxmlformats.org/officeDocument/2006/relationships/image" Target="../media/image27.png"/><Relationship Id="rId6" Type="http://schemas.openxmlformats.org/officeDocument/2006/relationships/image" Target="../media/image75.png"/><Relationship Id="rId7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36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63.png"/><Relationship Id="rId8" Type="http://schemas.openxmlformats.org/officeDocument/2006/relationships/image" Target="../media/image78.png"/><Relationship Id="rId9" Type="http://schemas.openxmlformats.org/officeDocument/2006/relationships/image" Target="../media/image40.png"/><Relationship Id="rId10" Type="http://schemas.openxmlformats.org/officeDocument/2006/relationships/image" Target="../media/image27.png"/><Relationship Id="rId11" Type="http://schemas.openxmlformats.org/officeDocument/2006/relationships/image" Target="../media/image11.png"/><Relationship Id="rId12" Type="http://schemas.openxmlformats.org/officeDocument/2006/relationships/image" Target="../media/image10.png"/><Relationship Id="rId13" Type="http://schemas.openxmlformats.org/officeDocument/2006/relationships/image" Target="../media/image53.png"/><Relationship Id="rId14" Type="http://schemas.openxmlformats.org/officeDocument/2006/relationships/image" Target="../media/image7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.png"/><Relationship Id="rId8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75.png"/><Relationship Id="rId7" Type="http://schemas.openxmlformats.org/officeDocument/2006/relationships/image" Target="../media/image9.png"/><Relationship Id="rId8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91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9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40.png"/><Relationship Id="rId11" Type="http://schemas.openxmlformats.org/officeDocument/2006/relationships/image" Target="../media/image47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64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88.png"/><Relationship Id="rId6" Type="http://schemas.openxmlformats.org/officeDocument/2006/relationships/image" Target="../media/image109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50.png"/><Relationship Id="rId5" Type="http://schemas.openxmlformats.org/officeDocument/2006/relationships/image" Target="../media/image2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62.png"/><Relationship Id="rId7" Type="http://schemas.openxmlformats.org/officeDocument/2006/relationships/image" Target="../media/image9.png"/><Relationship Id="rId8" Type="http://schemas.openxmlformats.org/officeDocument/2006/relationships/image" Target="../media/image1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11.png"/><Relationship Id="rId11" Type="http://schemas.openxmlformats.org/officeDocument/2006/relationships/image" Target="../media/image40.png"/><Relationship Id="rId12" Type="http://schemas.openxmlformats.org/officeDocument/2006/relationships/image" Target="../media/image47.png"/><Relationship Id="rId13" Type="http://schemas.openxmlformats.org/officeDocument/2006/relationships/image" Target="../media/image105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108.png"/><Relationship Id="rId17" Type="http://schemas.openxmlformats.org/officeDocument/2006/relationships/image" Target="../media/image114.png"/><Relationship Id="rId18" Type="http://schemas.openxmlformats.org/officeDocument/2006/relationships/image" Target="../media/image7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10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27.png"/><Relationship Id="rId4" Type="http://schemas.openxmlformats.org/officeDocument/2006/relationships/image" Target="../media/image116.png"/><Relationship Id="rId5" Type="http://schemas.openxmlformats.org/officeDocument/2006/relationships/image" Target="../media/image71.png"/><Relationship Id="rId6" Type="http://schemas.openxmlformats.org/officeDocument/2006/relationships/image" Target="../media/image120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11.png"/><Relationship Id="rId11" Type="http://schemas.openxmlformats.org/officeDocument/2006/relationships/image" Target="../media/image121.png"/><Relationship Id="rId12" Type="http://schemas.openxmlformats.org/officeDocument/2006/relationships/image" Target="../media/image40.png"/><Relationship Id="rId13" Type="http://schemas.openxmlformats.org/officeDocument/2006/relationships/image" Target="../media/image47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14.png"/><Relationship Id="rId19" Type="http://schemas.openxmlformats.org/officeDocument/2006/relationships/image" Target="../media/image122.png"/><Relationship Id="rId20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6.png"/><Relationship Id="rId4" Type="http://schemas.openxmlformats.org/officeDocument/2006/relationships/image" Target="../media/image123.png"/><Relationship Id="rId5" Type="http://schemas.openxmlformats.org/officeDocument/2006/relationships/image" Target="../media/image71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24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69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24.png"/><Relationship Id="rId6" Type="http://schemas.openxmlformats.org/officeDocument/2006/relationships/image" Target="../media/image120.png"/><Relationship Id="rId7" Type="http://schemas.openxmlformats.org/officeDocument/2006/relationships/image" Target="../media/image9.png"/><Relationship Id="rId8" Type="http://schemas.openxmlformats.org/officeDocument/2006/relationships/image" Target="../media/image5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7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6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0.png"/><Relationship Id="rId4" Type="http://schemas.openxmlformats.org/officeDocument/2006/relationships/image" Target="../media/image127.png"/><Relationship Id="rId5" Type="http://schemas.openxmlformats.org/officeDocument/2006/relationships/image" Target="../media/image6.png"/><Relationship Id="rId6" Type="http://schemas.openxmlformats.org/officeDocument/2006/relationships/image" Target="../media/image128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11.png"/><Relationship Id="rId11" Type="http://schemas.openxmlformats.org/officeDocument/2006/relationships/image" Target="../media/image121.png"/><Relationship Id="rId12" Type="http://schemas.openxmlformats.org/officeDocument/2006/relationships/image" Target="../media/image129.png"/><Relationship Id="rId13" Type="http://schemas.openxmlformats.org/officeDocument/2006/relationships/image" Target="../media/image40.png"/><Relationship Id="rId14" Type="http://schemas.openxmlformats.org/officeDocument/2006/relationships/image" Target="../media/image47.png"/><Relationship Id="rId15" Type="http://schemas.openxmlformats.org/officeDocument/2006/relationships/image" Target="../media/image105.png"/><Relationship Id="rId16" Type="http://schemas.openxmlformats.org/officeDocument/2006/relationships/image" Target="../media/image112.png"/><Relationship Id="rId17" Type="http://schemas.openxmlformats.org/officeDocument/2006/relationships/image" Target="../media/image113.png"/><Relationship Id="rId18" Type="http://schemas.openxmlformats.org/officeDocument/2006/relationships/image" Target="../media/image108.png"/><Relationship Id="rId19" Type="http://schemas.openxmlformats.org/officeDocument/2006/relationships/image" Target="../media/image114.png"/><Relationship Id="rId20" Type="http://schemas.openxmlformats.org/officeDocument/2006/relationships/image" Target="../media/image122.png"/><Relationship Id="rId21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83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3.png"/><Relationship Id="rId4" Type="http://schemas.openxmlformats.org/officeDocument/2006/relationships/image" Target="../media/image131.png"/><Relationship Id="rId5" Type="http://schemas.openxmlformats.org/officeDocument/2006/relationships/image" Target="../media/image92.png"/><Relationship Id="rId6" Type="http://schemas.openxmlformats.org/officeDocument/2006/relationships/image" Target="../media/image28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27.png"/><Relationship Id="rId4" Type="http://schemas.openxmlformats.org/officeDocument/2006/relationships/image" Target="../media/image132.png"/><Relationship Id="rId5" Type="http://schemas.openxmlformats.org/officeDocument/2006/relationships/image" Target="../media/image119.png"/><Relationship Id="rId6" Type="http://schemas.openxmlformats.org/officeDocument/2006/relationships/image" Target="../media/image133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11.png"/><Relationship Id="rId11" Type="http://schemas.openxmlformats.org/officeDocument/2006/relationships/image" Target="../media/image121.png"/><Relationship Id="rId12" Type="http://schemas.openxmlformats.org/officeDocument/2006/relationships/image" Target="../media/image129.png"/><Relationship Id="rId13" Type="http://schemas.openxmlformats.org/officeDocument/2006/relationships/image" Target="../media/image134.png"/><Relationship Id="rId14" Type="http://schemas.openxmlformats.org/officeDocument/2006/relationships/image" Target="../media/image40.png"/><Relationship Id="rId15" Type="http://schemas.openxmlformats.org/officeDocument/2006/relationships/image" Target="../media/image47.png"/><Relationship Id="rId16" Type="http://schemas.openxmlformats.org/officeDocument/2006/relationships/image" Target="../media/image105.png"/><Relationship Id="rId17" Type="http://schemas.openxmlformats.org/officeDocument/2006/relationships/image" Target="../media/image112.png"/><Relationship Id="rId18" Type="http://schemas.openxmlformats.org/officeDocument/2006/relationships/image" Target="../media/image113.png"/><Relationship Id="rId19" Type="http://schemas.openxmlformats.org/officeDocument/2006/relationships/image" Target="../media/image108.png"/><Relationship Id="rId20" Type="http://schemas.openxmlformats.org/officeDocument/2006/relationships/image" Target="../media/image114.png"/><Relationship Id="rId21" Type="http://schemas.openxmlformats.org/officeDocument/2006/relationships/image" Target="../media/image122.png"/><Relationship Id="rId22" Type="http://schemas.openxmlformats.org/officeDocument/2006/relationships/image" Target="../media/image135.png"/><Relationship Id="rId2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5723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Binding, std::optional, and Control Flow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52499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C++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3826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95747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5352" y="1904999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67273" y="2019299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8739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659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86376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072564"/>
            <a:ext cx="457188" cy="369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3961" y="3600450"/>
            <a:ext cx="1800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437" y="394335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unpacking syntax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09231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065044"/>
            <a:ext cx="457188" cy="385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67213" y="3600450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678" y="3943350"/>
            <a:ext cx="24859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Values that may or may not exist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04839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065044"/>
            <a:ext cx="457188" cy="3850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62820" y="3600450"/>
            <a:ext cx="12953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Control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6602" y="394335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895849"/>
            <a:ext cx="10858228" cy="18288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179629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133975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C++ Control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553074"/>
            <a:ext cx="9886702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Structure binding provides clean unpacking syntax for tuples and structs. std::optional represents values that may not exist. If and switch with initializers offer safer, more concise control flow with initialization within the statement itself.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08592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107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71700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C++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38400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9718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286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16005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086100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39089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unpacking syntax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630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33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62399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67199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Optional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7243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39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9098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38699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43500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Statement-scope initialization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38493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314450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Benefits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752599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361799" y="2067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29154" y="1966072"/>
            <a:ext cx="190495" cy="1064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33946" y="1866899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3946" y="217170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Less verbose than before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628900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361799" y="29438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2805952"/>
            <a:ext cx="190495" cy="1792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33946" y="27432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Safer Semantics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3946" y="304799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than raw pointers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05199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361799" y="3820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29154" y="3703263"/>
            <a:ext cx="190495" cy="1372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33946" y="36194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Syntax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3946" y="3924299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Follows C++ best practices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381499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361799" y="46964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29154" y="4594972"/>
            <a:ext cx="190495" cy="10645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33946" y="4495799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3946" y="4800600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checks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143500"/>
            <a:ext cx="5848203" cy="1228725"/>
          </a:xfrm>
          <a:prstGeom prst="roundRect">
            <a:avLst>
              <a:gd name="adj" fmla="val 1240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5360669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570" y="53054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570" y="5648325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These C++17 features provide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cleaner, safer, more expressive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control flow compared to traditional approaches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002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011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478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714500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47899"/>
            <a:ext cx="4629034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40982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[a, b]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75272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[x, y, z]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tuple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086100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[name, age]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struct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0522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51774" y="40201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889281"/>
            <a:ext cx="190495" cy="165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819524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 Unpacking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4124324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need for std::tie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58152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51774" y="48964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76698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3921" y="4695824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21" y="5000625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type checking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545782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51774" y="57727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671297"/>
            <a:ext cx="190495" cy="1064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21" y="5572125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Syntax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21" y="5876925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pairs, tuples, structs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489710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81550" y="1419225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1857375"/>
            <a:ext cx="5848203" cy="1543050"/>
          </a:xfrm>
          <a:prstGeom prst="roundRect">
            <a:avLst>
              <a:gd name="adj" fmla="val 987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8679" y="2038349"/>
            <a:ext cx="155253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Pair unpacking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2343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std::pair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p(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6670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[first, second] = p;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9908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first=1, second=2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552825"/>
            <a:ext cx="5848203" cy="1543050"/>
          </a:xfrm>
          <a:prstGeom prst="roundRect">
            <a:avLst>
              <a:gd name="adj" fmla="val 987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733799"/>
            <a:ext cx="16477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Tuple unpacking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0385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std::tuple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t(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362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[a, b, c] = 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686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a=1, b=2, c=3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5095874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313044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2578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600700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unpacking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type safety - eliminates verbose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std::tie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syntax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7528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802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954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36219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Real-world unpacking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956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27973" y="31343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41556"/>
            <a:ext cx="190495" cy="165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97180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Pair unpacking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23850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std::make_pair(10, 20)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814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27973" y="38201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567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576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Tuple unpacking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924299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std::make_tuple(1, 2,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27973" y="45059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 unpacking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Point{5, 10}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529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27973" y="51917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059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2920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structures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29589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Deep unpacking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857250"/>
            <a:ext cx="5848203" cy="1047749"/>
          </a:xfrm>
          <a:prstGeom prst="roundRect">
            <a:avLst>
              <a:gd name="adj" fmla="val 1454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0579" y="971550"/>
            <a:ext cx="56005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Pair unpacking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0579" y="12001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[x, y]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std::make_pair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0579" y="15239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x=10, y=20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2019299"/>
            <a:ext cx="5848203" cy="1047749"/>
          </a:xfrm>
          <a:prstGeom prst="roundRect">
            <a:avLst>
              <a:gd name="adj" fmla="val 1454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0579" y="2133599"/>
            <a:ext cx="56005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Tuple unpacking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3621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[a, b, c]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std::make_tuple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6860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a=1, b=2, c=3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181350"/>
            <a:ext cx="5848203" cy="137160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295650"/>
            <a:ext cx="56005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Struct unpacking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5242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struct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y;};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38480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[px, py]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41719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px=5, py=10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667249"/>
            <a:ext cx="5848203" cy="1047749"/>
          </a:xfrm>
          <a:prstGeom prst="roundRect">
            <a:avLst>
              <a:gd name="adj" fmla="val 1454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0579" y="4781549"/>
            <a:ext cx="56005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structures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50101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[[x1, y1], [x2, y2]]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data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53340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x1=5, y1=10, x2=15, y2=20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715000"/>
            <a:ext cx="5848203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922645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570" y="58673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570" y="6172200"/>
            <a:ext cx="5181470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provides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compile-time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type-safe unpacking for pairs, tuples, and structs - cleaner than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6387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 Binding with Custom Objects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926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3355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Type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0025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Enabling Structure Binding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36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486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09302"/>
            <a:ext cx="190495" cy="182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4794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tuple_size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5275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size 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29025"/>
            <a:ext cx="190495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24250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get()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2905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Access member by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70306"/>
            <a:ext cx="190495" cy="16528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More Readable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than std::tie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625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775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3960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768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81649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type checking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992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28775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Object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66924"/>
            <a:ext cx="5848203" cy="1533525"/>
          </a:xfrm>
          <a:prstGeom prst="roundRect">
            <a:avLst>
              <a:gd name="adj" fmla="val 993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28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struct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y;};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581275"/>
            <a:ext cx="48576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Structure binding works if Point has tuple_size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828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[a, b]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171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a=5, b=10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705224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886200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Comparison with std::tie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2100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y;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476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std::tie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(x, y)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89584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113019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0577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40067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Structure binding with custom objects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syntax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than std::tie while maintaining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safety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at compile time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1430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697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19250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Optional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885950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19349"/>
            <a:ext cx="4629034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58127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maybeValue;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933699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Can hold int or be empty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53377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351774" y="38487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192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921" y="364807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Wrapper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21" y="3952874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Holds value or nullopt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41007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51774" y="47250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589929"/>
            <a:ext cx="190495" cy="1736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52437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Safer than Pointers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21" y="4829175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Explicit empty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28637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51774" y="56013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488641"/>
            <a:ext cx="190495" cy="1288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21" y="540067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Expresses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21" y="5705475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 may not exist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366010"/>
            <a:ext cx="228594" cy="1257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81550" y="2295525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Optional Usage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733674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8679" y="28956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1527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&gt;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? x 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std::nullopt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4194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3800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Returns int if positive, empty otherwise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219575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436745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81570" y="43814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570" y="4724399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std::optional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way to represent values that may not exist, avoiding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nullptr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ambiguities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671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std::optional Usage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649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Optional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Creating &amp; Using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437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Create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1725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Dereference with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 (value) *value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5019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Default with value_or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empty.value_or(default)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670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Check with has_value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value.has_value()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66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76200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Optional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514350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676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028700"/>
            <a:ext cx="15525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Has value: 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3525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empty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714500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No value: empty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228850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240982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Dereference with 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*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0670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Output: 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360997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3790949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Default with value_or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114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empty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value_or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448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Output: 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4991100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5172075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with has_value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486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57530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6019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6438899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656069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81570" y="66008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570" y="6943725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std::optional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way to represent optional values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and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value_or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methods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9526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If with Initializers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649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If Statement Initialization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14600"/>
            <a:ext cx="4629034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676524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48" y="2962274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x exists &amp; condition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20992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else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3486150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condition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733799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35292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51774" y="46678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534180"/>
            <a:ext cx="190495" cy="1708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4467224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Limited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21" y="4772025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Variable exists only in if/else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519112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351774" y="55060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5404597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21" y="5305425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21" y="5610224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separate initialization 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2213610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2143125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Null-Safe Pointer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581275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679" y="2762249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Initialize and check in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3086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343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(*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ptr is null-safe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609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962399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ptr out of scope after block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371975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458914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1570" y="45339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Execution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570" y="4876800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Initializer executed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before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condition check. If initializer fails, condition is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false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8575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Switch with Initializers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45944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95449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Switch Statement Initialization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62149"/>
            <a:ext cx="26193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95550"/>
            <a:ext cx="4629034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65747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switch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getSwitchValue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924175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case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break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190874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case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break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448049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default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break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714750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33387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51774" y="46488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515130"/>
            <a:ext cx="190495" cy="1708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4448175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Limited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21" y="4752974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Variable exists only in switch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521017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351774" y="55251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5423647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21" y="5324474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21" y="5629275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separate initialization 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946909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876424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Null-Safe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314575"/>
            <a:ext cx="5848203" cy="2314575"/>
          </a:xfrm>
          <a:prstGeom prst="roundRect">
            <a:avLst>
              <a:gd name="adj" fmla="val 658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679" y="2495550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Initialize and check in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28098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switch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076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case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343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(*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ptr is null-safe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6004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break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3867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4229100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ptr out of scope after switch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4629150"/>
            <a:ext cx="5848203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4846320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81570" y="47910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Execution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570" y="5133975"/>
            <a:ext cx="518147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Initializer executed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before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switch cases. If initializer fails, condition is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false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enters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default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(if present)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365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80035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Each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4290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513699" y="35820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579158"/>
            <a:ext cx="190495" cy="1568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7723" y="3505199"/>
            <a:ext cx="21240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for unpacking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9433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13699" y="40963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09070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7723" y="4019549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 for optional returns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4577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3699" y="46107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6050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23" y="4533900"/>
            <a:ext cx="26859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initializers for null-safe checks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345531"/>
            <a:ext cx="228594" cy="1857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1550" y="2305049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76758" y="28575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523724" y="3010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3024467"/>
            <a:ext cx="190495" cy="1232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7748" y="2933699"/>
            <a:ext cx="25907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tuple_size for custom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33718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23724" y="35248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3538817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57748" y="344804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uninitialized optional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38862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523724" y="40392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4053167"/>
            <a:ext cx="190495" cy="1232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57748" y="396239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Shadowing in initializers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324349"/>
            <a:ext cx="5848203" cy="1057275"/>
          </a:xfrm>
          <a:prstGeom prst="roundRect">
            <a:avLst>
              <a:gd name="adj" fmla="val 144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4519136"/>
            <a:ext cx="228594" cy="1628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43471" y="4448175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Considerations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3471" y="4752974"/>
            <a:ext cx="5257668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Structure binding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has zero overhead,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has minimal overhead, initializers are compile-time optimizations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365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8605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95275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Modern Features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524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677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67440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600450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for clean unpacking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40385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41916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1859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4114800"/>
            <a:ext cx="27907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 for type-safe optional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5529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7059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003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629150"/>
            <a:ext cx="26859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initializers for null-safe checks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152173"/>
            <a:ext cx="228594" cy="1914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1550" y="2114550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Benefits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76758" y="26670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523724" y="28200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281435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5847" y="2743200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 with less verbosity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31813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523724" y="33343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320302"/>
            <a:ext cx="190495" cy="17929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5847" y="325755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Safer semantics than raw pointers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6956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23724" y="38487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3871072"/>
            <a:ext cx="190495" cy="1064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37719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More expressive control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4286250"/>
            <a:ext cx="5848203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104623" y="4858385"/>
            <a:ext cx="1276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67253" y="4493895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10144" y="4438649"/>
            <a:ext cx="51624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0144" y="4781549"/>
            <a:ext cx="5162420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C++17 features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cleaner, safer, more expressive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modern C++ code!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5528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std::variant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926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33550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00250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Type-Safe Alternative to Union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36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486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1070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4794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5275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type checking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0661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242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2905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Holds one type at a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7731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Stores only largest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625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775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480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76850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Knows Active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81649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Tracks which type is stored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64223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57175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Variant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009900"/>
            <a:ext cx="5848203" cy="600075"/>
          </a:xfrm>
          <a:prstGeom prst="roundRect">
            <a:avLst>
              <a:gd name="adj" fmla="val 253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317182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3762374"/>
            <a:ext cx="5848203" cy="1352549"/>
          </a:xfrm>
          <a:prstGeom prst="roundRect">
            <a:avLst>
              <a:gd name="adj" fmla="val 1126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005262"/>
            <a:ext cx="228594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1570" y="3924299"/>
            <a:ext cx="2838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Comparison: Variant vs Tuple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434493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29214" y="4267199"/>
            <a:ext cx="22478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variant: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Holds ONE type at a time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181570" y="463068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29214" y="4552949"/>
            <a:ext cx="25907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tuple: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Holds ALL types simultaneously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6858000"/>
            <a:ext cx="12191695" cy="923924"/>
          </a:xfrm>
          <a:prstGeom prst="roundRect">
            <a:avLst>
              <a:gd name="adj" fmla="val 1649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61920" y="7075169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12" y="7019925"/>
            <a:ext cx="72007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12" y="7362824"/>
            <a:ext cx="72007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provides a type-safe, memory-efficient way to store one of several possible types at a time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8576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 Usage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Creating &amp; Accessing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Practical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Create 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Store different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std::get&lt;index&gt;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71059"/>
            <a:ext cx="190495" cy="49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Must match type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4085"/>
            <a:ext cx="190495" cy="312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List all possible types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2298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52499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Variant Creation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90650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55257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764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Holds int 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400300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5622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3.14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8860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Holds double type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409950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5718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v3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8957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Holds string type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419600"/>
            <a:ext cx="5848203" cy="12192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600575"/>
            <a:ext cx="21049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Access with std::get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9053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std::get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2922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x = 42 if v1 holds int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638799"/>
            <a:ext cx="5848203" cy="1095374"/>
          </a:xfrm>
          <a:prstGeom prst="roundRect">
            <a:avLst>
              <a:gd name="adj" fmla="val 1391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8559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8007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105525"/>
            <a:ext cx="5181470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std::get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requires compile-time index - type must match variant's type list position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1718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 with Visitors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926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3355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0025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Type-Safe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36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486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031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4794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Visitor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5275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Handles each possible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2342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2425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2905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manual type checking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717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Automatic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Invokes correct lambda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625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775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6061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7685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8164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 runtime overhead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134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4300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Visitor Pattern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81149"/>
            <a:ext cx="5848203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52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variant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2286000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8679" y="2466975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Visitor function handles all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90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visitor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arg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479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arg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*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14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85762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4038599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Visit variant with visitor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352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std::visit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visitor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variant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95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result = 84 (42*2) if variant holds 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124449"/>
            <a:ext cx="5848203" cy="1419225"/>
          </a:xfrm>
          <a:prstGeom prst="roundRect">
            <a:avLst>
              <a:gd name="adj" fmla="val 1073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33209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2768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5619750"/>
            <a:ext cx="5181470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std::visit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automatically invokes the correct visitor lambda based on variant's current type - providing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operations without manual checks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3722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 Comparison and Monadic Operations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52136"/>
            <a:ext cx="228594" cy="220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Utility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Working with Variants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81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std::holds_alternative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if variant can hold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424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manual type checking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963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std::get_if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Get pointer if variant holds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86667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Conditional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Useful for if-else patterns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468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7640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Usage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114550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305049"/>
            <a:ext cx="29241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if variant can hold 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6098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std::holds_alternative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variant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3471" y="2876549"/>
            <a:ext cx="25621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variant can hold int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1051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619499"/>
            <a:ext cx="5848203" cy="12192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809999"/>
            <a:ext cx="347653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pointer if variant holds string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1148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ptr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std::get_if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variant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457700"/>
            <a:ext cx="420994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ptr != nullptr only if variant holds string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8386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0653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0101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3530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Utility functions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queries and conditional logic without visitors - useful for simple type checks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9813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std::any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78342"/>
            <a:ext cx="228594" cy="1200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90700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57400"/>
            <a:ext cx="22478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Type-Safe Container for Any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907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05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678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05099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09900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Safer than void*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060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Copies stored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582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526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381499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Knows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68630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std::any::type queries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05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20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020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19700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Heterogeneous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24499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Store different types together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564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85925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12407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86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6193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981325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Stores int and string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50519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676649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type information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0005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std::type_info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343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Knows contained type at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762500"/>
            <a:ext cx="5848203" cy="1238249"/>
          </a:xfrm>
          <a:prstGeom prst="roundRect">
            <a:avLst>
              <a:gd name="adj" fmla="val 1230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005387"/>
            <a:ext cx="228594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924424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Comparison: std::any vs void*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5345061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29214" y="5267324"/>
            <a:ext cx="31050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Type-safe, value semantics, type info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181570" y="5630811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29214" y="5553074"/>
            <a:ext cx="26955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void*: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No type safety, pointer semantics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2861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 Usage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83142"/>
            <a:ext cx="228594" cy="1200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95499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Working with std::any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362199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Creating &amp; Accessing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956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27973" y="31343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485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971800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Store any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238500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 a = 42;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814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27973" y="38201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203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576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924299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Copies data on assignment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27973" y="45059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std::any_cast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Runtime type checking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529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27973" y="51917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031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29200"/>
            <a:ext cx="13810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std::bad_any_cast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295899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Throws on wrong cast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991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2870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Usage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66849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609724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Creating std::any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9335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2288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5336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3.14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000375"/>
            <a:ext cx="5848203" cy="1152524"/>
          </a:xfrm>
          <a:prstGeom prst="roundRect">
            <a:avLst>
              <a:gd name="adj" fmla="val 132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0579" y="3143250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Accessing with any_cast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345757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&gt;(a);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7623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x = 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219575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4362450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Checking type before cast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6863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(a.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==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typeid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495299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&gt;(a);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52101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600700"/>
            <a:ext cx="5848203" cy="1057275"/>
          </a:xfrm>
          <a:prstGeom prst="roundRect">
            <a:avLst>
              <a:gd name="adj" fmla="val 144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77977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43471" y="5724524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Trade-offs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3471" y="6067424"/>
            <a:ext cx="5257668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but runtime overhead.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possible for better performance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0482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 vs std::variant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12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04999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71700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Decision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670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29248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45173"/>
            <a:ext cx="190495" cy="100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743200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009900"/>
            <a:ext cx="29050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Any type, runtime checking, unknown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3908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6487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5438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467100"/>
            <a:ext cx="39718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733799"/>
            <a:ext cx="39718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 of several types, compile-time checking, more efficient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038599"/>
            <a:ext cx="4629034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54" y="4210049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std::any when: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4668786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6298" y="4591050"/>
            <a:ext cx="21430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Types unknown at compile time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8654" y="5030736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6298" y="4952999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Plugin system with dynamic loading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5392686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76298" y="531495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Maximum flexibility needed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08785"/>
            <a:ext cx="228594" cy="1257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81550" y="1638299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038349"/>
            <a:ext cx="5848203" cy="2590799"/>
          </a:xfrm>
          <a:prstGeom prst="roundRect">
            <a:avLst>
              <a:gd name="adj" fmla="val 58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6758" y="4629150"/>
            <a:ext cx="5848203" cy="142875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8367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81570" y="47815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570" y="5124449"/>
            <a:ext cx="5181470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types are known at compile-time for better performance and type safety.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std::any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dealing with completely unknown types.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12452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std::variant Construction and Assignment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403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381250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Creating &amp; Modifying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47949"/>
            <a:ext cx="25716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Construction &amp;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8135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4391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32909"/>
            <a:ext cx="190495" cy="154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257550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52425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Initialize variant with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90524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41630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051206"/>
            <a:ext cx="190495" cy="1652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98144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42481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Changes variant's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2915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8869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6810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705350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97205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Only accepts declared types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28968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219200"/>
            <a:ext cx="32288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Construction &amp; Assignment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657350"/>
            <a:ext cx="5848203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1819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1621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 now holds int (42)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69557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8679" y="2876549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Assignment changes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200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3.14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543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v now holds double (3.14)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07669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8679" y="4238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std::variant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45815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4914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v2 now holds string ("hello")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5343525"/>
            <a:ext cx="5848203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560694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81570" y="55054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570" y="58102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std::variant is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can only assign one of its declared types at compile time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0672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Extended 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221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7170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38400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09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162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16005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086100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for clean unpacking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524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677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716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60045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 for optional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0385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1916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1859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1148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5529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7059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70591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629150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 for type-safe union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672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13699" y="52203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5245473"/>
            <a:ext cx="190495" cy="1008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5822" y="51435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 for any type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20135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943100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Benefits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4955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23724" y="2648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26429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2571750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0099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3724" y="3162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3148852"/>
            <a:ext cx="190495" cy="1792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95847" y="3086100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5242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23724" y="3677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91055" y="3699622"/>
            <a:ext cx="190495" cy="10645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95847" y="3600450"/>
            <a:ext cx="8858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0385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23724" y="41916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91055" y="4177552"/>
            <a:ext cx="190495" cy="17929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95847" y="4114800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Safer semantics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4476750"/>
            <a:ext cx="5848203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104623" y="5048885"/>
            <a:ext cx="1276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67253" y="4685823"/>
            <a:ext cx="228594" cy="19145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10144" y="4629150"/>
            <a:ext cx="51624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0144" y="4972050"/>
            <a:ext cx="5162420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C++17 features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 modern C++ code!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3148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std::string_view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1359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std::string_view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Non-Owning String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0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Lightweight Wrapper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 char* +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2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Allocations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memory copies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71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Zero-copy string 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45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string handling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230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5525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string_view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99072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171700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from string literal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486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828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Points to literal, no copy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371850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552825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from std::string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867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"world"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2100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 = str;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5529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Views str without copying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9720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189219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1339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47687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allocations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Efficient string parameters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substring views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without copying data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61960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std::string_view Usage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979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Creating &amp; Using string_view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Practical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Create from literal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 sv = "hello"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24274"/>
            <a:ext cx="190495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View from std::string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 sv2 = str;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Substring without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sv.substr(0, 3) // "hel"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8067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Fast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 == "hello" // O(1)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373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66824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Code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704975"/>
            <a:ext cx="5848203" cy="847724"/>
          </a:xfrm>
          <a:prstGeom prst="roundRect">
            <a:avLst>
              <a:gd name="adj" fmla="val 179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847849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string_view from literal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1621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667000"/>
            <a:ext cx="5848203" cy="1152524"/>
          </a:xfrm>
          <a:prstGeom prst="roundRect">
            <a:avLst>
              <a:gd name="adj" fmla="val 132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2809875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View from std::string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1242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"world"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34290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sv2 = str;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933824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0579" y="4076699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Substring without 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43910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substr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substr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47339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"hel" - no memory allocation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238749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0579" y="5381624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Compare with literal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56959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(sv ==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60388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O(1) comparison, no string copy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5435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std::string_view vs std::string Benefits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807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string_view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81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Allocations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string_view doesn't copy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144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Substring 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string_view::substr is O(1) operation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963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Lightweight: pointer +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950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Faster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for function parameters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0135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943100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 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381250"/>
            <a:ext cx="5848203" cy="2200275"/>
          </a:xfrm>
          <a:prstGeom prst="roundRect">
            <a:avLst>
              <a:gd name="adj" fmla="val 692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76758" y="4572000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79869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81570" y="47434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570" y="5086350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function parameters and temporary string views - zero-copy operations with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O(1)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substrings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3149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std::string_view Common Operations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792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string_view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O(1)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81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Substring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sv.substr(start, length)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144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Remove Prefix/Suffix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sv.remove_prefix(n), remove_suffix(n)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907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Check Empty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sv.empty()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950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Get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8477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sv.length()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467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7629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Operation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14450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76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 world"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76424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Substring - returns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1907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substr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substr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5336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"hello" - O(1) operation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067050"/>
            <a:ext cx="5848203" cy="1981199"/>
          </a:xfrm>
          <a:prstGeom prst="roundRect">
            <a:avLst>
              <a:gd name="adj" fmla="val 769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248024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Remove prefix/suffix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09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trimmed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remove_prefix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528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trimmed = "world"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286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trimmed2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remove_suffix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291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trimmed2 = "hello world"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172075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8679" y="535304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properties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705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empty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{}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false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6048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len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length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63817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cmp = sv.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compare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&gt;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30549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std::string_view Best Practices and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411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90700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574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When to Use string_view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28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2781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7762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705099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for function parameters - no copying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143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296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2906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219449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for substring views - O(1)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657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3810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8049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3733799"/>
            <a:ext cx="31431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allocations - zero-copy string processing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441031"/>
            <a:ext cx="228594" cy="1857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1525" y="428625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25" y="4552949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When NOT to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339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13699" y="5086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08691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10149"/>
            <a:ext cx="32193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Storing string_view referencing destroyed string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4483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13699" y="5601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55956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5822" y="5524499"/>
            <a:ext cx="28479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it's non-owning - lifetime issues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1213485"/>
            <a:ext cx="228594" cy="12572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81550" y="114300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Lifetime Danger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1581149"/>
            <a:ext cx="5848203" cy="2209800"/>
          </a:xfrm>
          <a:prstGeom prst="roundRect">
            <a:avLst>
              <a:gd name="adj" fmla="val 68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1714500"/>
            <a:ext cx="375275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DANGEROUS: string_view outlives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0192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23431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25907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temp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28384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sv = temp; </a:t>
            </a: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temp destroyed here!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30861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3429000"/>
            <a:ext cx="29241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sv now points to freed memory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3905249"/>
            <a:ext cx="584820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0579" y="4038599"/>
            <a:ext cx="32955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SAFE: Ensure string_view lifetime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43434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process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std::string_view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sv)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9174" y="4610099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sv guaranteed valid 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48386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 = sv;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0579" y="50863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76758" y="5467349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00579" y="5636895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43471" y="5581649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Safety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3471" y="5924549"/>
            <a:ext cx="525766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Always ensure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source string outlives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string_view. Use string_view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read-only operations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never for storing/owning data.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1530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554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04999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717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All C++17 Features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28962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335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for clean unpacking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4049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333749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 for optional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39192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3848099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43921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362450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 for type-safe union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4978773"/>
            <a:ext cx="190495" cy="1008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5822" y="48768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 for any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3149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13699" y="5467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81030" y="5479116"/>
            <a:ext cx="190495" cy="1288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85822" y="5391150"/>
            <a:ext cx="27336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 for zero-copy operations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676758" y="2609373"/>
            <a:ext cx="228594" cy="1914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81550" y="2571750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Benefits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1242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3724" y="32772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32715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95847" y="32004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features (C++17)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6385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23724" y="3791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91055" y="3777502"/>
            <a:ext cx="190495" cy="1792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95847" y="3714750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 across all features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1528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23724" y="43059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91055" y="4328272"/>
            <a:ext cx="190495" cy="1064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95847" y="4229100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Cleaner, more expressive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46672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23724" y="48202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91055" y="4827213"/>
            <a:ext cx="190495" cy="1372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4743450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operations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58000"/>
            <a:ext cx="12191695" cy="809625"/>
          </a:xfrm>
          <a:prstGeom prst="rect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66733" y="6964135"/>
            <a:ext cx="285742" cy="2449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04872" y="6915150"/>
            <a:ext cx="80198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872" y="7296149"/>
            <a:ext cx="801984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C++17 features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comprehensively for clean, type-safe, efficient, modern C++ code!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528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std::filesystem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40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std::filesystem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Portable File System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 (fs)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Core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Paths, directories, files, permissions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Cross-Platform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on Windows, Linux, macOS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Object-oriented API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706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00150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3829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819275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Include filesystem 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1431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fs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std::filesystem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01942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200400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Work with paths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524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fs::path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"/tmp/file.txt"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8576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exists = fs::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exists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(p);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400550"/>
            <a:ext cx="5848203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581524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directory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8958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created = fs::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create_directory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"/tmp/newdir"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32447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4164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4864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58293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std::filesystem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portable, type-safe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abstraction over OS file systems - modern replacement for C file APIs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8483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Path Handling with std::filesystem::path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78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fs::path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Path Manipulation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61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Creating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fs::path p = "/tmp/file.txt"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05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Path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4954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filename(), extension(), parent_path()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across all 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OS Independent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Handles / and \ separators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277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572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Path Operations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295399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573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fs::path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"/tmp/data.txt"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09749"/>
            <a:ext cx="14572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filename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133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fname = p.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filename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"data.txt"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009900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190874"/>
            <a:ext cx="15525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extension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514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ext = p.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extension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8576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".txt"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39102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572000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parent directory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8958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fs::path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parent = p.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parent_path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387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"/tmp/"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657850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87501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8197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162675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fs::path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OS-agnostic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path manipulation - handles both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/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\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separators transparently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9816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Directory Operations with std::filesystem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40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Directory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fs Directory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Create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fs::create_directory("newdir")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7661"/>
            <a:ext cx="190495" cy="148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Check Existence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fs::exists("dir")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8175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Iterate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fs::directory_iterator("dir")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40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Remove Directory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fs::remove_all("dir")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087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38299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Directory Operations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76449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22098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exists = fs::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exists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"dir"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552700"/>
            <a:ext cx="25621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if directory exists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009900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31432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created = fs::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create_directory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"newdir"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4671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Returns true if created successfully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943350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4095749"/>
            <a:ext cx="301934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Iterate over directory entries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44005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entry : fs::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directory_iterator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"dir"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46482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std::cout &lt;&lt; entry.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"\n"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48958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257800"/>
            <a:ext cx="5848203" cy="781050"/>
          </a:xfrm>
          <a:prstGeom prst="roundRect">
            <a:avLst>
              <a:gd name="adj" fmla="val 1951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44639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43471" y="5391150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RAII-Safe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3471" y="5695949"/>
            <a:ext cx="38670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directory_iterator automatically closes when out of scope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0386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File Operations with std::filesystem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File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fs File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583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fs::copy_file(src, dest)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64487"/>
            <a:ext cx="190495" cy="14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Move/Rename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fs::rename(old, new)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Delete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400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fs::remove(filename)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664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File Size &amp; Perms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file_size(), permissions()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135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343025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File Operations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781174"/>
            <a:ext cx="58482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924049"/>
            <a:ext cx="116202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Copy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2098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fs::copy_file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"source.txt"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"dest.txt"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667000"/>
            <a:ext cx="58482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2809875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Move/rename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0956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fs::rename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"old.txt"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"new.txt"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62349"/>
            <a:ext cx="58482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695699"/>
            <a:ext cx="136204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Delete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9814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removed = fs::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remove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"file.txt"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448175"/>
            <a:ext cx="58482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4591050"/>
            <a:ext cx="15525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file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8672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uintmax_t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size = fs::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file_size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"file.txt"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57800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43687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43471" y="5381624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3471" y="5724524"/>
            <a:ext cx="525766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Cross-platform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file operations that work consistently on Windows, Linux, and macOS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2009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std::filesystem Practical Examples and Best Practices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794634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0985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87654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File System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09950"/>
            <a:ext cx="2752656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562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54890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3486150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Recursive copy with fs::copy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24299"/>
            <a:ext cx="2752656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27973" y="41630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082863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7723" y="4000500"/>
            <a:ext cx="2295467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Walk directory with recursive_directory_iterator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610099"/>
            <a:ext cx="2752656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7631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574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4686300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Error handling with try/catch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800379" y="22840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05172" y="2247899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0379" y="2686050"/>
            <a:ext cx="3476538" cy="1847849"/>
          </a:xfrm>
          <a:prstGeom prst="roundRect">
            <a:avLst>
              <a:gd name="adj" fmla="val 82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4201" y="2819399"/>
            <a:ext cx="301934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Error handling with 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201" y="3124200"/>
            <a:ext cx="32003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4201" y="3371850"/>
            <a:ext cx="32003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fs::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create_directory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"dir"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4201" y="3657600"/>
            <a:ext cx="32003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(fs::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filesystem_error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e)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4201" y="3905249"/>
            <a:ext cx="32003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handle_error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(e);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4201" y="4152899"/>
            <a:ext cx="32003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0379" y="4648200"/>
            <a:ext cx="3476538" cy="800100"/>
          </a:xfrm>
          <a:prstGeom prst="roundRect">
            <a:avLst>
              <a:gd name="adj" fmla="val 1904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466369" y="49822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952776" y="4840236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200419" y="476250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exists before operations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952776" y="5125986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0419" y="5048250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path for portability across 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3651" y="809625"/>
            <a:ext cx="4248043" cy="6048375"/>
          </a:xfrm>
          <a:prstGeom prst="roundRect">
            <a:avLst>
              <a:gd name="adj" fmla="val 358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05572" y="1031081"/>
            <a:ext cx="228594" cy="1857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48463" y="971550"/>
            <a:ext cx="35813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Important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8463" y="1314450"/>
            <a:ext cx="3581310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filesystem operations throw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fs::filesystem_error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on failure - always handle exceptions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9625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Ultimate Comprehensive Summary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983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84784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C++17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1455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860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32748" y="28200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823701"/>
            <a:ext cx="171445" cy="1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2743200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1432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32748" y="32772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27813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320040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6004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32748" y="37344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73533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9624" y="36576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0576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32748" y="41916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419806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9624" y="4114800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5148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32748" y="46488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467738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624" y="45720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9720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32748" y="51060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1980" y="5123528"/>
            <a:ext cx="171445" cy="1161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9624" y="502920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54292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32748" y="55632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61980" y="557519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9624" y="54864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676758" y="1942623"/>
            <a:ext cx="228594" cy="1914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81550" y="19049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Benefits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2457450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42773" y="25914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72005" y="259233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19649" y="2514600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(C++17)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2914650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42773" y="30486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72005" y="3044005"/>
            <a:ext cx="171445" cy="1603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19649" y="2971800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3371850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42773" y="35058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72005" y="3519180"/>
            <a:ext cx="171445" cy="12443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19649" y="3429000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3829050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42773" y="39630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72005" y="3988824"/>
            <a:ext cx="171445" cy="995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19649" y="3886200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4286250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42773" y="44202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72005" y="4432197"/>
            <a:ext cx="171445" cy="12720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19649" y="434340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operations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4686300"/>
            <a:ext cx="5848203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190348" y="5172710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867253" y="4893945"/>
            <a:ext cx="228594" cy="19430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210144" y="4838699"/>
            <a:ext cx="51624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0144" y="5143500"/>
            <a:ext cx="516242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C++17 features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efficient, portable, modern C++ code!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021054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Class Template Argument Deduction (CTAD)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631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324100"/>
            <a:ext cx="2800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(C++17)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590799"/>
            <a:ext cx="2800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Automatic Template Argument Deduction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24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401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271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200400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505199"/>
            <a:ext cx="26288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deduces template 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86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4163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0615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9623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Reduced Verbosity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4267199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need to specify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48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925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99759"/>
            <a:ext cx="190495" cy="154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724399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Constructor-Based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5029200"/>
            <a:ext cx="25431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Deduces from constructor arguments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794510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724024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Before vs After C++17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16217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2343150"/>
            <a:ext cx="43718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Before C++17: Explicit template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657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Must specify int, 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3543300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8679" y="3714750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C++17 CTAD: Automatic deduction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4038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4381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deduced as pair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8006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017769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81570" y="49625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How CTAD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570" y="53054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Compiler analyzes constructor arguments to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automatically deduce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template arguments - reducing verbosity and improving code readability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8291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with Standard Library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2164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Library CTAD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Automatic Template Deduction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18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Deduces types from constructor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2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std::tuple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types deduced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8175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Container type deduction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821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Fixed-size array deduction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277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5725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295399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428750"/>
            <a:ext cx="200972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std::pair deduction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6954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std::pair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19811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deduces pair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438400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2571750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std::tuple with mixed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28384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std::tuple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2.5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31242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deduces tuple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581400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0579" y="3714750"/>
            <a:ext cx="32955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std::vector with initializer_list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39814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v{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2671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deduces vector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724399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0579" y="4857750"/>
            <a:ext cx="21049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std::array deduction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51244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std::array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54101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deduces array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791200"/>
            <a:ext cx="5848203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9607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43471" y="5905500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3471" y="6210299"/>
            <a:ext cx="525766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CTAD eliminates the need to explicitly specify template arguments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library types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4814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with User-Defined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2164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Deduction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CTAD for Custom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18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Explicit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Guides tell compiler how to deduce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8185"/>
            <a:ext cx="190495" cy="312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-&gt; MyClass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4752"/>
            <a:ext cx="190495" cy="1820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30288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For Custom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30288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When constructors don't provide enough info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User-defined types require guides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753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04900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Deduction Guide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43050"/>
            <a:ext cx="5848203" cy="2505074"/>
          </a:xfrm>
          <a:prstGeom prst="roundRect">
            <a:avLst>
              <a:gd name="adj" fmla="val 608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04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62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struct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28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first, second;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86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b) :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first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(a),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second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(b) {}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752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114675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Deduction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352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619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-&gt;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16242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343400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Usage with CTAD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657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Pair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0006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deduces Pair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 from (1, 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4197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63689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5816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59245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Deduction guides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explicit instructions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template argument deduction on user-defined types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2863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Best Practices and Limitations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2164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CTAD Usage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0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for Standard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Reduces verbosity significantly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05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Add Deduction Guides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 custom user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4752"/>
            <a:ext cx="190495" cy="1820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Public Constructors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Constructors must be accessible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93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Sufficient Information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9717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Constructors must provide enough type info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992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428750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 &amp; Solutions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866899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2019299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PITFALL: Private constructor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3241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5717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</a:t>
            </a: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private: CTAD fails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914650"/>
            <a:ext cx="219069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SOLUTION: Make public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1432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619499"/>
            <a:ext cx="5848203" cy="1466849"/>
          </a:xfrm>
          <a:prstGeom prst="roundRect">
            <a:avLst>
              <a:gd name="adj" fmla="val 1038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77190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PITFALL: Ambiguous overloads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40766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std::pair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4419600"/>
            <a:ext cx="16477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std::pair p(1);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086" y="4419600"/>
            <a:ext cx="173350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Error: ambiguous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7243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Ensure constructors are unambiguous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00650"/>
            <a:ext cx="5848203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38610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05372" y="5334000"/>
            <a:ext cx="52957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5372" y="5638799"/>
            <a:ext cx="5295767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CTAD with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deduction guides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custom types, and test with explicit template arguments when needed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8388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Ultimate Comprehensive Summary with CTAD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26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7640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C++17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431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146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32748" y="26485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652251"/>
            <a:ext cx="171445" cy="1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2571750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 for clean unpacking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9527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32748" y="30867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08763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3009900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 for optional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39089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32748" y="35248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52578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9624" y="34480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8290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32748" y="39630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396946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9624" y="3886200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 for type-safe union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26719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32748" y="44011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442973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624" y="4324349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 for any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7053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32748" y="48393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1980" y="4856828"/>
            <a:ext cx="171445" cy="1161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9624" y="4762500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 for zero-copy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51435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32748" y="52774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61980" y="528944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9624" y="52006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 for file 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558164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32748" y="571563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61980" y="5711005"/>
            <a:ext cx="171445" cy="1603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9624" y="5638799"/>
            <a:ext cx="20097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CTAD for auto template deduction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76758" y="1704498"/>
            <a:ext cx="228594" cy="19145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81550" y="1666874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Benefits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2219324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42773" y="2353309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72005" y="23542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19649" y="2276474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features (C++17)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265747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42773" y="279146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72005" y="2786830"/>
            <a:ext cx="171445" cy="16038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19649" y="2714625"/>
            <a:ext cx="18097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 across all features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309562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42773" y="322961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72005" y="3255399"/>
            <a:ext cx="171445" cy="995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19649" y="3152775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Cleaner, more expressive code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3533774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42773" y="3667759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72005" y="3681105"/>
            <a:ext cx="171445" cy="1244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19649" y="3590924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operations (zero-copy, CTAD)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397192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42773" y="410591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72005" y="4117872"/>
            <a:ext cx="171445" cy="1272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19649" y="4029075"/>
            <a:ext cx="19621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(filesystem, string_view)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4410074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42773" y="4544059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72005" y="4560170"/>
            <a:ext cx="171445" cy="1189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19649" y="4467224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Reduced verbosity (CTAD, binding)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4810124"/>
            <a:ext cx="5848203" cy="1209674"/>
          </a:xfrm>
          <a:prstGeom prst="roundRect">
            <a:avLst>
              <a:gd name="adj" fmla="val 1259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137961" y="5348921"/>
            <a:ext cx="1209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867253" y="5011510"/>
            <a:ext cx="285742" cy="244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305392" y="4962525"/>
            <a:ext cx="50671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5392" y="5305425"/>
            <a:ext cx="506717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comprehensive C++17 features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efficient, portable, modern C++ code! 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8386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Constexpr Lambda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78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18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5050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Constant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5050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Lambda can be used at compile-time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81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Body must be constexpr-capable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77996"/>
            <a:ext cx="190495" cy="356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Must be constexpr-friendly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Static Assert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 be used with static_assert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611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90625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28775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90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57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324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676524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Compile-time callable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static_assert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==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43300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695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623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229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581524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Compile-time calculation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905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static_assert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==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3340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5117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4959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38824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constexpr lambdas enable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evaluation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familiar lambda syntax - perfect for template parameters and static_assert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5912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 Examples and Use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888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32410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59079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Compile-Time Lambdas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24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401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2771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200400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505199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constexpr lambda with static_assert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86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4163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033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962399"/>
            <a:ext cx="23240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Parameters (C++20)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4267199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Generic constexpr lambdas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48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925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89954"/>
            <a:ext cx="190495" cy="1736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724399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5029200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in template parameter checks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013460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942975"/>
            <a:ext cx="24859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381124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1562100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Compile-time square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1885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square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2152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x;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409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2752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static_assert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square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==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3295650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8679" y="3467100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Template parameter (C++20)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37909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is_even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4057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%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4314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657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static_assert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is_even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5086350"/>
            <a:ext cx="5848203" cy="165735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303519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81570" y="52482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570" y="5591175"/>
            <a:ext cx="5181470" cy="990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parameters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use constexpr lambdas as compile-time functions in templates</a:t>
            </a:r>
            <a:r>
              <a:rPr sz="1104"/>
              <a:t>
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Static assertions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validate compile-time conditions</a:t>
            </a:r>
            <a:r>
              <a:rPr sz="1104"/>
              <a:t>
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calculations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replace constexpr functions with lambdas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0104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 Requirements and Best Practices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40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Requirements &amp;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Body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 operations must be constexpr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54096"/>
            <a:ext cx="190495" cy="356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 Captures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Must be constexpr-friendly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Dynamic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28652"/>
            <a:ext cx="190495" cy="1820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Constexpr-Capable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Only constexpr-capable types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468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76400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Limitations &amp; Best Practices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114550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2247899"/>
            <a:ext cx="375275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No mutable (C++20 allows ref captures)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552700"/>
            <a:ext cx="560055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mutable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 </a:t>
            </a: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Not allowed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295650"/>
            <a:ext cx="584820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3429000"/>
            <a:ext cx="38384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Limited to constexpr-capable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7337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5372" y="4000500"/>
            <a:ext cx="219069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std::cout not allowed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42291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44767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8577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0653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0101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3530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constexpr lambdas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calculations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template parameters, and static assertions. Avoid complex logic and runtime-only operations.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1342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Ultimate Comprehensive Summary with ALL Features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173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6684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C++17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733550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30504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32748" y="243903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442701"/>
            <a:ext cx="171445" cy="1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236219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7432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32748" y="28771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287808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280035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1813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32748" y="33153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31623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9624" y="32385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61949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32748" y="37534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375991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9624" y="3676649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0576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32748" y="41916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422018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624" y="41148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49579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32748" y="46297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1980" y="4647278"/>
            <a:ext cx="171445" cy="1161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9624" y="455294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9339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32748" y="50679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61980" y="507989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9624" y="49911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53721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32748" y="55060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61980" y="5501455"/>
            <a:ext cx="171445" cy="1603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9624" y="5429250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CTAD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81024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32748" y="594423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61980" y="5956197"/>
            <a:ext cx="171445" cy="1272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9624" y="5867399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constexpr Lambda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76758" y="1571148"/>
            <a:ext cx="228594" cy="1914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81550" y="1533525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Benefits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208597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42773" y="221996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72005" y="2220861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19649" y="2143125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(C++17)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252412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42773" y="265811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72005" y="2653480"/>
            <a:ext cx="171445" cy="16038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19649" y="2581275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2962274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42773" y="3096259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72005" y="3109605"/>
            <a:ext cx="171445" cy="1244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19649" y="3019424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Efficiency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340042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42773" y="353441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72005" y="3560199"/>
            <a:ext cx="171445" cy="995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19649" y="3457575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3838574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42773" y="3972559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72005" y="3984522"/>
            <a:ext cx="171445" cy="12720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19649" y="389572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operations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427672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42773" y="441071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72005" y="4426820"/>
            <a:ext cx="171445" cy="1189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19649" y="4333875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Reduced verbosity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4714875"/>
            <a:ext cx="5848203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42773" y="4848860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72005" y="4855291"/>
            <a:ext cx="171445" cy="13826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19649" y="4772025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5114925"/>
            <a:ext cx="5848203" cy="1038224"/>
          </a:xfrm>
          <a:prstGeom prst="roundRect">
            <a:avLst>
              <a:gd name="adj" fmla="val 1467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223686" y="5567997"/>
            <a:ext cx="1038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829154" y="5284469"/>
            <a:ext cx="228594" cy="19430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172045" y="5229225"/>
            <a:ext cx="52386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045" y="5534025"/>
            <a:ext cx="5238619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comprehensive C++17 features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efficient, portable, compile-time, modern C++ code! 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529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Nested Namespaces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Hierarchical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955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Namespaces within namespaces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Hierarchical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Logical grouping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Collisions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Prevent name conflicts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Equivalent Notation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Same as single namespace ::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801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09649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47800"/>
            <a:ext cx="5848203" cy="2238375"/>
          </a:xfrm>
          <a:prstGeom prst="roundRect">
            <a:avLst>
              <a:gd name="adj" fmla="val 680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28775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namespace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43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09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263" y="2495550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Inner namespace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function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2575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800475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3981449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Equivalent single namespace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305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3471" y="4581524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Same as nested above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829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function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0958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5149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32144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6769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60198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Nested namespaces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hierarchical organization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logical grouping - equivalent to single namespace with :: notation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7150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 Examples and Use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Practical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017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Project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Logical grouping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05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Access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Outer::Inner::func()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Arbitrary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 be deeply nested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Conflicts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Prevent name collisions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704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0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438149"/>
            <a:ext cx="5848203" cy="1904999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571500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namespace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8953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Project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11620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14192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helper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16859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195262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2447924"/>
            <a:ext cx="5848203" cy="847724"/>
          </a:xfrm>
          <a:prstGeom prst="roundRect">
            <a:avLst>
              <a:gd name="adj" fmla="val 179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0579" y="2590799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Access nested namespace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29146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Project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helper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3409950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0579" y="3562349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Equivalent single namespace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38766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Project_Utils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414337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helper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44005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4905375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0579" y="5048250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Deeply nested example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0579" y="53721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Level1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Level2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Level3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0579" y="562927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deep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0579" y="58959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6286500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494145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81570" y="64388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Cases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1570" y="6781799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Large projects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organize related functionality,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grouping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group related namespaces,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conflicts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prevent name collisions in large codebases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9816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 vs Inline Namespace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146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3840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705099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Nested vs Inline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38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914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3314700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Nested: Logical hierarchical 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528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28222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7723" y="3829050"/>
            <a:ext cx="24764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Inline: Can open existing namespace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671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20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434340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Nested: Better for logical grouping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345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919102"/>
            <a:ext cx="190495" cy="1820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7723" y="4857750"/>
            <a:ext cx="24097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Inline: Better for splitting definitions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99235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428750"/>
            <a:ext cx="27336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Syntax 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1866899"/>
            <a:ext cx="5848203" cy="1809749"/>
          </a:xfrm>
          <a:prstGeom prst="roundRect">
            <a:avLst>
              <a:gd name="adj" fmla="val 84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579" y="2000250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namespace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579" y="23050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0579" y="25527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7768" y="2819399"/>
            <a:ext cx="21049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Inner namespace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0579" y="30479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32956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790949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3924299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Inline namespace (C++17)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42291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inline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9174" y="4495799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Can open existing namespace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47243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51054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313044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5257800"/>
            <a:ext cx="38480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Each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600700"/>
            <a:ext cx="3848003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for logical hierarchical organization</a:t>
            </a:r>
            <a:r>
              <a:rPr sz="1104"/>
              <a:t>
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Inline: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when splitting definitions across multiple files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6009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 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Best Practices &amp; Pitfalls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0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for Large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Organize related functionality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535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Keep Depth Shallow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deep nesting (max 2-3)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240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Document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Help readers understand hierarchy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93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Deep nesting, forgetting closing braces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-86296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-933449"/>
            <a:ext cx="28479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Good vs Bad Namespace Nesting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-495299"/>
            <a:ext cx="5848203" cy="2314575"/>
          </a:xfrm>
          <a:prstGeom prst="roundRect">
            <a:avLst>
              <a:gd name="adj" fmla="val 658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Project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66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5333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helper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790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1057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1400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Easy to read and navigate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1933574"/>
            <a:ext cx="5848203" cy="3371850"/>
          </a:xfrm>
          <a:prstGeom prst="roundRect">
            <a:avLst>
              <a:gd name="adj" fmla="val 451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2114550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BAD: Deep nesting (4+ levels)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2438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Project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26955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System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2962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3228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Math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34861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calc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37528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40195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4276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45434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8679" y="4876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Difficult to maintain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76758" y="5419725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8679" y="5600700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BAD: Forgetting closing braces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38679" y="59245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Project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8679" y="61817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Utils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8679" y="64484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helper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8679" y="67913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Compiler error: missing 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76758" y="7210424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7427594"/>
            <a:ext cx="228594" cy="19430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181570" y="73723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Recommendation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81570" y="771525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nested namespaces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organization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but keep depth manageable (2-3 levels maximum). Prefer shallow nesting for better code maintainability.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2768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Alias and Best Practices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Guidelines &amp; Aliases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94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Alias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Alias = Outer::Inner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6065"/>
            <a:ext cx="190495" cy="1316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Short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Keep namespace names concise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7358"/>
            <a:ext cx="190495" cy="156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Deep Nesting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Max 2-3 levels recommended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3240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Document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Help readers understand hierarchy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468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76325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Namespace Alias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14475"/>
            <a:ext cx="5848203" cy="2457450"/>
          </a:xfrm>
          <a:prstGeom prst="roundRect">
            <a:avLst>
              <a:gd name="adj" fmla="val 620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657350"/>
            <a:ext cx="22859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namespace alias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9621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2098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4574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7050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29527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32765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Alias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Outer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Inner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6004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Simplifies Outer::Inner to Alias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086225"/>
            <a:ext cx="5848203" cy="1466849"/>
          </a:xfrm>
          <a:prstGeom prst="roundRect">
            <a:avLst>
              <a:gd name="adj" fmla="val 1038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4229100"/>
            <a:ext cx="301934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alias with std::filesystem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5339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std::filesystem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485775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51815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Shortens fs::path to path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553074"/>
            <a:ext cx="5848203" cy="1057275"/>
          </a:xfrm>
          <a:prstGeom prst="roundRect">
            <a:avLst>
              <a:gd name="adj" fmla="val 144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732144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43471" y="5676900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3471" y="5981699"/>
            <a:ext cx="5257668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namespace alias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to simplify long namespace names. Keep nesting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shallow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(2-3 levels). Document structure with comments.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1342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Ultimate Comprehensive Summary with ALL Features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982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4780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C++17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714500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 (47 Slides)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478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3628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366501"/>
            <a:ext cx="171445" cy="1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286000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6479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27628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276378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68605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0479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31629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16383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0861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4480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5629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56941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486150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8480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39630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399158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38862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2481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3630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380578"/>
            <a:ext cx="171445" cy="1161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28625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6482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47631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477509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46863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50482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51631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5158555"/>
            <a:ext cx="171445" cy="1603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5086350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CTAD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4483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51798" y="55632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2931" y="5575197"/>
            <a:ext cx="171445" cy="1272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0575" y="5486400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constexpr Lambda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58483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1798" y="59632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2931" y="5969716"/>
            <a:ext cx="171445" cy="13826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575" y="5886450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 Namespace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676758" y="1456848"/>
            <a:ext cx="228594" cy="19145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81550" y="1419225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Benefits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19716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61823" y="20866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52956" y="2087511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00599" y="2009774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(C++17)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23717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61823" y="24866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52956" y="2482030"/>
            <a:ext cx="171445" cy="1603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00599" y="2409825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27717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61823" y="28867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52956" y="2912499"/>
            <a:ext cx="171445" cy="995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00599" y="2809875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31718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61823" y="32867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52956" y="3300105"/>
            <a:ext cx="171445" cy="12443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00599" y="320992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operations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35718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61823" y="36868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52956" y="3698772"/>
            <a:ext cx="171445" cy="12720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00599" y="3609975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operations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39719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61823" y="40868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52956" y="4102970"/>
            <a:ext cx="171445" cy="11890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00599" y="4010024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Reduced verbosity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43719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561823" y="44869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752956" y="4493341"/>
            <a:ext cx="171445" cy="13826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00599" y="4410074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6758" y="47720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5561823" y="48869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52956" y="4893391"/>
            <a:ext cx="171445" cy="13826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000599" y="4810124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Hierarchical organization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6758" y="5133975"/>
            <a:ext cx="5848203" cy="1133475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 rot="16200000">
            <a:off x="5176061" y="5634672"/>
            <a:ext cx="113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5829154" y="5303519"/>
            <a:ext cx="228594" cy="19430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172045" y="5248275"/>
            <a:ext cx="523861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2045" y="5591175"/>
            <a:ext cx="5238619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comprehensive C++17 features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efficient, portable, compile-time, modern, well-organized C++ code!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814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__has_include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9796"/>
            <a:ext cx="228594" cy="174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Header Inclusion Checking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56952"/>
            <a:ext cx="190495" cy="182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Tests if header can be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Boolean result for header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800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800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Conditional compilation across platforms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664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Constant Expression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6193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Evaluates to true/false at compile-time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992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28775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66924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47899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if header exists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562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has_file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905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true if header exists, false otherwise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448049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62902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in conditional compilation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9433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3471" y="4229100"/>
            <a:ext cx="19430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std::optional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476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89584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113019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0577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40067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__has_include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header detection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portable conditional compilation across different platforms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7435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 Examples and Use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Practical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56952"/>
            <a:ext cx="190495" cy="182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Conditional Compilation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#if __has_include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Across platforms/compilers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88387"/>
            <a:ext cx="190495" cy="148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Feature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header availability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2854"/>
            <a:ext cx="190495" cy="1736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Fallback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Provide alternatives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7372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666750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104900"/>
            <a:ext cx="5848203" cy="2581275"/>
          </a:xfrm>
          <a:prstGeom prst="roundRect">
            <a:avLst>
              <a:gd name="adj" fmla="val 59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247775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Conditional header inclusion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5716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5372" y="1847849"/>
            <a:ext cx="7810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#include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5372" y="2114550"/>
            <a:ext cx="136204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modern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4384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#elif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5372" y="2714625"/>
            <a:ext cx="7810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#include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5372" y="2981325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314700"/>
            <a:ext cx="58101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#endif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3800475"/>
            <a:ext cx="5848203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3943350"/>
            <a:ext cx="19430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Feature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26719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452437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using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4886325"/>
            <a:ext cx="48576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#else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513397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Optional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{};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5486400"/>
            <a:ext cx="58101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#endif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8578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0750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60198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63627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__has_include enables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 conditional compilation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across different compilers, C++ versions, and platforms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6864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 Best Practices and Limitations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3596"/>
            <a:ext cx="228594" cy="174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__has_include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90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28098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for Portability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28098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Conditional compilation across compilers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62362"/>
            <a:ext cx="19049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Combine with Macros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__has_cpp_version, __has_feature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8954"/>
            <a:ext cx="190495" cy="1736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Provide Fallbacks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Always have alternative paths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27526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 Content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Only tests header existence, not features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134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43000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Limitations &amp; Best Practices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81149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62125"/>
            <a:ext cx="466713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Best practice: Combine with feature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85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&amp;&amp;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__cplusplus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&gt;=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201703L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3471" y="2362199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std::optional only in C++17+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886075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067050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Limitation: Only checks existence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908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3471" y="3667124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Doesn't guarantee thread support!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190999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371975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Limitation: Not content-aware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95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#if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__has_include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3471" y="4972050"/>
            <a:ext cx="456236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Can't check if header defines specific macro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38162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9879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5435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864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__has_include is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but available in some compilers earlier. It checks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header existence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not features or content.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1342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Ultimate Comprehensive Summary with ALL Features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07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25730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C++17/20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523999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Recap (51 Slides)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574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1723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176001"/>
            <a:ext cx="171445" cy="1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09549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Structure binding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4574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2572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257328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49555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8575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2972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297333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28956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If/switch with initializers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2575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372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37891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295650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std::variant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6576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3772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3801089"/>
            <a:ext cx="171445" cy="94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3695699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0576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172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190078"/>
            <a:ext cx="171445" cy="1161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09574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std::string_view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4577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45726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458459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4495799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std::filesystem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4857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49726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4968055"/>
            <a:ext cx="171445" cy="1603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4895849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CTAD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257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51798" y="53727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2931" y="5384697"/>
            <a:ext cx="171445" cy="1272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0575" y="5295899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constexpr Lambda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56578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1798" y="57727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2931" y="5779216"/>
            <a:ext cx="171445" cy="13826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575" y="5695949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 Namespace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60579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51798" y="61728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42931" y="6180649"/>
            <a:ext cx="171445" cy="135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0575" y="6095999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__has_include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676758" y="1180623"/>
            <a:ext cx="228594" cy="1914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981550" y="114300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Benefits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16954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61823" y="18103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52956" y="181128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00599" y="173355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C++ (C++17/20)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20954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61823" y="22104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52956" y="2205805"/>
            <a:ext cx="171445" cy="1603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00599" y="2133599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249555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61823" y="2610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52956" y="2636274"/>
            <a:ext cx="171445" cy="9955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00599" y="253364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code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289560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61823" y="3010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52956" y="3023880"/>
            <a:ext cx="171445" cy="12443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00599" y="2933699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Efficiency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329565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61823" y="3410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52956" y="3422547"/>
            <a:ext cx="171445" cy="12720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00599" y="3333749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operations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36956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561823" y="38106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752956" y="3826745"/>
            <a:ext cx="171445" cy="1189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00599" y="3733799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Reduced verbosity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6758" y="40957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5561823" y="42106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5752956" y="4217116"/>
            <a:ext cx="171445" cy="13826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000599" y="4133849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6758" y="44957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 rot="16200000">
            <a:off x="5561823" y="46107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52956" y="4617166"/>
            <a:ext cx="171445" cy="138266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000599" y="4533900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Hierarchical organization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76758" y="48958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 Same Side Corner Rectangle 84"/>
          <p:cNvSpPr/>
          <p:nvPr/>
        </p:nvSpPr>
        <p:spPr>
          <a:xfrm rot="16200000">
            <a:off x="5561823" y="50107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5752956" y="5003390"/>
            <a:ext cx="171445" cy="165919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000599" y="4933950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Conditional compilation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676758" y="5257800"/>
            <a:ext cx="5848203" cy="1285875"/>
          </a:xfrm>
          <a:prstGeom prst="roundRect">
            <a:avLst>
              <a:gd name="adj" fmla="val 1185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 Same Side Corner Rectangle 88"/>
          <p:cNvSpPr/>
          <p:nvPr/>
        </p:nvSpPr>
        <p:spPr>
          <a:xfrm rot="16200000">
            <a:off x="5099861" y="5834697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5829154" y="5427344"/>
            <a:ext cx="228594" cy="19430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172045" y="5372100"/>
            <a:ext cx="52386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2045" y="5676900"/>
            <a:ext cx="5238619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these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comprehensive C++17/20 features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type-safe, efficient, portable, compile-time, modern, well-organized, conditionally compiled C++ code! 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