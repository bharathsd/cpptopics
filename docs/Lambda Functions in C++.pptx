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242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Functions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952499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19389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81310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915" y="1904999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2836" y="2019299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3826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5747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5352" y="1904999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7273" y="2019299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8739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659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0264" y="1904999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2185" y="2019299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3176" y="1904999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097" y="2019299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86376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137234"/>
            <a:ext cx="457188" cy="2406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09704" y="3600450"/>
            <a:ext cx="121916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Anonymous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8239" y="3943350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function name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2340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609231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043989"/>
            <a:ext cx="457188" cy="4271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05332" y="3600450"/>
            <a:ext cx="82865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5292" y="394335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Inline function syntax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7948" y="28003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304839" y="35534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098131"/>
            <a:ext cx="457188" cy="3188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77118" y="3600450"/>
            <a:ext cx="10762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7058" y="394335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Functional programming style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4895849"/>
            <a:ext cx="10858228" cy="18288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179629"/>
            <a:ext cx="342891" cy="28969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00139" y="5133975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0139" y="5553074"/>
            <a:ext cx="9886702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Lambda functions provide anonymous, inline function syntax introduced in C++11. They enable functional programming concepts and concise callback implementations while maintaining full C++ type safety and 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1813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Lambdas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7459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581149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are Lambdas?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847849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Anonymous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457450"/>
            <a:ext cx="4629034" cy="885825"/>
          </a:xfrm>
          <a:prstGeom prst="roundRect">
            <a:avLst>
              <a:gd name="adj" fmla="val 1720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619374"/>
            <a:ext cx="430519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Inline anonymous functions introduced in C++11 for functional programming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57187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51774" y="38868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573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686175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Concise Syntax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3990974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need to name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44817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51774" y="47631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33632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4562475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Local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867274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Access enclosing scope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32447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51774" y="563943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550993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3921" y="5438774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Functional Programming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21" y="5743575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Enable FP concepts in C++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689735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1619250"/>
            <a:ext cx="23811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Named Function vs Lambda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2057400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2219324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Named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486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square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x;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3543300"/>
            <a:ext cx="5848203" cy="1362075"/>
          </a:xfrm>
          <a:prstGeom prst="roundRect">
            <a:avLst>
              <a:gd name="adj" fmla="val 11188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061761" y="4158297"/>
            <a:ext cx="1362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7253" y="3695699"/>
            <a:ext cx="55053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Lambda - Anonymous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7253" y="3962399"/>
            <a:ext cx="55053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square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67253" y="4229100"/>
            <a:ext cx="55053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x;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7253" y="4495799"/>
            <a:ext cx="55053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9053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5122545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50672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4101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Lambdas enable functional programming concepts while maintaining full C++ type safety and zero runtime overhead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6383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Syntax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9086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72390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Complete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990599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All components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562100"/>
            <a:ext cx="4629034" cy="1762125"/>
          </a:xfrm>
          <a:prstGeom prst="roundRect">
            <a:avLst>
              <a:gd name="adj" fmla="val 86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6753" y="1790700"/>
            <a:ext cx="176208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[capture list]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53" y="2105024"/>
            <a:ext cx="42289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315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parameters</a:t>
            </a:r>
            <a:r>
              <a:rPr sz="1315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315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-&gt; return type</a:t>
            </a:r>
            <a:r>
              <a:rPr sz="1315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47" y="2476499"/>
            <a:ext cx="50481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body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53" y="2781300"/>
            <a:ext cx="42289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5282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8677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49488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667124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[capture list]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971925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External variables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42912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7440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620185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543425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(parameters)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848225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Function arguments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305425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6203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5502088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419725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-&gt; return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724524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Optional return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6181724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51774" y="64966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6395197"/>
            <a:ext cx="190495" cy="1064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3921" y="6296024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{ body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21" y="6600825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Function implementation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069782"/>
            <a:ext cx="228594" cy="1657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81550" y="2019299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Code Example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457450"/>
            <a:ext cx="5848203" cy="13335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6778" y="2657475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19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</a:t>
            </a:r>
            <a:r>
              <a:rPr sz="119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y) </a:t>
            </a:r>
            <a:r>
              <a:rPr sz="119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-&gt;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19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6778" y="2962274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y;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6778" y="3276599"/>
            <a:ext cx="544816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3933824"/>
            <a:ext cx="2866953" cy="723900"/>
          </a:xfrm>
          <a:prstGeom prst="roundRect">
            <a:avLst>
              <a:gd name="adj" fmla="val 2105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380848" y="42297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4106811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76798" y="4067174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All parts optional except body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8008" y="3933824"/>
            <a:ext cx="2866953" cy="723900"/>
          </a:xfrm>
          <a:prstGeom prst="roundRect">
            <a:avLst>
              <a:gd name="adj" fmla="val 2105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8362098" y="422973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810404" y="420206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058048" y="4048124"/>
            <a:ext cx="235261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deduced if return type omitted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76758" y="4810124"/>
            <a:ext cx="5848203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5027294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81570" y="4972050"/>
            <a:ext cx="46004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Point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570" y="5276850"/>
            <a:ext cx="46004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Return type can be omitted for C++11 lambdas - compiler deduces 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2764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Lists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936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2885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9555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Access External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23223" y="31724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30" y="3105149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[=]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19" y="3105149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all by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5242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23223" y="36677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30" y="3600450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[&amp;]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19" y="360045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all by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019549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23223" y="41630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30" y="4095749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[x]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4095749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x by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514850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23223" y="4658360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30" y="4591050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[&amp;x]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892" y="459105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x by reference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010149"/>
            <a:ext cx="4629034" cy="419100"/>
          </a:xfrm>
          <a:prstGeom prst="roundRect">
            <a:avLst>
              <a:gd name="adj" fmla="val 3636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23223" y="5153659"/>
            <a:ext cx="419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030" y="508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[this]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437" y="508635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this pointer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9753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04874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04925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4287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1790700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Capture x by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0288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 = [=](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0579" y="22955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y;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0579" y="255270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057525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3200400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Capture x by 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0579" y="34480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l2 = [&amp;](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z)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370522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z;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0579" y="3971925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4476750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0579" y="4619625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Capture this pointer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0579" y="4857750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l3 = [this](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w)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5124449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member + w;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5381624"/>
            <a:ext cx="56005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772150"/>
            <a:ext cx="5848203" cy="1009649"/>
          </a:xfrm>
          <a:prstGeom prst="roundRect">
            <a:avLst>
              <a:gd name="adj" fmla="val 1509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00579" y="5951220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43471" y="5895974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Tip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3471" y="6200775"/>
            <a:ext cx="5257668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Prefer reference capture [&amp;x] over value capture [x] for large objects to avoid copying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34349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 Parameters and Return Type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735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Parameters &amp; Return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22478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Explicit vs Deduced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437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Like regular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71525"/>
          </a:xfrm>
          <a:prstGeom prst="roundRect">
            <a:avLst>
              <a:gd name="adj" fmla="val 1975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47011" y="3748722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256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Explicit Return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153348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-&gt;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823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 (C++14)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deduces return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71525"/>
          </a:xfrm>
          <a:prstGeom prst="roundRect">
            <a:avLst>
              <a:gd name="adj" fmla="val 1975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47011" y="5501321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950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21906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Generic Parameters (C++14)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219069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parameters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6135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5430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981199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162174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Explicit return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486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lambda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-&gt;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43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43300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733799"/>
            <a:ext cx="26193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Auto return type (C++14)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048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lambda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3148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572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5000625"/>
            <a:ext cx="5848203" cy="1143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217794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81570" y="51625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570" y="5505450"/>
            <a:ext cx="5181470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explicit return type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-&gt; type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clarity, or let compiler deduce it automatically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keyword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386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by Value vs Reference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7670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590799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857500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Value vs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606165"/>
            <a:ext cx="228594" cy="21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2020" y="3543300"/>
            <a:ext cx="25526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by Value [=]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20" y="3848099"/>
            <a:ext cx="25526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Copies variables - safer but expensive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533900"/>
            <a:ext cx="228594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4419600"/>
            <a:ext cx="31431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 by Reference [&amp;]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20" y="4724399"/>
            <a:ext cx="31431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References variables - faster but need lifecycle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270635"/>
            <a:ext cx="228594" cy="125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81550" y="1200150"/>
            <a:ext cx="8286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6758" y="1638299"/>
            <a:ext cx="5848203" cy="1781174"/>
          </a:xfrm>
          <a:prstGeom prst="roundRect">
            <a:avLst>
              <a:gd name="adj" fmla="val 85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8679" y="180974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Capture by Value [=]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8679" y="207644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=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8679" y="242887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lambda = [=](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8679" y="270509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y; </a:t>
            </a: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x copied at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8679" y="298132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3543300"/>
            <a:ext cx="5848203" cy="1781174"/>
          </a:xfrm>
          <a:prstGeom prst="roundRect">
            <a:avLst>
              <a:gd name="adj" fmla="val 85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679" y="369569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Capture by Reference [&amp;]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396239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=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432434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lambda = [&amp;](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y)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460057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+ y; </a:t>
            </a: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x referenced directly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487680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53149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5545931"/>
            <a:ext cx="228594" cy="1857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1570" y="54864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Important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570" y="58293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When capturing by reference, ensure variables outlive the lambda to avoid dangling references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44806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Generic Lambdas (C++14)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53564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Generic Lambdas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C++14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527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8676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661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67000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97180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Generic function without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256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Perfect Forwarding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21811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std::forward in lambda 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3053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202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5019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19600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Deduced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24399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deduces parameter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815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965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670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95899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Template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600700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 than template functions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9850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914525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Generic Lambda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352675"/>
            <a:ext cx="5848203" cy="1162050"/>
          </a:xfrm>
          <a:prstGeom prst="roundRect">
            <a:avLst>
              <a:gd name="adj" fmla="val 1311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51460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x,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&amp;&amp; y)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790824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std::forward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(y)&gt;(y);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306705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657600"/>
            <a:ext cx="5848203" cy="990599"/>
          </a:xfrm>
          <a:prstGeom prst="roundRect">
            <a:avLst>
              <a:gd name="adj" fmla="val 1538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3800475"/>
            <a:ext cx="21049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Usage with any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4029075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result1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{});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0579" y="4276725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result2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3.14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double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{});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648200"/>
            <a:ext cx="5848203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8653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8101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153024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Generic lambdas enable perfect forwarding without full template syntax, making callbacks and functors more flexible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528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Lambdas with STL Algorithms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20716"/>
            <a:ext cx="228594" cy="1971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71650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Lambdas &amp;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038349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Perfect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098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248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842932"/>
            <a:ext cx="190495" cy="672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24150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Concise Callbacks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28950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named functions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480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630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6152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6234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Inline Usage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67149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Define and use immediately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862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6012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8431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40055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70535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244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394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0150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3874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4355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Full C++ type safety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754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304925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STL Algorithm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743075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904999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std::for_each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171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std::for_each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38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050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238500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400425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std::sort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67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std::sort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33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b)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1909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 &gt; b;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457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000625"/>
            <a:ext cx="5848203" cy="1381124"/>
          </a:xfrm>
          <a:prstGeom prst="roundRect">
            <a:avLst>
              <a:gd name="adj" fmla="val 1103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8679" y="516255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std::transform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429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std::transform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vec.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6864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result.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953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});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1934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Stateful Lambdas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555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90749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Stateful Lambdas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57450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Internal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289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3439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22561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14325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Captured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448049"/>
            <a:ext cx="22859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Access enclosing scope variables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671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821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5821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81449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mutable Keyword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8625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Modify captured variables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7053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203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88240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19650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Preserved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24449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State persists across calls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356360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1285875"/>
            <a:ext cx="21906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Stateful Lambda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724024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188595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count = </a:t>
            </a:r>
            <a:r>
              <a:rPr sz="107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224789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counter = [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2524125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mutable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800350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++count;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3076574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3638550"/>
            <a:ext cx="5848203" cy="1590675"/>
          </a:xfrm>
          <a:prstGeom prst="roundRect">
            <a:avLst>
              <a:gd name="adj" fmla="val 958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8679" y="3819524"/>
            <a:ext cx="31907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Each call increments counter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415289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c1 = counter(); </a:t>
            </a: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4467224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c2 = counter(); </a:t>
            </a: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4781549"/>
            <a:ext cx="552436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26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7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c3 = counter(); </a:t>
            </a:r>
            <a:r>
              <a:rPr sz="107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5229225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446394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81570" y="53911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570" y="5734050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Stateful lambdas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mutable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keyword enable modifying captured variables across invocations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70523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Storing and Using Lambdas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078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943100"/>
            <a:ext cx="11524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09800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Storing Lambdas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743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89873" y="3020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017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19399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Type-Erasure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24200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Can store any callable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05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89873" y="3782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81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581400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Callback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Pass as function arguments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89873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8175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Polymorphic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4820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Different types, same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029200"/>
            <a:ext cx="4629034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89873" y="5306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765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105400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Flexible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410199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Store in containers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754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704975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Storage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143125"/>
            <a:ext cx="5848203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3050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std::function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[](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562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828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371850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543300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like regular function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867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result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171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591050"/>
            <a:ext cx="5848203" cy="1390650"/>
          </a:xfrm>
          <a:prstGeom prst="roundRect">
            <a:avLst>
              <a:gd name="adj" fmla="val 1095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80822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752974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5249811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29214" y="5095874"/>
            <a:ext cx="24383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Store lambdas with different signatures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181570" y="5611761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29214" y="5572125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Pass as callbacks to functions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867553" y="4906911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15197" y="4752974"/>
            <a:ext cx="224784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Type-erasure enables polymorphism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698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533649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 Lambdas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1622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513699" y="33153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41124"/>
            <a:ext cx="171445" cy="995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674" y="3238500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 small, local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6766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13699" y="38296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841647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8674" y="3752849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Callbacks and event handlers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1909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3699" y="43440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34493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674" y="4267199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Algorithm arguments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7053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13699" y="48583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884174"/>
            <a:ext cx="171445" cy="995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4781549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One-time use functions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212181"/>
            <a:ext cx="228594" cy="1857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2171700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7241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42773" y="28581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2884714"/>
            <a:ext cx="152396" cy="9797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19649" y="2800350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Capturing large objects by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8959" y="2724150"/>
            <a:ext cx="2886002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8504974" y="28581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2884714"/>
            <a:ext cx="152396" cy="979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1850" y="2800350"/>
            <a:ext cx="24288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mutable</a:t>
            </a: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stateful lambdas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3200400"/>
            <a:ext cx="2886002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476099" y="3401059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3360964"/>
            <a:ext cx="152396" cy="97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19649" y="3276599"/>
            <a:ext cx="246691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Using lambdas when named functions better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8959" y="3200400"/>
            <a:ext cx="2886002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438300" y="3401059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3360964"/>
            <a:ext cx="152396" cy="9797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81850" y="3276599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Excessive capture lists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3886200"/>
            <a:ext cx="5848203" cy="1638299"/>
          </a:xfrm>
          <a:prstGeom prst="roundRect">
            <a:avLst>
              <a:gd name="adj" fmla="val 930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4109561"/>
            <a:ext cx="228594" cy="16287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4038599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Tips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449733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86322" y="4419600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Lambdas have minimal overhead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4821186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86322" y="474345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Inline when possible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5145036"/>
            <a:ext cx="171445" cy="14932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86322" y="5067299"/>
            <a:ext cx="312412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std::function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when lambda suffices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698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1934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68605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Lambda Functions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575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4105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4049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333749"/>
            <a:ext cx="25621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Anonymous functions, concise 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71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24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192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84809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lists for external variables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39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336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362450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Parameters and return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00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53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479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8768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Capture by value vs reference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21526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23724" y="23056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23000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5847" y="222885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Generic lambdas in C++14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6670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23724" y="28200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281435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5847" y="274320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Lambdas with STL algorithms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31813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23724" y="33343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33287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5847" y="3257550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Stateful lambdas with mutable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6956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23724" y="38487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38430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5847" y="377190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Storing lambdas with std::function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133849"/>
            <a:ext cx="5848203" cy="137160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76778" y="4395301"/>
            <a:ext cx="285742" cy="2390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14917" y="4343400"/>
            <a:ext cx="50100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4917" y="4686300"/>
            <a:ext cx="5010024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lambdas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small, local functions and callbacks in modern C++ for concise, readable code!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