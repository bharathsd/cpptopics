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15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image" Target="../media/image68.png"/><Relationship Id="rId8" Type="http://schemas.openxmlformats.org/officeDocument/2006/relationships/image" Target="../media/image69.png"/><Relationship Id="rId9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219569" y="1066799"/>
            <a:ext cx="761980" cy="761999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06B6D4"/>
              </a:gs>
              <a:gs pos="100000">
                <a:srgbClr val="0891B2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5371965" y="1327484"/>
            <a:ext cx="457188" cy="24063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0144" y="1066799"/>
            <a:ext cx="761980" cy="761999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EC4899"/>
              </a:gs>
              <a:gs pos="100000">
                <a:srgbClr val="DB2777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362540" y="1234239"/>
            <a:ext cx="457188" cy="4271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47943" y="2133599"/>
            <a:ext cx="5695807" cy="761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200"/>
              </a:lnSpc>
              <a:spcBef>
                <a:spcPts val="0"/>
              </a:spcBef>
              <a:spcAft>
                <a:spcPts val="1560"/>
              </a:spcAft>
            </a:pPr>
            <a:r>
              <a:rPr sz="382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C++ </a:t>
            </a:r>
            <a:r>
              <a:rPr sz="3827" b="1">
                <a:solidFill>
                  <a:srgbClr val="06B6D4"/>
                </a:solidFill>
                <a:latin typeface="Inter"/>
                <a:rFonts ascii="Inter" hAnsi="Inter" eastAsia="Inter" cs="Inter"/>
              </a:rPr>
              <a:t>std::generator</a:t>
            </a:r>
            <a:r>
              <a:rPr sz="382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29034" y="3124200"/>
            <a:ext cx="2943151" cy="761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200"/>
              </a:lnSpc>
              <a:spcBef>
                <a:spcPts val="0"/>
              </a:spcBef>
              <a:spcAft>
                <a:spcPts val="2080"/>
              </a:spcAft>
            </a:pPr>
            <a:r>
              <a:rPr sz="382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  <a:r>
              <a:rPr sz="3827" b="1">
                <a:solidFill>
                  <a:srgbClr val="F472B6"/>
                </a:solidFill>
                <a:latin typeface="Inter"/>
                <a:rFonts ascii="Inter" hAnsi="Inter" eastAsia="Inter" cs="Inter"/>
              </a:rPr>
              <a:t>Coroutine</a:t>
            </a:r>
            <a:r>
              <a:rPr sz="382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262" y="4190999"/>
            <a:ext cx="1219169" cy="38100"/>
          </a:xfrm>
          <a:prstGeom prst="roundRect">
            <a:avLst>
              <a:gd name="adj" fmla="val 499950000"/>
            </a:avLst>
          </a:prstGeom>
          <a:gradFill rotWithShape="1">
            <a:gsLst>
              <a:gs pos="0">
                <a:srgbClr val="06B6D4"/>
              </a:gs>
              <a:gs pos="100000">
                <a:srgbClr val="EC4899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85982" y="4533900"/>
            <a:ext cx="682925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3120"/>
              </a:spcAft>
            </a:pPr>
            <a:r>
              <a:rPr sz="1315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A Comprehensive Guide to C++23's First Concrete Coroutine Type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33806" y="5314950"/>
            <a:ext cx="2714557" cy="476249"/>
          </a:xfrm>
          <a:prstGeom prst="roundRect">
            <a:avLst>
              <a:gd name="adj" fmla="val 39996000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71925" y="5448300"/>
            <a:ext cx="4000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C++23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262" y="5429250"/>
            <a:ext cx="4762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|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7708" y="5448300"/>
            <a:ext cx="8000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Coroutines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2085" y="5429250"/>
            <a:ext cx="4762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|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4006" y="5448300"/>
            <a:ext cx="47623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JetBrains Mono"/>
                <a:rFonts ascii="JetBrains Mono" hAnsi="JetBrains Mono" eastAsia="JetBrains Mono" cs="JetBrains Mono"/>
              </a:rPr>
              <a:t>Ranges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A855F7"/>
              </a:gs>
              <a:gs pos="100000">
                <a:srgbClr val="EC4899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549578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Introduction to </a:t>
            </a:r>
            <a:r>
              <a:rPr sz="2392" b="1">
                <a:solidFill>
                  <a:srgbClr val="06B6D4"/>
                </a:solidFill>
                <a:latin typeface="Inter"/>
                <a:rFonts ascii="Inter" hAnsi="Inter" eastAsia="Inter" cs="Inter"/>
              </a:rPr>
              <a:t>std::generator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1601560"/>
            <a:ext cx="285742" cy="244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9624" y="1523999"/>
            <a:ext cx="1342991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What is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2076449"/>
            <a:ext cx="487667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A </a:t>
            </a:r>
            <a:r>
              <a:rPr sz="1315" b="0">
                <a:solidFill>
                  <a:srgbClr val="22D3EE"/>
                </a:solidFill>
                <a:latin typeface="Inter"/>
                <a:rFonts ascii="Inter" hAnsi="Inter" eastAsia="Inter" cs="Inter"/>
              </a:rPr>
              <a:t>view</a:t>
            </a:r>
            <a:r>
              <a:rPr sz="1315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of elements yielded by a coroutine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584" y="2828925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3406" y="2924175"/>
            <a:ext cx="20954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169" y="2790824"/>
            <a:ext cx="260025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C++23 Standard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169" y="3171825"/>
            <a:ext cx="260025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First concrete coroutine type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584" y="3724274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EC4899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23881" y="3855720"/>
            <a:ext cx="228594" cy="1943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19169" y="3686175"/>
            <a:ext cx="2381190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Builds on C++20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169" y="4067174"/>
            <a:ext cx="238119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Uses coroutine framework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" y="4619625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A855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23881" y="4771072"/>
            <a:ext cx="228594" cy="1543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19169" y="4581524"/>
            <a:ext cx="265740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Range Compatible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169" y="4962525"/>
            <a:ext cx="265740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Models </a:t>
            </a:r>
            <a:r>
              <a:rPr sz="1196" b="0">
                <a:solidFill>
                  <a:srgbClr val="C084FC"/>
                </a:solidFill>
                <a:latin typeface="JetBrains Mono"/>
                <a:rFonts ascii="JetBrains Mono" hAnsi="JetBrains Mono" eastAsia="JetBrains Mono" cs="JetBrains Mono"/>
              </a:rPr>
              <a:t>view</a:t>
            </a:r>
            <a:r>
              <a:rPr sz="119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 &amp; </a:t>
            </a:r>
            <a:r>
              <a:rPr sz="1196" b="0">
                <a:solidFill>
                  <a:srgbClr val="C084FC"/>
                </a:solidFill>
                <a:latin typeface="JetBrains Mono"/>
                <a:rFonts ascii="JetBrains Mono" hAnsi="JetBrains Mono" eastAsia="JetBrains Mono" cs="JetBrains Mono"/>
              </a:rPr>
              <a:t>input_range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584" y="5514975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3B82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23881" y="5634990"/>
            <a:ext cx="228594" cy="21717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19169" y="5476875"/>
            <a:ext cx="3066973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Lazy 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9169" y="5857875"/>
            <a:ext cx="306697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Generates sequences on-demand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5432" y="1104900"/>
            <a:ext cx="4876678" cy="504825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943551" y="1343025"/>
            <a:ext cx="4400439" cy="4572000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05432" y="6305550"/>
            <a:ext cx="487667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Coroutine execution flow vs. Function calls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A855F7"/>
              </a:gs>
              <a:gs pos="100000">
                <a:srgbClr val="EC4899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507669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Basic Syntax and </a:t>
            </a:r>
            <a:r>
              <a:rPr sz="2392" b="1">
                <a:solidFill>
                  <a:srgbClr val="06B6D4"/>
                </a:solidFill>
                <a:latin typeface="Inter"/>
                <a:rFonts ascii="Inter" hAnsi="Inter" eastAsia="Inter" cs="Inter"/>
              </a:rPr>
              <a:t>Concepts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1283347"/>
            <a:ext cx="285742" cy="1574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9624" y="1162050"/>
            <a:ext cx="3047923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The </a:t>
            </a:r>
            <a:r>
              <a:rPr sz="1674" b="1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co_yield</a:t>
            </a:r>
            <a:r>
              <a:rPr sz="1674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Keyword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6773" y="1752599"/>
            <a:ext cx="4419489" cy="1085850"/>
          </a:xfrm>
          <a:prstGeom prst="roundRect">
            <a:avLst>
              <a:gd name="adj" fmla="val 2105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6793" y="1952624"/>
            <a:ext cx="4019449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Yields both </a:t>
            </a:r>
            <a:r>
              <a:rPr sz="1315" b="0">
                <a:solidFill>
                  <a:srgbClr val="22D3EE"/>
                </a:solidFill>
                <a:latin typeface="Inter"/>
                <a:rFonts ascii="Inter" hAnsi="Inter" eastAsia="Inter" cs="Inter"/>
              </a:rPr>
              <a:t>control flow</a:t>
            </a:r>
            <a:r>
              <a:rPr sz="1315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and </a:t>
            </a:r>
            <a:r>
              <a:rPr sz="1315" b="0">
                <a:solidFill>
                  <a:srgbClr val="22D3EE"/>
                </a:solidFill>
                <a:latin typeface="Inter"/>
                <a:rFonts ascii="Inter" hAnsi="Inter" eastAsia="Inter" cs="Inter"/>
              </a:rPr>
              <a:t>value</a:t>
            </a:r>
            <a:r>
              <a:rPr sz="1315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back to caller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09584" y="3211285"/>
            <a:ext cx="285742" cy="2449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9624" y="3133724"/>
            <a:ext cx="2809804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How Coroutines 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6773" y="3762374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EC4899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1070" y="3819524"/>
            <a:ext cx="761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5862" y="3724274"/>
            <a:ext cx="4000399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Generalized subroutines that can </a:t>
            </a:r>
            <a:r>
              <a:rPr sz="1196" b="0">
                <a:solidFill>
                  <a:srgbClr val="F472B6"/>
                </a:solidFill>
                <a:latin typeface="Inter"/>
                <a:rFonts ascii="Inter" hAnsi="Inter" eastAsia="Inter" cs="Inter"/>
              </a:rPr>
              <a:t>suspend</a:t>
            </a: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and </a:t>
            </a:r>
            <a:r>
              <a:rPr sz="1196" b="0">
                <a:solidFill>
                  <a:srgbClr val="F472B6"/>
                </a:solidFill>
                <a:latin typeface="Inter"/>
                <a:rFonts ascii="Inter" hAnsi="Inter" eastAsia="Inter" cs="Inter"/>
              </a:rPr>
              <a:t>resume</a:t>
            </a: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6773" y="4495799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EC4899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1070" y="4552949"/>
            <a:ext cx="761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5862" y="4457700"/>
            <a:ext cx="352416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State maintained between suspensions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773" y="4952999"/>
            <a:ext cx="304792" cy="304800"/>
          </a:xfrm>
          <a:prstGeom prst="roundRect">
            <a:avLst>
              <a:gd name="adj" fmla="val 50000"/>
            </a:avLst>
          </a:prstGeom>
          <a:solidFill>
            <a:srgbClr val="EC4899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1070" y="5010149"/>
            <a:ext cx="761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5862" y="4914900"/>
            <a:ext cx="342891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Determined by coroutine's return type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6773" y="5562600"/>
            <a:ext cx="2133546" cy="942975"/>
          </a:xfrm>
          <a:prstGeom prst="roundRect">
            <a:avLst>
              <a:gd name="adj" fmla="val 16161"/>
            </a:avLst>
          </a:prstGeom>
          <a:solidFill>
            <a:srgbClr val="06B6D4">
              <a:alpha val="10000"/>
            </a:srgbClr>
          </a:soli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228694" y="5786157"/>
            <a:ext cx="190495" cy="1624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95387" y="5724524"/>
            <a:ext cx="80960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Suspend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8694" y="6086475"/>
            <a:ext cx="180970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Pause execution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52716" y="5562600"/>
            <a:ext cx="2133546" cy="942975"/>
          </a:xfrm>
          <a:prstGeom prst="roundRect">
            <a:avLst>
              <a:gd name="adj" fmla="val 16161"/>
            </a:avLst>
          </a:prstGeom>
          <a:solidFill>
            <a:srgbClr val="EC4899">
              <a:alpha val="10000"/>
            </a:srgbClr>
          </a:solidFill>
          <a:ln w="8255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514637" y="5786157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781330" y="5724524"/>
            <a:ext cx="74293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Resume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14637" y="6086475"/>
            <a:ext cx="180970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Continue execution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5432" y="1009649"/>
            <a:ext cx="4876678" cy="5238749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943551" y="1238249"/>
            <a:ext cx="4400439" cy="4762500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943551" y="6458510"/>
            <a:ext cx="190495" cy="15127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210244" y="6400800"/>
            <a:ext cx="413374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Coroutine internal mechanism &amp; state management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A855F7"/>
              </a:gs>
              <a:gs pos="100000">
                <a:srgbClr val="EC4899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681972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Basic Example - </a:t>
            </a:r>
            <a:r>
              <a:rPr sz="2392" b="1">
                <a:solidFill>
                  <a:srgbClr val="06B6D4"/>
                </a:solidFill>
                <a:latin typeface="Inter"/>
                <a:rFonts ascii="Inter" hAnsi="Inter" eastAsia="Inter" cs="Inter"/>
              </a:rPr>
              <a:t>Fibonacci Sequence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1403032"/>
            <a:ext cx="228594" cy="1657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2476" y="1314450"/>
            <a:ext cx="212402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Generator Function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1809749"/>
            <a:ext cx="6095847" cy="2333624"/>
          </a:xfrm>
          <a:prstGeom prst="roundRect">
            <a:avLst>
              <a:gd name="adj" fmla="val 9795"/>
            </a:avLst>
          </a:prstGeom>
          <a:solidFill>
            <a:srgbClr val="0F172A">
              <a:alpha val="80000"/>
            </a:srgbClr>
          </a:soli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09584" y="4548187"/>
            <a:ext cx="228594" cy="142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2476" y="4448175"/>
            <a:ext cx="170493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Usage 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84" y="4943475"/>
            <a:ext cx="6095847" cy="1409699"/>
          </a:xfrm>
          <a:prstGeom prst="roundRect">
            <a:avLst>
              <a:gd name="adj" fmla="val 16216"/>
            </a:avLst>
          </a:prstGeom>
          <a:solidFill>
            <a:srgbClr val="0F172A">
              <a:alpha val="80000"/>
            </a:srgbClr>
          </a:soli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24601" y="628650"/>
            <a:ext cx="3657508" cy="1362075"/>
          </a:xfrm>
          <a:prstGeom prst="roundRect">
            <a:avLst>
              <a:gd name="adj" fmla="val 16783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24621" y="857250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219869" y="997323"/>
            <a:ext cx="190495" cy="1008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19909" y="819149"/>
            <a:ext cx="276218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Infinite Generator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9909" y="1219200"/>
            <a:ext cx="2762180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Produces endless sequence of Fibonacci numbers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4601" y="2209800"/>
            <a:ext cx="3657508" cy="1647825"/>
          </a:xfrm>
          <a:prstGeom prst="roundRect">
            <a:avLst>
              <a:gd name="adj" fmla="val 1387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24621" y="2457450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EC4899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219869" y="2586317"/>
            <a:ext cx="190495" cy="1232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19909" y="2419349"/>
            <a:ext cx="276218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Value 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9909" y="2800350"/>
            <a:ext cx="2762180" cy="8572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Uses </a:t>
            </a:r>
            <a:r>
              <a:rPr sz="119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std::exchange</a:t>
            </a:r>
            <a:r>
              <a:rPr sz="119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 to efficiently update sequence values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4601" y="4095749"/>
            <a:ext cx="3657508" cy="1362075"/>
          </a:xfrm>
          <a:prstGeom prst="roundRect">
            <a:avLst>
              <a:gd name="adj" fmla="val 16783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24621" y="4324349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A855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219869" y="4444813"/>
            <a:ext cx="190495" cy="14007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619909" y="4286250"/>
            <a:ext cx="276218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Lazy 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9909" y="4686300"/>
            <a:ext cx="2762180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Only generates values when requested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24601" y="5676900"/>
            <a:ext cx="3657508" cy="1362075"/>
          </a:xfrm>
          <a:prstGeom prst="roundRect">
            <a:avLst>
              <a:gd name="adj" fmla="val 16783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24621" y="5924549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3B82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219869" y="6061822"/>
            <a:ext cx="190495" cy="10645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619909" y="5886450"/>
            <a:ext cx="276218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Range Adaptors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19909" y="6267449"/>
            <a:ext cx="2762180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Works seamlessly with ranges library views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A855F7"/>
              </a:gs>
              <a:gs pos="100000">
                <a:srgbClr val="EC4899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581962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Integration with </a:t>
            </a:r>
            <a:r>
              <a:rPr sz="2392" b="1">
                <a:solidFill>
                  <a:srgbClr val="06B6D4"/>
                </a:solidFill>
                <a:latin typeface="Inter"/>
                <a:rFonts ascii="Inter" hAnsi="Inter" eastAsia="Inter" cs="Inter"/>
              </a:rPr>
              <a:t>Ranges Library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1326832"/>
            <a:ext cx="228594" cy="1657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2476" y="1238249"/>
            <a:ext cx="159063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Using fold_left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1733550"/>
            <a:ext cx="4876678" cy="2752725"/>
          </a:xfrm>
          <a:prstGeom prst="roundRect">
            <a:avLst>
              <a:gd name="adj" fmla="val 8304"/>
            </a:avLst>
          </a:prstGeom>
          <a:solidFill>
            <a:srgbClr val="0F172A">
              <a:alpha val="80000"/>
            </a:srgbClr>
          </a:soli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09584" y="4881562"/>
            <a:ext cx="228594" cy="142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2476" y="4781549"/>
            <a:ext cx="282885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Common Range Adaptors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84" y="5276850"/>
            <a:ext cx="2381190" cy="523874"/>
          </a:xfrm>
          <a:prstGeom prst="roundRect">
            <a:avLst>
              <a:gd name="adj" fmla="val 29090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33406" y="5523939"/>
            <a:ext cx="190495" cy="392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0099" y="5410199"/>
            <a:ext cx="761980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D1D5DB"/>
                </a:solidFill>
                <a:latin typeface="JetBrains Mono"/>
                <a:rFonts ascii="JetBrains Mono" hAnsi="JetBrains Mono" eastAsia="JetBrains Mono" cs="JetBrains Mono"/>
              </a:rPr>
              <a:t>drop(n)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5072" y="5276850"/>
            <a:ext cx="2381190" cy="523874"/>
          </a:xfrm>
          <a:prstGeom prst="roundRect">
            <a:avLst>
              <a:gd name="adj" fmla="val 29090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228894" y="5462307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95587" y="5410199"/>
            <a:ext cx="761980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D1D5DB"/>
                </a:solidFill>
                <a:latin typeface="JetBrains Mono"/>
                <a:rFonts ascii="JetBrains Mono" hAnsi="JetBrains Mono" eastAsia="JetBrains Mono" cs="JetBrains Mono"/>
              </a:rPr>
              <a:t>take(n)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" y="5915025"/>
            <a:ext cx="2381190" cy="523874"/>
          </a:xfrm>
          <a:prstGeom prst="roundRect">
            <a:avLst>
              <a:gd name="adj" fmla="val 29090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33406" y="6118972"/>
            <a:ext cx="190495" cy="10645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00099" y="6038849"/>
            <a:ext cx="1304892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D1D5DB"/>
                </a:solidFill>
                <a:latin typeface="JetBrains Mono"/>
                <a:rFonts ascii="JetBrains Mono" hAnsi="JetBrains Mono" eastAsia="JetBrains Mono" cs="JetBrains Mono"/>
              </a:rPr>
              <a:t>filter(pred)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05072" y="5915025"/>
            <a:ext cx="2381190" cy="523874"/>
          </a:xfrm>
          <a:prstGeom prst="roundRect">
            <a:avLst>
              <a:gd name="adj" fmla="val 29090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3228894" y="6082552"/>
            <a:ext cx="190495" cy="17929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495587" y="6038849"/>
            <a:ext cx="1409664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D1D5DB"/>
                </a:solidFill>
                <a:latin typeface="JetBrains Mono"/>
                <a:rFonts ascii="JetBrains Mono" hAnsi="JetBrains Mono" eastAsia="JetBrains Mono" cs="JetBrains Mono"/>
              </a:rPr>
              <a:t>transform(fn)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05432" y="619124"/>
            <a:ext cx="4876678" cy="3067050"/>
          </a:xfrm>
          <a:prstGeom prst="roundRect">
            <a:avLst>
              <a:gd name="adj" fmla="val 9937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05452" y="819149"/>
            <a:ext cx="4476638" cy="2667000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05432" y="3914775"/>
            <a:ext cx="4876678" cy="942975"/>
          </a:xfrm>
          <a:prstGeom prst="roundRect">
            <a:avLst>
              <a:gd name="adj" fmla="val 24242"/>
            </a:avLst>
          </a:prstGeom>
          <a:solidFill>
            <a:srgbClr val="06B6D4">
              <a:alpha val="10000"/>
            </a:srgbClr>
          </a:soli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867353" y="4188849"/>
            <a:ext cx="190495" cy="6145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134046" y="4076699"/>
            <a:ext cx="126679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Pipe Operator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7353" y="4438649"/>
            <a:ext cx="455283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Chain operations using </a:t>
            </a:r>
            <a:r>
              <a:rPr sz="1076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|</a:t>
            </a:r>
            <a:r>
              <a:rPr sz="107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 for readability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5432" y="5010149"/>
            <a:ext cx="4876678" cy="942975"/>
          </a:xfrm>
          <a:prstGeom prst="roundRect">
            <a:avLst>
              <a:gd name="adj" fmla="val 24242"/>
            </a:avLst>
          </a:prstGeom>
          <a:solidFill>
            <a:srgbClr val="EC4899">
              <a:alpha val="10000"/>
            </a:srgbClr>
          </a:solidFill>
          <a:ln w="8255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867353" y="5233707"/>
            <a:ext cx="190495" cy="16248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134046" y="5172075"/>
            <a:ext cx="139061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Lazy Execution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67353" y="5534025"/>
            <a:ext cx="455283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Values only generated when requested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05432" y="6105525"/>
            <a:ext cx="4876678" cy="942975"/>
          </a:xfrm>
          <a:prstGeom prst="roundRect">
            <a:avLst>
              <a:gd name="adj" fmla="val 24242"/>
            </a:avLst>
          </a:prstGeom>
          <a:solidFill>
            <a:srgbClr val="A855F7">
              <a:alpha val="10000"/>
            </a:srgbClr>
          </a:solidFill>
          <a:ln w="825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867353" y="6331883"/>
            <a:ext cx="190495" cy="15688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134046" y="6267449"/>
            <a:ext cx="177160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Composable Views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67353" y="6629400"/>
            <a:ext cx="4552836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Combine multiple range adaptors seamlessly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A855F7"/>
              </a:gs>
              <a:gs pos="100000">
                <a:srgbClr val="EC4899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704832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Tree Traversal - </a:t>
            </a:r>
            <a:r>
              <a:rPr sz="2392" b="1">
                <a:solidFill>
                  <a:srgbClr val="06B6D4"/>
                </a:solidFill>
                <a:latin typeface="Inter"/>
                <a:rFonts ascii="Inter" hAnsi="Inter" eastAsia="Inter" cs="Inter"/>
              </a:rPr>
              <a:t>Recursive Generators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1092517"/>
            <a:ext cx="228594" cy="177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2476" y="1009649"/>
            <a:ext cx="201924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In-Order Traversal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1504950"/>
            <a:ext cx="6095847" cy="2905124"/>
          </a:xfrm>
          <a:prstGeom prst="roundRect">
            <a:avLst>
              <a:gd name="adj" fmla="val 7868"/>
            </a:avLst>
          </a:prstGeom>
          <a:solidFill>
            <a:srgbClr val="0F172A">
              <a:alpha val="80000"/>
            </a:srgbClr>
          </a:soli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09584" y="4748212"/>
            <a:ext cx="228594" cy="142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2476" y="4648200"/>
            <a:ext cx="70483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Usage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84" y="5143500"/>
            <a:ext cx="6095847" cy="1514475"/>
          </a:xfrm>
          <a:prstGeom prst="roundRect">
            <a:avLst>
              <a:gd name="adj" fmla="val 15094"/>
            </a:avLst>
          </a:prstGeom>
          <a:solidFill>
            <a:srgbClr val="0F172A">
              <a:alpha val="80000"/>
            </a:srgbClr>
          </a:soli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24601" y="990599"/>
            <a:ext cx="3657508" cy="2914650"/>
          </a:xfrm>
          <a:prstGeom prst="roundRect">
            <a:avLst>
              <a:gd name="adj" fmla="val 10457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86522" y="1143000"/>
            <a:ext cx="3333666" cy="2286000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86522" y="3505199"/>
            <a:ext cx="33336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In-Order: Left → Root → Right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4601" y="4095749"/>
            <a:ext cx="3657508" cy="1200150"/>
          </a:xfrm>
          <a:prstGeom prst="roundRect">
            <a:avLst>
              <a:gd name="adj" fmla="val 19047"/>
            </a:avLst>
          </a:prstGeom>
          <a:solidFill>
            <a:srgbClr val="06B6D4">
              <a:alpha val="10000"/>
            </a:srgbClr>
          </a:soli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86522" y="4286250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81770" y="4398308"/>
            <a:ext cx="190495" cy="15688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581810" y="4248150"/>
            <a:ext cx="283837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Recursive Yielding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81810" y="4610099"/>
            <a:ext cx="2838379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std::ranges::elements_of</a:t>
            </a:r>
            <a:r>
              <a:rPr sz="107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 flattens nested generators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4601" y="5486400"/>
            <a:ext cx="3657508" cy="1200150"/>
          </a:xfrm>
          <a:prstGeom prst="roundRect">
            <a:avLst>
              <a:gd name="adj" fmla="val 19047"/>
            </a:avLst>
          </a:prstGeom>
          <a:solidFill>
            <a:srgbClr val="EC4899">
              <a:alpha val="10000"/>
            </a:srgbClr>
          </a:solidFill>
          <a:ln w="8255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86522" y="5676900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EC4899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81770" y="5814172"/>
            <a:ext cx="190495" cy="10645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581810" y="5638799"/>
            <a:ext cx="283837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Elegant Recursion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81810" y="6000750"/>
            <a:ext cx="2838379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Complex algorithms made simple with coroutines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A855F7"/>
              </a:gs>
              <a:gs pos="100000">
                <a:srgbClr val="EC4899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618157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Comparison with </a:t>
            </a:r>
            <a:r>
              <a:rPr sz="2392" b="1">
                <a:solidFill>
                  <a:srgbClr val="06B6D4"/>
                </a:solidFill>
                <a:latin typeface="Inter"/>
                <a:rFonts ascii="Inter" hAnsi="Inter" eastAsia="Inter" cs="Inter"/>
              </a:rPr>
              <a:t>Custom Ranges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1399300"/>
            <a:ext cx="285742" cy="2303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9624" y="1314450"/>
            <a:ext cx="1885902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Custom Range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1866899"/>
            <a:ext cx="1876378" cy="504824"/>
          </a:xfrm>
          <a:prstGeom prst="roundRect">
            <a:avLst>
              <a:gd name="adj" fmla="val 30188"/>
            </a:avLst>
          </a:prstGeom>
          <a:solidFill>
            <a:srgbClr val="EF4444">
              <a:alpha val="10000"/>
            </a:srgbClr>
          </a:solidFill>
          <a:ln w="825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3406" y="1990724"/>
            <a:ext cx="162873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87171"/>
                </a:solidFill>
                <a:latin typeface="Inter"/>
                <a:rFonts ascii="Inter" hAnsi="Inter" eastAsia="Inter" cs="Inter"/>
              </a:rPr>
              <a:t>Complex &amp; Verbose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09584" y="2638985"/>
            <a:ext cx="190495" cy="1512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377" y="2562224"/>
            <a:ext cx="295267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Iterator class with member types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09584" y="3039035"/>
            <a:ext cx="190495" cy="1512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377" y="2962274"/>
            <a:ext cx="190495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Multiple constructors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09584" y="3439085"/>
            <a:ext cx="190495" cy="1512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377" y="3362324"/>
            <a:ext cx="173350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Operator overloads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09584" y="3839135"/>
            <a:ext cx="190495" cy="1512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4377" y="3762374"/>
            <a:ext cx="217164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enable_borrowed_range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09584" y="4239185"/>
            <a:ext cx="190495" cy="15127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4377" y="4162424"/>
            <a:ext cx="169540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~50+ lines of 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584" y="4676775"/>
            <a:ext cx="4867153" cy="16764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1505" y="4838699"/>
            <a:ext cx="454331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Capabilities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71505" y="5318176"/>
            <a:ext cx="171445" cy="10784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19149" y="5238749"/>
            <a:ext cx="122869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Forward Range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71505" y="5661076"/>
            <a:ext cx="171445" cy="10784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19149" y="5581649"/>
            <a:ext cx="77150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Copyable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71505" y="6003976"/>
            <a:ext cx="171445" cy="10784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19149" y="5924549"/>
            <a:ext cx="134299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Borrowed Range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705432" y="580247"/>
            <a:ext cx="285742" cy="26825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105472" y="514350"/>
            <a:ext cx="1838279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std::generator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05432" y="1066799"/>
            <a:ext cx="1685882" cy="504824"/>
          </a:xfrm>
          <a:prstGeom prst="roundRect">
            <a:avLst>
              <a:gd name="adj" fmla="val 30188"/>
            </a:avLst>
          </a:prstGeom>
          <a:solidFill>
            <a:srgbClr val="06B6D4">
              <a:alpha val="10000"/>
            </a:srgbClr>
          </a:soli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29254" y="1190625"/>
            <a:ext cx="143823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Simple &amp; Concise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05432" y="1762125"/>
            <a:ext cx="4876678" cy="2381250"/>
          </a:xfrm>
          <a:prstGeom prst="roundRect">
            <a:avLst>
              <a:gd name="adj" fmla="val 8000"/>
            </a:avLst>
          </a:prstGeom>
          <a:solidFill>
            <a:srgbClr val="0F172A">
              <a:alpha val="80000"/>
            </a:srgbClr>
          </a:soli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705432" y="4381499"/>
            <a:ext cx="4876678" cy="16764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67353" y="4543425"/>
            <a:ext cx="455283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Trade-offs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867353" y="5004926"/>
            <a:ext cx="171445" cy="1437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114997" y="4943475"/>
            <a:ext cx="208592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Input Range (single-pass)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867353" y="5347826"/>
            <a:ext cx="171445" cy="14379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114997" y="5286375"/>
            <a:ext cx="86675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Move-only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867353" y="5690726"/>
            <a:ext cx="171445" cy="14379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114997" y="5629275"/>
            <a:ext cx="168588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Not Borrowed Range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05432" y="6248400"/>
            <a:ext cx="4876678" cy="904874"/>
          </a:xfrm>
          <a:prstGeom prst="roundRect">
            <a:avLst>
              <a:gd name="adj" fmla="val 16842"/>
            </a:avLst>
          </a:prstGeom>
          <a:solidFill>
            <a:srgbClr val="06B6D4">
              <a:alpha val="10000"/>
            </a:srgbClr>
          </a:soli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867353" y="6478905"/>
            <a:ext cx="228594" cy="20573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210244" y="6410324"/>
            <a:ext cx="374323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Clear Winner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10244" y="6734175"/>
            <a:ext cx="374323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Simplicity &amp; maintainability for most use cases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A855F7"/>
              </a:gs>
              <a:gs pos="100000">
                <a:srgbClr val="EC4899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607679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Design Decisions and </a:t>
            </a:r>
            <a:r>
              <a:rPr sz="2392" b="1">
                <a:solidFill>
                  <a:srgbClr val="06B6D4"/>
                </a:solidFill>
                <a:latin typeface="Inter"/>
                <a:rFonts ascii="Inter" hAnsi="Inter" eastAsia="Inter" cs="Inter"/>
              </a:rPr>
              <a:t>Trade-offs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152524"/>
            <a:ext cx="5371965" cy="19431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7703" y="1390650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EF444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523222"/>
            <a:ext cx="285742" cy="2682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33486" y="1390650"/>
            <a:ext cx="4209944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780"/>
              </a:spcAft>
            </a:pPr>
            <a:r>
              <a:rPr sz="1554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Move-only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3486" y="1876424"/>
            <a:ext cx="420994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Not copyable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3486" y="2238375"/>
            <a:ext cx="4209944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Coroutine state is a </a:t>
            </a:r>
            <a:r>
              <a:rPr sz="1196" b="1">
                <a:solidFill>
                  <a:srgbClr val="F87171"/>
                </a:solidFill>
                <a:latin typeface="Inter"/>
                <a:rFonts ascii="Inter" hAnsi="Inter" eastAsia="Inter" cs="Inter"/>
              </a:rPr>
              <a:t>unique resource</a:t>
            </a: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— cannot deep copy, all handles see same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144" y="1152524"/>
            <a:ext cx="5371965" cy="19431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8263" y="1390650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EAB30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572085" y="1566959"/>
            <a:ext cx="285742" cy="1807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34046" y="1390650"/>
            <a:ext cx="4209944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780"/>
              </a:spcAft>
            </a:pPr>
            <a:r>
              <a:rPr sz="1554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Input_range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4046" y="1876424"/>
            <a:ext cx="420994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Single-pass, not forward_range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4046" y="2238375"/>
            <a:ext cx="4209944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Limits some algorithms — </a:t>
            </a:r>
            <a:r>
              <a:rPr sz="1196" b="1">
                <a:solidFill>
                  <a:srgbClr val="FACC15"/>
                </a:solidFill>
                <a:latin typeface="Inter"/>
                <a:rFonts ascii="Inter" hAnsi="Inter" eastAsia="Inter" cs="Inter"/>
              </a:rPr>
              <a:t>cannot use</a:t>
            </a: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with </a:t>
            </a:r>
            <a:r>
              <a:rPr sz="1196" b="0">
                <a:solidFill>
                  <a:srgbClr val="FACC15"/>
                </a:solidFill>
                <a:latin typeface="JetBrains Mono"/>
                <a:rFonts ascii="JetBrains Mono" hAnsi="JetBrains Mono" eastAsia="JetBrains Mono" cs="JetBrains Mono"/>
              </a:rPr>
              <a:t>max_element</a:t>
            </a: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or other multi-pass operations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584" y="3324225"/>
            <a:ext cx="5371965" cy="2257425"/>
          </a:xfrm>
          <a:prstGeom prst="roundRect">
            <a:avLst>
              <a:gd name="adj" fmla="val 1012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7703" y="3562349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A855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71525" y="3694922"/>
            <a:ext cx="285742" cy="26825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33486" y="3562349"/>
            <a:ext cx="4209944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780"/>
              </a:spcAft>
            </a:pPr>
            <a:r>
              <a:rPr sz="1554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Synchronous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3486" y="4048124"/>
            <a:ext cx="420994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No </a:t>
            </a:r>
            <a:r>
              <a:rPr sz="1196" b="0">
                <a:solidFill>
                  <a:srgbClr val="C084FC"/>
                </a:solidFill>
                <a:latin typeface="JetBrains Mono"/>
                <a:rFonts ascii="JetBrains Mono" hAnsi="JetBrains Mono" eastAsia="JetBrains Mono" cs="JetBrains Mono"/>
              </a:rPr>
              <a:t>co_await</a:t>
            </a:r>
            <a:r>
              <a:rPr sz="119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3486" y="4410074"/>
            <a:ext cx="4209944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Cannot </a:t>
            </a:r>
            <a:r>
              <a:rPr sz="1196" b="1">
                <a:solidFill>
                  <a:srgbClr val="C084FC"/>
                </a:solidFill>
                <a:latin typeface="Inter"/>
                <a:rFonts ascii="Inter" hAnsi="Inter" eastAsia="Inter" cs="Inter"/>
              </a:rPr>
              <a:t>co_await</a:t>
            </a: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async operations inside generator body — purely synchronous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0144" y="3324225"/>
            <a:ext cx="5371965" cy="2257425"/>
          </a:xfrm>
          <a:prstGeom prst="roundRect">
            <a:avLst>
              <a:gd name="adj" fmla="val 1012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48263" y="3562349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572085" y="3718248"/>
            <a:ext cx="285742" cy="22160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134046" y="3562349"/>
            <a:ext cx="4209944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780"/>
              </a:spcAft>
            </a:pPr>
            <a:r>
              <a:rPr sz="1554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Recursive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4046" y="4048124"/>
            <a:ext cx="420994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Can yield generators directly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4046" y="4410074"/>
            <a:ext cx="4209944" cy="9334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Enables recursive algorithms — use </a:t>
            </a:r>
            <a:r>
              <a:rPr sz="1196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std::ranges::elements_of</a:t>
            </a: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to flatten nested generators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9584" y="5800725"/>
            <a:ext cx="10972525" cy="714375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06B6D4">
                  <a:alpha val="10000"/>
                </a:srgbClr>
              </a:gs>
              <a:gs pos="100000">
                <a:srgbClr val="EC4899">
                  <a:alpha val="10000"/>
                </a:srgbClr>
              </a:gs>
            </a:gsLst>
            <a:lin scaled="0" ang="10800000"/>
          </a:gra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09604" y="6065520"/>
            <a:ext cx="228594" cy="19430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52496" y="6000750"/>
            <a:ext cx="760075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Design choices prioritize </a:t>
            </a:r>
            <a:r>
              <a:rPr sz="1315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simplicity</a:t>
            </a:r>
            <a:r>
              <a:rPr sz="1315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and </a:t>
            </a:r>
            <a:r>
              <a:rPr sz="1315" b="1">
                <a:solidFill>
                  <a:srgbClr val="F472B6"/>
                </a:solidFill>
                <a:latin typeface="Inter"/>
                <a:rFonts ascii="Inter" hAnsi="Inter" eastAsia="Inter" cs="Inter"/>
              </a:rPr>
              <a:t>performance</a:t>
            </a:r>
            <a:r>
              <a:rPr sz="1315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for common use cases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A855F7"/>
              </a:gs>
              <a:gs pos="100000">
                <a:srgbClr val="EC4899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395277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Advanced </a:t>
            </a:r>
            <a:r>
              <a:rPr sz="2392" b="1">
                <a:solidFill>
                  <a:srgbClr val="06B6D4"/>
                </a:solidFill>
                <a:latin typeface="Inter"/>
                <a:rFonts ascii="Inter" hAnsi="Inter" eastAsia="Inter" cs="Inter"/>
              </a:rPr>
              <a:t>Use Cases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981074"/>
            <a:ext cx="3505112" cy="6286500"/>
          </a:xfrm>
          <a:prstGeom prst="roundRect">
            <a:avLst>
              <a:gd name="adj" fmla="val 6521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7703" y="1219200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06B6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363435"/>
            <a:ext cx="285742" cy="244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95387" y="1285875"/>
            <a:ext cx="2047823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Lazy Evaluation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47703" y="2039886"/>
            <a:ext cx="171445" cy="1493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3446" y="1943100"/>
            <a:ext cx="2743131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Generate values </a:t>
            </a:r>
            <a:r>
              <a:rPr sz="1315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on-demand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47703" y="2820936"/>
            <a:ext cx="171445" cy="14932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33446" y="2724150"/>
            <a:ext cx="2743131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Defer computation until needed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47703" y="3601986"/>
            <a:ext cx="171445" cy="14932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33446" y="3505199"/>
            <a:ext cx="248596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Conserve memory usage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47703" y="4068711"/>
            <a:ext cx="171445" cy="14932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33446" y="3971925"/>
            <a:ext cx="2743131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Handle infinite sequences naturally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7703" y="5905500"/>
            <a:ext cx="3028874" cy="1123949"/>
          </a:xfrm>
          <a:prstGeom prst="roundRect">
            <a:avLst>
              <a:gd name="adj" fmla="val 13559"/>
            </a:avLst>
          </a:prstGeom>
          <a:solidFill>
            <a:srgbClr val="0F172A">
              <a:alpha val="60000"/>
            </a:srgbClr>
          </a:soli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43291" y="981074"/>
            <a:ext cx="3505112" cy="6286500"/>
          </a:xfrm>
          <a:prstGeom prst="roundRect">
            <a:avLst>
              <a:gd name="adj" fmla="val 6521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81410" y="1352549"/>
            <a:ext cx="523861" cy="533399"/>
          </a:xfrm>
          <a:prstGeom prst="roundRect">
            <a:avLst>
              <a:gd name="adj" fmla="val 43636"/>
            </a:avLst>
          </a:prstGeom>
          <a:solidFill>
            <a:srgbClr val="A855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695707" y="1546354"/>
            <a:ext cx="285742" cy="14579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19569" y="1219200"/>
            <a:ext cx="2390715" cy="800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Infinite Sequences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581410" y="2306586"/>
            <a:ext cx="171445" cy="14932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867153" y="2209800"/>
            <a:ext cx="2743131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Generate unbounded data streams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581410" y="3087636"/>
            <a:ext cx="171445" cy="14932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867153" y="2990849"/>
            <a:ext cx="257168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Fibonacci, prime numbers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581410" y="3554361"/>
            <a:ext cx="171445" cy="14932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867153" y="3457575"/>
            <a:ext cx="248596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Random number streams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581410" y="4021086"/>
            <a:ext cx="171445" cy="14932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867153" y="3924299"/>
            <a:ext cx="271455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Process with </a:t>
            </a:r>
            <a:r>
              <a:rPr sz="1315" b="0">
                <a:solidFill>
                  <a:srgbClr val="C084FC"/>
                </a:solidFill>
                <a:latin typeface="JetBrains Mono"/>
                <a:rFonts ascii="JetBrains Mono" hAnsi="JetBrains Mono" eastAsia="JetBrains Mono" cs="JetBrains Mono"/>
              </a:rPr>
              <a:t>views::take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81410" y="5353049"/>
            <a:ext cx="3028874" cy="1676400"/>
          </a:xfrm>
          <a:prstGeom prst="roundRect">
            <a:avLst>
              <a:gd name="adj" fmla="val 9090"/>
            </a:avLst>
          </a:prstGeom>
          <a:solidFill>
            <a:srgbClr val="0F172A">
              <a:alpha val="60000"/>
            </a:srgbClr>
          </a:soli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76998" y="981074"/>
            <a:ext cx="3505112" cy="6286500"/>
          </a:xfrm>
          <a:prstGeom prst="roundRect">
            <a:avLst>
              <a:gd name="adj" fmla="val 6521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15117" y="1219200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EC4899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438939" y="1351772"/>
            <a:ext cx="285742" cy="26825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962800" y="1285875"/>
            <a:ext cx="1771605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Type-Erasure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315117" y="2039886"/>
            <a:ext cx="171445" cy="14932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600859" y="1943100"/>
            <a:ext cx="2743131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Use generators </a:t>
            </a:r>
            <a:r>
              <a:rPr sz="1315" b="1">
                <a:solidFill>
                  <a:srgbClr val="F472B6"/>
                </a:solidFill>
                <a:latin typeface="Inter"/>
                <a:rFonts ascii="Inter" hAnsi="Inter" eastAsia="Inter" cs="Inter"/>
              </a:rPr>
              <a:t>without templates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315117" y="2820936"/>
            <a:ext cx="171445" cy="14932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600859" y="2724150"/>
            <a:ext cx="2743131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Enables modular library design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315117" y="3601986"/>
            <a:ext cx="171445" cy="14932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600859" y="3505199"/>
            <a:ext cx="2743131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Hide implementation details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315117" y="4383036"/>
            <a:ext cx="171445" cy="14932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600859" y="4286250"/>
            <a:ext cx="216212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Useful for library APIs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15117" y="4791075"/>
            <a:ext cx="3028874" cy="2238375"/>
          </a:xfrm>
          <a:prstGeom prst="roundRect">
            <a:avLst>
              <a:gd name="adj" fmla="val 6808"/>
            </a:avLst>
          </a:prstGeom>
          <a:solidFill>
            <a:srgbClr val="0F172A">
              <a:alpha val="60000"/>
            </a:srgbClr>
          </a:soli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09584" y="5972175"/>
            <a:ext cx="10972525" cy="714375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06B6D4">
                  <a:alpha val="10000"/>
                </a:srgbClr>
              </a:gs>
              <a:gs pos="100000">
                <a:srgbClr val="EC4899">
                  <a:alpha val="10000"/>
                </a:srgbClr>
              </a:gs>
            </a:gsLst>
            <a:lin scaled="0" ang="10800000"/>
          </a:gra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09604" y="6227444"/>
            <a:ext cx="228594" cy="19430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152496" y="6172200"/>
            <a:ext cx="791507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Choose generators for </a:t>
            </a:r>
            <a:r>
              <a:rPr sz="1315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lazy computation</a:t>
            </a:r>
            <a:r>
              <a:rPr sz="1315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, </a:t>
            </a:r>
            <a:r>
              <a:rPr sz="1315" b="1">
                <a:solidFill>
                  <a:srgbClr val="C084FC"/>
                </a:solidFill>
                <a:latin typeface="Inter"/>
                <a:rFonts ascii="Inter" hAnsi="Inter" eastAsia="Inter" cs="Inter"/>
              </a:rPr>
              <a:t>unbounded streams</a:t>
            </a:r>
            <a:r>
              <a:rPr sz="1315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, or </a:t>
            </a:r>
            <a:r>
              <a:rPr sz="1315" b="1">
                <a:solidFill>
                  <a:srgbClr val="F472B6"/>
                </a:solidFill>
                <a:latin typeface="Inter"/>
                <a:rFonts ascii="Inter" hAnsi="Inter" eastAsia="Inter" cs="Inter"/>
              </a:rPr>
              <a:t>modular APIs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A855F7"/>
              </a:gs>
              <a:gs pos="100000">
                <a:srgbClr val="EC4899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535291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Performance </a:t>
            </a:r>
            <a:r>
              <a:rPr sz="2392" b="1">
                <a:solidFill>
                  <a:srgbClr val="06B6D4"/>
                </a:solidFill>
                <a:latin typeface="Inter"/>
                <a:rFonts ascii="Inter" hAnsi="Inter" eastAsia="Inter" cs="Inter"/>
              </a:rPr>
              <a:t>Considerations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990599"/>
            <a:ext cx="5371965" cy="2143125"/>
          </a:xfrm>
          <a:prstGeom prst="roundRect">
            <a:avLst>
              <a:gd name="adj" fmla="val 1066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47703" y="1298898"/>
            <a:ext cx="285742" cy="2216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47743" y="1228725"/>
            <a:ext cx="2295467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Memory Allocation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47703" y="1860447"/>
            <a:ext cx="171445" cy="1272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3446" y="1752599"/>
            <a:ext cx="349558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Coroutine state on heap (</a:t>
            </a:r>
            <a:r>
              <a:rPr sz="1196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unique_ptr</a:t>
            </a: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47703" y="2279547"/>
            <a:ext cx="171445" cy="1272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3446" y="2171700"/>
            <a:ext cx="313364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Each generator owns its own stack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47703" y="2698647"/>
            <a:ext cx="171445" cy="1272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33446" y="2590799"/>
            <a:ext cx="397182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Nested generators maintain separate stacks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4" y="990599"/>
            <a:ext cx="5371965" cy="2143125"/>
          </a:xfrm>
          <a:prstGeom prst="roundRect">
            <a:avLst>
              <a:gd name="adj" fmla="val 1066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48263" y="1293067"/>
            <a:ext cx="285742" cy="23326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48303" y="1228725"/>
            <a:ext cx="2343091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Stack Management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48263" y="1860447"/>
            <a:ext cx="171445" cy="1272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34006" y="1752599"/>
            <a:ext cx="344796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Stack grows as generators are yielded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48263" y="2279547"/>
            <a:ext cx="171445" cy="1272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34006" y="2171700"/>
            <a:ext cx="313364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Shrinks when generators complete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48263" y="2698647"/>
            <a:ext cx="171445" cy="12720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734006" y="2590799"/>
            <a:ext cx="244786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Efficient for deep recursion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584" y="3362324"/>
            <a:ext cx="10972525" cy="1762125"/>
          </a:xfrm>
          <a:prstGeom prst="roundRect">
            <a:avLst>
              <a:gd name="adj" fmla="val 1297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47703" y="3658280"/>
            <a:ext cx="285742" cy="26533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47743" y="3600450"/>
            <a:ext cx="2162120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Performance Tips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47703" y="4221111"/>
            <a:ext cx="171445" cy="14932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33446" y="4124324"/>
            <a:ext cx="356226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Prefer value types over reference types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172045" y="4221111"/>
            <a:ext cx="171445" cy="14932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457788" y="4124324"/>
            <a:ext cx="453378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Use </a:t>
            </a:r>
            <a:r>
              <a:rPr sz="1196" b="0">
                <a:solidFill>
                  <a:srgbClr val="FACC15"/>
                </a:solidFill>
                <a:latin typeface="JetBrains Mono"/>
                <a:rFonts ascii="JetBrains Mono" hAnsi="JetBrains Mono" eastAsia="JetBrains Mono" cs="JetBrains Mono"/>
              </a:rPr>
              <a:t>std::pmr::generator</a:t>
            </a: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for custom allocators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47703" y="4678311"/>
            <a:ext cx="171445" cy="14932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33446" y="4581524"/>
            <a:ext cx="326699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Avoid excessive nesting in hot paths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172045" y="4678311"/>
            <a:ext cx="171445" cy="14932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457788" y="4581524"/>
            <a:ext cx="368608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Leverage move semantics for generators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9584" y="5314950"/>
            <a:ext cx="10972525" cy="1362075"/>
          </a:xfrm>
          <a:prstGeom prst="roundRect">
            <a:avLst>
              <a:gd name="adj" fmla="val 16783"/>
            </a:avLst>
          </a:prstGeom>
          <a:gradFill rotWithShape="1">
            <a:gsLst>
              <a:gs pos="0">
                <a:srgbClr val="06B6D4">
                  <a:alpha val="10000"/>
                </a:srgbClr>
              </a:gs>
              <a:gs pos="100000">
                <a:srgbClr val="EC4899">
                  <a:alpha val="10000"/>
                </a:srgbClr>
              </a:gs>
            </a:gsLst>
            <a:lin scaled="0" ang="10800000"/>
          </a:gra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09604" y="5623929"/>
            <a:ext cx="285742" cy="20119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247743" y="5514975"/>
            <a:ext cx="1013434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Benchmarking Results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47743" y="5905500"/>
            <a:ext cx="10134346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Performance comparable to iterator-based ranges for most use cases. Overhead is minimal for typical scenarios and often offset by code simplicity and maintainability benefits.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A855F7"/>
              </a:gs>
              <a:gs pos="100000">
                <a:srgbClr val="EC4899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353368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Practical </a:t>
            </a:r>
            <a:r>
              <a:rPr sz="2392" b="1">
                <a:solidFill>
                  <a:srgbClr val="06B6D4"/>
                </a:solidFill>
                <a:latin typeface="Inter"/>
                <a:rFonts ascii="Inter" hAnsi="Inter" eastAsia="Inter" cs="Inter"/>
              </a:rPr>
              <a:t>Examples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114425"/>
            <a:ext cx="3533686" cy="4610099"/>
          </a:xfrm>
          <a:prstGeom prst="roundRect">
            <a:avLst>
              <a:gd name="adj" fmla="val 646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09604" y="1397317"/>
            <a:ext cx="228594" cy="1771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4397" y="1314450"/>
            <a:ext cx="200019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Random Numbers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604" y="1809749"/>
            <a:ext cx="3133646" cy="2533649"/>
          </a:xfrm>
          <a:prstGeom prst="roundRect">
            <a:avLst>
              <a:gd name="adj" fmla="val 6015"/>
            </a:avLst>
          </a:prstGeom>
          <a:solidFill>
            <a:srgbClr val="0F172A">
              <a:alpha val="60000"/>
            </a:srgbClr>
          </a:soli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604" y="4495799"/>
            <a:ext cx="3133646" cy="1028700"/>
          </a:xfrm>
          <a:prstGeom prst="roundRect">
            <a:avLst>
              <a:gd name="adj" fmla="val 14814"/>
            </a:avLst>
          </a:prstGeom>
          <a:solidFill>
            <a:srgbClr val="0F172A">
              <a:alpha val="60000"/>
            </a:srgbClr>
          </a:soli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33766" y="1114425"/>
            <a:ext cx="3533686" cy="4610099"/>
          </a:xfrm>
          <a:prstGeom prst="roundRect">
            <a:avLst>
              <a:gd name="adj" fmla="val 646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533786" y="1388745"/>
            <a:ext cx="228594" cy="19430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38579" y="1314450"/>
            <a:ext cx="1295367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File Parsing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33786" y="1809749"/>
            <a:ext cx="3133646" cy="2286000"/>
          </a:xfrm>
          <a:prstGeom prst="roundRect">
            <a:avLst>
              <a:gd name="adj" fmla="val 6666"/>
            </a:avLst>
          </a:prstGeom>
          <a:solidFill>
            <a:srgbClr val="0F172A">
              <a:alpha val="60000"/>
            </a:srgbClr>
          </a:soli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33786" y="4248150"/>
            <a:ext cx="3133646" cy="1276350"/>
          </a:xfrm>
          <a:prstGeom prst="roundRect">
            <a:avLst>
              <a:gd name="adj" fmla="val 11940"/>
            </a:avLst>
          </a:prstGeom>
          <a:solidFill>
            <a:srgbClr val="0F172A">
              <a:alpha val="60000"/>
            </a:srgbClr>
          </a:soli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8423" y="1114425"/>
            <a:ext cx="3533686" cy="4610099"/>
          </a:xfrm>
          <a:prstGeom prst="roundRect">
            <a:avLst>
              <a:gd name="adj" fmla="val 646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248443" y="1397317"/>
            <a:ext cx="228594" cy="1771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553236" y="1314450"/>
            <a:ext cx="1466813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Data Pipeline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48443" y="1809749"/>
            <a:ext cx="3133646" cy="2800350"/>
          </a:xfrm>
          <a:prstGeom prst="roundRect">
            <a:avLst>
              <a:gd name="adj" fmla="val 5442"/>
            </a:avLst>
          </a:prstGeom>
          <a:solidFill>
            <a:srgbClr val="0F172A">
              <a:alpha val="60000"/>
            </a:srgbClr>
          </a:soli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48443" y="4762500"/>
            <a:ext cx="3133646" cy="761999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EC4899">
                  <a:alpha val="10000"/>
                </a:srgbClr>
              </a:gs>
              <a:gs pos="100000">
                <a:srgbClr val="A855F7">
                  <a:alpha val="10000"/>
                </a:srgbClr>
              </a:gs>
            </a:gsLst>
            <a:lin scaled="0" ang="10800000"/>
          </a:gra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372265" y="5063305"/>
            <a:ext cx="171445" cy="16038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619909" y="4886325"/>
            <a:ext cx="2638359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Complex transformations made </a:t>
            </a:r>
            <a:r>
              <a:rPr sz="1076" b="1">
                <a:solidFill>
                  <a:srgbClr val="F472B6"/>
                </a:solidFill>
                <a:latin typeface="Inter"/>
                <a:rFonts ascii="Inter" hAnsi="Inter" eastAsia="Inter" cs="Inter"/>
              </a:rPr>
              <a:t>readable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584" y="5915025"/>
            <a:ext cx="10972525" cy="638175"/>
          </a:xfrm>
          <a:prstGeom prst="roundRect">
            <a:avLst>
              <a:gd name="adj" fmla="val 35820"/>
            </a:avLst>
          </a:prstGeom>
          <a:gradFill rotWithShape="1">
            <a:gsLst>
              <a:gs pos="0">
                <a:srgbClr val="06B6D4">
                  <a:alpha val="10000"/>
                </a:srgbClr>
              </a:gs>
              <a:gs pos="100000">
                <a:srgbClr val="EC4899">
                  <a:alpha val="10000"/>
                </a:srgbClr>
              </a:gs>
            </a:gsLst>
            <a:lin scaled="0" ang="10800000"/>
          </a:gra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71505" y="6166484"/>
            <a:ext cx="228594" cy="12572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14397" y="6076950"/>
            <a:ext cx="760075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Generators transform </a:t>
            </a:r>
            <a:r>
              <a:rPr sz="1315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complex data processing</a:t>
            </a:r>
            <a:r>
              <a:rPr sz="1315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into </a:t>
            </a:r>
            <a:r>
              <a:rPr sz="1315" b="1">
                <a:solidFill>
                  <a:srgbClr val="F472B6"/>
                </a:solidFill>
                <a:latin typeface="Inter"/>
                <a:rFonts ascii="Inter" hAnsi="Inter" eastAsia="Inter" cs="Inter"/>
              </a:rPr>
              <a:t>readable, efficient code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A855F7"/>
              </a:gs>
              <a:gs pos="100000">
                <a:srgbClr val="EC4899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565770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Conclusion and </a:t>
            </a:r>
            <a:r>
              <a:rPr sz="2392" b="1">
                <a:solidFill>
                  <a:srgbClr val="06B6D4"/>
                </a:solidFill>
                <a:latin typeface="Inter"/>
                <a:rFonts ascii="Inter" hAnsi="Inter" eastAsia="Inter" cs="Inter"/>
              </a:rPr>
              <a:t>Best Practices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076325"/>
            <a:ext cx="3533686" cy="3200400"/>
          </a:xfrm>
          <a:prstGeom prst="roundRect">
            <a:avLst>
              <a:gd name="adj" fmla="val 714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09604" y="1350645"/>
            <a:ext cx="228594" cy="1943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4397" y="1276350"/>
            <a:ext cx="141918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When to Use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9604" y="1883228"/>
            <a:ext cx="152396" cy="816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8199" y="1771650"/>
            <a:ext cx="2905052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Generating sequences on-demand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9604" y="2530928"/>
            <a:ext cx="152396" cy="816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38199" y="2419349"/>
            <a:ext cx="233356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Lazy evaluation scenarios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9604" y="2892878"/>
            <a:ext cx="152396" cy="816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38199" y="2781300"/>
            <a:ext cx="182875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Infinite data streams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9604" y="3254828"/>
            <a:ext cx="152396" cy="8164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38199" y="3143250"/>
            <a:ext cx="188590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Recursive algorithms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9604" y="3616778"/>
            <a:ext cx="152396" cy="8164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38199" y="3505199"/>
            <a:ext cx="2905052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Simplicity over max performance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3766" y="1076325"/>
            <a:ext cx="3533686" cy="3200400"/>
          </a:xfrm>
          <a:prstGeom prst="roundRect">
            <a:avLst>
              <a:gd name="adj" fmla="val 714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533786" y="1354931"/>
            <a:ext cx="228594" cy="18573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38579" y="1276350"/>
            <a:ext cx="172398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Pitfalls to Avoid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533786" y="1875064"/>
            <a:ext cx="152396" cy="9797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762380" y="1771650"/>
            <a:ext cx="2905052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Not for forward_range algorithms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533786" y="2522764"/>
            <a:ext cx="152396" cy="9797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762380" y="2419349"/>
            <a:ext cx="215259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Avoid excessive nesting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533786" y="2884714"/>
            <a:ext cx="152396" cy="9797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762380" y="2781300"/>
            <a:ext cx="249548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Remember: move-only type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533786" y="3246664"/>
            <a:ext cx="152396" cy="9797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762380" y="3143250"/>
            <a:ext cx="180970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No </a:t>
            </a:r>
            <a:r>
              <a:rPr sz="1196" b="0">
                <a:solidFill>
                  <a:srgbClr val="F87171"/>
                </a:solidFill>
                <a:latin typeface="JetBrains Mono"/>
                <a:rFonts ascii="JetBrains Mono" hAnsi="JetBrains Mono" eastAsia="JetBrains Mono" cs="JetBrains Mono"/>
              </a:rPr>
              <a:t>co_await</a:t>
            </a: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 inside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533786" y="3608614"/>
            <a:ext cx="152396" cy="9797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762380" y="3505199"/>
            <a:ext cx="228594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Single-pass iteration only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8423" y="1076325"/>
            <a:ext cx="3533686" cy="3200400"/>
          </a:xfrm>
          <a:prstGeom prst="roundRect">
            <a:avLst>
              <a:gd name="adj" fmla="val 7142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248443" y="1352073"/>
            <a:ext cx="228594" cy="19145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553236" y="1276350"/>
            <a:ext cx="1514437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Future in C++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248443" y="1880507"/>
            <a:ext cx="152396" cy="8708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477038" y="1771650"/>
            <a:ext cx="259073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More concrete types coming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248443" y="2242457"/>
            <a:ext cx="152396" cy="8708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477038" y="2133599"/>
            <a:ext cx="205734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Improved performance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248443" y="2604407"/>
            <a:ext cx="152396" cy="8708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477038" y="2495550"/>
            <a:ext cx="256216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Better memory management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248443" y="2966357"/>
            <a:ext cx="152396" cy="8708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477038" y="2857500"/>
            <a:ext cx="244786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Enhanced stdlib integration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248443" y="3328307"/>
            <a:ext cx="152396" cy="8708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477038" y="3219449"/>
            <a:ext cx="212402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Wider compiler support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9584" y="4895849"/>
            <a:ext cx="10972525" cy="1276350"/>
          </a:xfrm>
          <a:prstGeom prst="roundRect">
            <a:avLst>
              <a:gd name="adj" fmla="val 17910"/>
            </a:avLst>
          </a:prstGeom>
          <a:gradFill rotWithShape="1">
            <a:gsLst>
              <a:gs pos="0">
                <a:srgbClr val="06B6D4">
                  <a:alpha val="10000"/>
                </a:srgbClr>
              </a:gs>
              <a:gs pos="50000">
                <a:srgbClr val="A855F7">
                  <a:alpha val="10000"/>
                </a:srgbClr>
              </a:gs>
              <a:gs pos="100000">
                <a:srgbClr val="EC4899">
                  <a:alpha val="10000"/>
                </a:srgbClr>
              </a:gs>
            </a:gsLst>
            <a:lin scaled="0" ang="10800000"/>
          </a:gra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47703" y="5432862"/>
            <a:ext cx="342891" cy="18327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342991" y="5124449"/>
            <a:ext cx="9505712" cy="800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std::generator makes coroutines </a:t>
            </a:r>
            <a:r>
              <a:rPr sz="1674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accessible</a:t>
            </a:r>
            <a:r>
              <a:rPr sz="1674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and </a:t>
            </a:r>
            <a:r>
              <a:rPr sz="1674" b="1">
                <a:solidFill>
                  <a:srgbClr val="F472B6"/>
                </a:solidFill>
                <a:latin typeface="Inter"/>
                <a:rFonts ascii="Inter" hAnsi="Inter" eastAsia="Inter" cs="Inter"/>
              </a:rPr>
              <a:t>practical</a:t>
            </a:r>
            <a:r>
              <a:rPr sz="1674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for everyday C++ development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1001099" y="5364874"/>
            <a:ext cx="342891" cy="319251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50000">
                <a:srgbClr val="A855F7"/>
              </a:gs>
              <a:gs pos="100000">
                <a:srgbClr val="EC4899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