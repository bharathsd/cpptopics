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447800"/>
            <a:ext cx="1819229" cy="342900"/>
          </a:xfrm>
          <a:prstGeom prst="roundRect">
            <a:avLst>
              <a:gd name="adj" fmla="val 55550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447800"/>
            <a:ext cx="181922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08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C++23 NEW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095499"/>
            <a:ext cx="6991175" cy="647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1560"/>
              </a:spcAft>
            </a:pPr>
            <a:r>
              <a:rPr sz="406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 std::</a:t>
            </a:r>
            <a:r>
              <a:rPr sz="4066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to_underlying</a:t>
            </a:r>
            <a:r>
              <a:rPr sz="406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971800"/>
            <a:ext cx="1924001" cy="6000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095"/>
              </a:lnSpc>
              <a:spcBef>
                <a:spcPts val="0"/>
              </a:spcBef>
              <a:spcAft>
                <a:spcPts val="2080"/>
              </a:spcAft>
            </a:pPr>
            <a:r>
              <a:rPr sz="2511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in C++23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67149"/>
            <a:ext cx="468618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12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 Safer Way to Convert Enums to Their Underlying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610099"/>
            <a:ext cx="914377" cy="38100"/>
          </a:xfrm>
          <a:prstGeom prst="roundRect">
            <a:avLst>
              <a:gd name="adj" fmla="val 200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94934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25" y="5162550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Type Safety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876378" y="5154930"/>
            <a:ext cx="228594" cy="205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81170" y="516255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Modern C++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124121" y="5149215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8914" y="5162550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Best Practice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5714857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What is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?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809749"/>
            <a:ext cx="1028674" cy="2666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809749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228850"/>
            <a:ext cx="5905352" cy="809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 </a:t>
            </a: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C++23</a:t>
            </a:r>
            <a:r>
              <a:rPr sz="1554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utility function that converts an </a:t>
            </a:r>
            <a:r>
              <a:rPr sz="1554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enumeration to its underlying type</a:t>
            </a:r>
            <a:r>
              <a:rPr sz="1554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554067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22" y="3495675"/>
            <a:ext cx="210497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Introduced in </a:t>
            </a:r>
            <a:r>
              <a:rPr sz="143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C++23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125567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22" y="4067174"/>
            <a:ext cx="31431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Located in </a:t>
            </a:r>
            <a:r>
              <a:rPr sz="143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&lt;utility&gt;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header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697067"/>
            <a:ext cx="266693" cy="2261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5822" y="4638674"/>
            <a:ext cx="548626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Equivalent to </a:t>
            </a:r>
            <a:r>
              <a:rPr sz="119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static_cast&lt;std::underlying_type_t&lt;Enum&gt;&gt;(e)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5611467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5553074"/>
            <a:ext cx="48100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Provides type-safe enum-to-integer conversion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81670" y="2352675"/>
            <a:ext cx="4343291" cy="2962274"/>
          </a:xfrm>
          <a:prstGeom prst="roundRect">
            <a:avLst>
              <a:gd name="adj" fmla="val 5144"/>
            </a:avLst>
          </a:prstGeom>
          <a:solidFill>
            <a:srgbClr val="0F1F1A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9789" y="2590799"/>
            <a:ext cx="38670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Feature test macro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9789" y="3019424"/>
            <a:ext cx="38670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#if </a:t>
            </a: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__cpp_lib_to_underlying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9789" y="3457575"/>
            <a:ext cx="38670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Include header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9789" y="3838574"/>
            <a:ext cx="8191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  <a:latin typeface="Source Code Pro"/>
                <a:rFonts ascii="Source Code Pro" hAnsi="Source Code Pro" eastAsia="Source Code Pro" cs="Source Code Pro"/>
              </a:rPr>
              <a:t>#include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691" y="3838574"/>
            <a:ext cx="92390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&lt;utility&gt;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9789" y="4238624"/>
            <a:ext cx="38670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9789" y="4514850"/>
            <a:ext cx="386705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 value = </a:t>
            </a:r>
            <a:r>
              <a:rPr sz="107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(MyEnum::X);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5667233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The Problem with </a:t>
            </a:r>
            <a:r>
              <a:rPr sz="2392" b="1">
                <a:solidFill>
                  <a:srgbClr val="FF6B6B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2478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2413766"/>
            <a:ext cx="342891" cy="2778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4912" y="2247899"/>
            <a:ext cx="1002004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FF6B6B"/>
                </a:solidFill>
                <a:latin typeface="Roboto Flex"/>
                <a:rFonts ascii="Roboto Flex" hAnsi="Roboto Flex" eastAsia="Roboto Flex" cs="Roboto Flex"/>
              </a:rPr>
              <a:t>Hides Programmer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912" y="2762249"/>
            <a:ext cx="100200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Hard to read, looks like any old cast — impossible to quickly identify the 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4099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3581728"/>
            <a:ext cx="342891" cy="266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4912" y="3409950"/>
            <a:ext cx="1002004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FF6B6B"/>
                </a:solidFill>
                <a:latin typeface="Roboto Flex"/>
                <a:rFonts ascii="Roboto Flex" hAnsi="Roboto Flex" eastAsia="Roboto Flex" cs="Roboto Flex"/>
              </a:rPr>
              <a:t>Prone to Bugs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4912" y="3924299"/>
            <a:ext cx="100200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Masks </a:t>
            </a:r>
            <a:r>
              <a:rPr sz="143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size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and </a:t>
            </a:r>
            <a:r>
              <a:rPr sz="143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signed-ness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changes when enum types are modified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5720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743778"/>
            <a:ext cx="342891" cy="2660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4912" y="4572000"/>
            <a:ext cx="1002004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780"/>
              </a:spcAft>
            </a:pPr>
            <a:r>
              <a:rPr sz="1674" b="1">
                <a:solidFill>
                  <a:srgbClr val="FF6B6B"/>
                </a:solidFill>
                <a:latin typeface="Roboto Flex"/>
                <a:rFonts ascii="Roboto Flex" hAnsi="Roboto Flex" eastAsia="Roboto Flex" cs="Roboto Flex"/>
              </a:rPr>
              <a:t>Verbose Syntax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912" y="5086350"/>
            <a:ext cx="100200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19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static_cast&lt;std::underlying_type_t&lt;Enum&gt;&gt;(e)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is cumbersome to type and maintain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6638759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Why We Need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904999"/>
            <a:ext cx="21906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3827" b="1">
                <a:solidFill>
                  <a:srgbClr val="4ADE80"/>
                </a:solidFill>
                <a:latin typeface="Source Code Pro"/>
                <a:rFonts ascii="Source Code Pro" hAnsi="Source Code Pro" eastAsia="Source Code Pro" cs="Source Code Pro"/>
              </a:rPr>
              <a:t>1,000+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9824" y="2400300"/>
            <a:ext cx="143823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hits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2971800"/>
            <a:ext cx="613394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Codebases implement this utility themselves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562349"/>
            <a:ext cx="6133946" cy="1543050"/>
          </a:xfrm>
          <a:prstGeom prst="roundRect">
            <a:avLst>
              <a:gd name="adj" fmla="val 9876"/>
            </a:avLst>
          </a:prstGeom>
          <a:solidFill>
            <a:srgbClr val="0F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38752" y="4267834"/>
            <a:ext cx="1543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3844994"/>
            <a:ext cx="266693" cy="2348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3790949"/>
            <a:ext cx="18763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Industry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26" y="4248150"/>
            <a:ext cx="5638659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Recommended by </a:t>
            </a:r>
            <a:r>
              <a:rPr sz="1315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Scott Meyers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in</a:t>
            </a:r>
            <a:r>
              <a:rPr sz="1104"/>
              <a:t>
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Effective Modern C++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(Item 10)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499588"/>
            <a:ext cx="304792" cy="1641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5410199"/>
            <a:ext cx="394325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Explosive growth in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Modern C++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usage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660" y="2209800"/>
            <a:ext cx="3962300" cy="3238500"/>
          </a:xfrm>
          <a:prstGeom prst="roundRect">
            <a:avLst>
              <a:gd name="adj" fmla="val 4705"/>
            </a:avLst>
          </a:prstGeom>
          <a:solidFill>
            <a:srgbClr val="0F1F1A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779" y="2457450"/>
            <a:ext cx="348606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COMMON USE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00779" y="30099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96027" y="3124760"/>
            <a:ext cx="190495" cy="1512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34166" y="2971800"/>
            <a:ext cx="26002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Loggers for enumerations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0779" y="36194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96027" y="375677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34166" y="3581400"/>
            <a:ext cx="180017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 APIs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00779" y="42291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96027" y="4357967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34166" y="4190999"/>
            <a:ext cx="18573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Stream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00779" y="48386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96027" y="4953560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34166" y="4800600"/>
            <a:ext cx="124774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Serialization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6219669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How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Works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133599"/>
            <a:ext cx="5124321" cy="3390899"/>
          </a:xfrm>
          <a:prstGeom prst="roundRect">
            <a:avLst>
              <a:gd name="adj" fmla="val 4494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2371725"/>
            <a:ext cx="609584" cy="2666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4852" y="2371725"/>
            <a:ext cx="6095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C++23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0635" y="240982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Roboto Flex"/>
                <a:rFonts ascii="Roboto Flex" hAnsi="Roboto Flex" eastAsia="Roboto Flex" cs="Roboto Flex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819399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02" y="281939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0675" y="2819399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typename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25" y="281939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6498" y="281939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52" y="3190874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constexpr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0675" y="3190874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std::underlying_type_t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390" y="3190874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162" y="3190874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459" y="3190874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52" y="3562349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to_underlying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4517" y="356234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8814" y="356234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8359" y="3562349"/>
            <a:ext cx="5429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1270" y="356234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0339" y="3562349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noexcept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093" y="356234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52" y="4143375"/>
            <a:ext cx="46480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Returns: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52" y="4438649"/>
            <a:ext cx="6476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33" y="4438649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7428" y="4438649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48" y="4733925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std::underlying_type_t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963" y="4733925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2736" y="4733925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7033" y="4733925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&gt;&gt;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248" y="5029200"/>
            <a:ext cx="1047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2020" y="5029200"/>
            <a:ext cx="5429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4932" y="5029200"/>
            <a:ext cx="2190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639" y="1885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533986" y="2039592"/>
            <a:ext cx="266693" cy="2261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24521" y="1885950"/>
            <a:ext cx="440043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Enumeration-Only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24521" y="2295525"/>
            <a:ext cx="44004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Only works on enumeration types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639" y="2838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33986" y="2996440"/>
            <a:ext cx="266693" cy="21741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124521" y="2838450"/>
            <a:ext cx="440043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Compiler-Driven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521" y="3248024"/>
            <a:ext cx="44004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Type info provided by compiler, not user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639" y="37909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3953289"/>
            <a:ext cx="266693" cy="20872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124521" y="3790949"/>
            <a:ext cx="440043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Constexpr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4521" y="4200525"/>
            <a:ext cx="44004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Can be evaluated at compile-time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639" y="4743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33986" y="4897092"/>
            <a:ext cx="266693" cy="22611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24521" y="4743450"/>
            <a:ext cx="440043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SFINAE-Friendly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4521" y="5153024"/>
            <a:ext cx="4400439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Integrates smoothly with template metaprogramming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2971725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Code Examples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00150"/>
            <a:ext cx="1009624" cy="457200"/>
          </a:xfrm>
          <a:prstGeom prst="roundRect">
            <a:avLst>
              <a:gd name="adj" fmla="val 41662500"/>
            </a:avLst>
          </a:prstGeom>
          <a:gradFill rotWithShape="1">
            <a:gsLst>
              <a:gs pos="0">
                <a:srgbClr val="E7E950"/>
              </a:gs>
              <a:gs pos="100000">
                <a:srgbClr val="C9CD3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200150"/>
            <a:ext cx="100962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EXAMPLE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0655" y="1114425"/>
            <a:ext cx="2562160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Scoped Enum (enum class)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1895474"/>
            <a:ext cx="3686082" cy="4057650"/>
          </a:xfrm>
          <a:prstGeom prst="roundRect">
            <a:avLst>
              <a:gd name="adj" fmla="val 4134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53" y="2114550"/>
            <a:ext cx="97152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enum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3526" y="2114550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37" y="211455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2495550"/>
            <a:ext cx="2952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17" y="249555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49" y="2790824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12" y="2790824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49" y="309562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53" y="3467100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};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53" y="3952874"/>
            <a:ext cx="32860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Convert to underlying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53" y="420052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2516" y="4200525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3526" y="42005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51" y="4505325"/>
            <a:ext cx="175255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5507" y="45053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0755" y="4505325"/>
            <a:ext cx="11620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Color::Green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2776" y="4505325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6067424"/>
            <a:ext cx="3686082" cy="485775"/>
          </a:xfrm>
          <a:prstGeom prst="roundRect">
            <a:avLst>
              <a:gd name="adj" fmla="val 31372"/>
            </a:avLst>
          </a:prstGeom>
          <a:solidFill>
            <a:srgbClr val="0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56866" y="6277291"/>
            <a:ext cx="4857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79" y="6181724"/>
            <a:ext cx="343843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Result:</a:t>
            </a: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value = 1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81410" y="1143000"/>
            <a:ext cx="1009624" cy="266699"/>
          </a:xfrm>
          <a:prstGeom prst="roundRect">
            <a:avLst>
              <a:gd name="adj" fmla="val 71421428"/>
            </a:avLst>
          </a:prstGeom>
          <a:gradFill rotWithShape="1">
            <a:gsLst>
              <a:gs pos="0">
                <a:srgbClr val="E7E950"/>
              </a:gs>
              <a:gs pos="100000">
                <a:srgbClr val="C9CD3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410" y="114300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EXAMPLE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332" y="1114425"/>
            <a:ext cx="22478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Explicit Underlying Type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1410" y="1581149"/>
            <a:ext cx="4067073" cy="4371975"/>
          </a:xfrm>
          <a:prstGeom prst="roundRect">
            <a:avLst>
              <a:gd name="adj" fmla="val 3747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81430" y="1800225"/>
            <a:ext cx="97152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enum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8203" y="1800225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461" y="1800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4481" y="1800225"/>
            <a:ext cx="78103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22D3EE"/>
                </a:solidFill>
                <a:latin typeface="Source Code Pro"/>
                <a:rFonts ascii="Source Code Pro" hAnsi="Source Code Pro" eastAsia="Source Code Pro" cs="Source Code Pro"/>
              </a:rPr>
              <a:t>uint32_t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1235" y="1800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3826" y="2181225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9569" y="2181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9589" y="2181225"/>
            <a:ext cx="2952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B923C"/>
                </a:solidFill>
                <a:latin typeface="Source Code Pro"/>
                <a:rFonts ascii="Source Code Pro" hAnsi="Source Code Pro" eastAsia="Source Code Pro" cs="Source Code Pro"/>
              </a:rPr>
              <a:t>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05332" y="2181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3826" y="2476499"/>
            <a:ext cx="78103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NotFound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247649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00599" y="2476499"/>
            <a:ext cx="2952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B923C"/>
                </a:solidFill>
                <a:latin typeface="Source Code Pro"/>
                <a:rFonts ascii="Source Code Pro" hAnsi="Source Code Pro" eastAsia="Source Code Pro" cs="Source Code Pro"/>
              </a:rPr>
              <a:t>404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1430" y="2781300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};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1430" y="3257550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Convert to uint32_t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1430" y="3505199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7193" y="3505199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52956" y="350519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57628" y="3809999"/>
            <a:ext cx="175255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0659" y="380999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5907" y="3809999"/>
            <a:ext cx="155253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Status::NotFound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57968" y="3809999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81410" y="6067424"/>
            <a:ext cx="4067073" cy="485775"/>
          </a:xfrm>
          <a:prstGeom prst="roundRect">
            <a:avLst>
              <a:gd name="adj" fmla="val 31372"/>
            </a:avLst>
          </a:prstGeom>
          <a:solidFill>
            <a:srgbClr val="0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4371543" y="6277291"/>
            <a:ext cx="4857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4757" y="6181724"/>
            <a:ext cx="381942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Result:</a:t>
            </a: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code = 404 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078" y="1143000"/>
            <a:ext cx="1009624" cy="266699"/>
          </a:xfrm>
          <a:prstGeom prst="roundRect">
            <a:avLst>
              <a:gd name="adj" fmla="val 71421428"/>
            </a:avLst>
          </a:prstGeom>
          <a:gradFill rotWithShape="1">
            <a:gsLst>
              <a:gs pos="0">
                <a:srgbClr val="E7E950"/>
              </a:gs>
              <a:gs pos="100000">
                <a:srgbClr val="C9CD3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77078" y="114300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EXAMPLE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0524" y="1114425"/>
            <a:ext cx="155253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Unscoped Enum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77078" y="1581149"/>
            <a:ext cx="3876578" cy="4371975"/>
          </a:xfrm>
          <a:prstGeom prst="roundRect">
            <a:avLst>
              <a:gd name="adj" fmla="val 3931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7098" y="180022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enum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62860" y="1800225"/>
            <a:ext cx="78103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Priority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39139" y="1800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{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29494" y="2181225"/>
            <a:ext cx="2952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24761" y="2181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,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29494" y="2476499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10504" y="247649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,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29494" y="2781300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High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7098" y="3162299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};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77098" y="3638550"/>
            <a:ext cx="34765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Convert to underlying type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7098" y="3886200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62860" y="388620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53356" y="388620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53296" y="4190999"/>
            <a:ext cx="175255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05852" y="419099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01099" y="4190999"/>
            <a:ext cx="136204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Priority::High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77078" y="6067424"/>
            <a:ext cx="3876578" cy="485775"/>
          </a:xfrm>
          <a:prstGeom prst="roundRect">
            <a:avLst>
              <a:gd name="adj" fmla="val 31372"/>
            </a:avLst>
          </a:prstGeom>
          <a:solidFill>
            <a:srgbClr val="0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8667211" y="6277291"/>
            <a:ext cx="48577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10424" y="6181724"/>
            <a:ext cx="362893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Result:</a:t>
            </a:r>
            <a:r>
              <a:rPr sz="107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p = 2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4333766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Benefits and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Use Cases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14425"/>
            <a:ext cx="1190595" cy="266699"/>
          </a:xfrm>
          <a:prstGeom prst="roundRect">
            <a:avLst>
              <a:gd name="adj" fmla="val 71421428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114425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KEY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6097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1505" y="1723138"/>
            <a:ext cx="247643" cy="2303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1609724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318" y="2019299"/>
            <a:ext cx="4667133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Avoids accidental conversions to wrong integer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8384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1505" y="2983540"/>
            <a:ext cx="247643" cy="1670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2838450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Intent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18" y="3248024"/>
            <a:ext cx="46671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Clear intent of enum-to-int 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752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1505" y="3866263"/>
            <a:ext cx="247643" cy="2303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3752849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Refactoring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4162424"/>
            <a:ext cx="46671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Adapts automatically to enum type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6672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71505" y="4789302"/>
            <a:ext cx="247643" cy="2130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4667249"/>
            <a:ext cx="466713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Self-Documenting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6318" y="5076825"/>
            <a:ext cx="4667133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Explicitly shows what's happening at conversion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243" y="1114425"/>
            <a:ext cx="1666833" cy="266699"/>
          </a:xfrm>
          <a:prstGeom prst="roundRect">
            <a:avLst>
              <a:gd name="adj" fmla="val 71421428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8243" y="111442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COMMON USE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1609724"/>
            <a:ext cx="5276718" cy="4943475"/>
          </a:xfrm>
          <a:prstGeom prst="roundRect">
            <a:avLst>
              <a:gd name="adj" fmla="val 3082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86362" y="18859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72085" y="1994329"/>
            <a:ext cx="209544" cy="1642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81650" y="1847849"/>
            <a:ext cx="18287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Logging enum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2800" y="18859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3" y="2016983"/>
            <a:ext cx="209544" cy="1189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58088" y="1847849"/>
            <a:ext cx="18287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Interfacing with C APIs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6362" y="27241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72085" y="2832529"/>
            <a:ext cx="209544" cy="16424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81650" y="2686050"/>
            <a:ext cx="28098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Serialization/Deserialization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2800" y="27241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48523" y="2824033"/>
            <a:ext cx="209544" cy="18123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458088" y="2686050"/>
            <a:ext cx="18287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Bitwise 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86362" y="35623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72085" y="3684887"/>
            <a:ext cx="209544" cy="1359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81650" y="3524250"/>
            <a:ext cx="143823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Array indexing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2800" y="356234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048523" y="3684887"/>
            <a:ext cx="209544" cy="1359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58088" y="3524250"/>
            <a:ext cx="18287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Stream operations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9553336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Comparison: </a:t>
            </a:r>
            <a:r>
              <a:rPr sz="2392" b="1">
                <a:solidFill>
                  <a:srgbClr val="F87171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vs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47825"/>
            <a:ext cx="4657608" cy="4371975"/>
          </a:xfrm>
          <a:prstGeom prst="roundRect">
            <a:avLst>
              <a:gd name="adj" fmla="val 3485"/>
            </a:avLst>
          </a:prstGeom>
          <a:solidFill>
            <a:srgbClr val="0A1410"/>
          </a:solidFill>
          <a:ln w="825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76438" y="1885950"/>
            <a:ext cx="1038199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FF6B6B"/>
              </a:gs>
              <a:gs pos="100000">
                <a:srgbClr val="C4454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76438" y="1885950"/>
            <a:ext cx="10381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OLD WAY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2547937"/>
            <a:ext cx="228594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43" y="2457450"/>
            <a:ext cx="140966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Verbose syntax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301466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7743" y="2924175"/>
            <a:ext cx="231451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Hides programmer intent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3481387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43" y="3390899"/>
            <a:ext cx="128584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Prone to bugs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394811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43" y="3857625"/>
            <a:ext cx="15430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Hard to maintain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52" y="4400550"/>
            <a:ext cx="4181370" cy="1381124"/>
          </a:xfrm>
          <a:prstGeom prst="roundRect">
            <a:avLst>
              <a:gd name="adj" fmla="val 5517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773" y="4562475"/>
            <a:ext cx="38575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Verbose and error-prone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773" y="484822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2536" y="4848225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546" y="48482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5114925"/>
            <a:ext cx="106677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9744" y="51149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992" y="5114925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22D3EE"/>
                </a:solidFill>
                <a:latin typeface="Source Code Pro"/>
                <a:rFonts ascii="Source Code Pro" hAnsi="Source Code Pro" eastAsia="Source Code Pro" cs="Source Code Pro"/>
              </a:rPr>
              <a:t>std::underlying_type_t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8063" y="5114925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311" y="5114925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Enum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3826" y="5114925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&gt;&gt;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2971" y="537210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19" y="5372100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3466" y="5372100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3590163"/>
            <a:ext cx="609584" cy="42062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819629" y="4019549"/>
            <a:ext cx="552436" cy="228600"/>
          </a:xfrm>
          <a:prstGeom prst="roundRect">
            <a:avLst>
              <a:gd name="adj" fmla="val 3333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19629" y="4019549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C++23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67353" y="1781174"/>
            <a:ext cx="4657608" cy="4105274"/>
          </a:xfrm>
          <a:prstGeom prst="roundRect">
            <a:avLst>
              <a:gd name="adj" fmla="val 3712"/>
            </a:avLst>
          </a:prstGeom>
          <a:solidFill>
            <a:srgbClr val="0A1410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8008" y="2019299"/>
            <a:ext cx="1076298" cy="342900"/>
          </a:xfrm>
          <a:prstGeom prst="roundRect">
            <a:avLst>
              <a:gd name="adj" fmla="val 55550000"/>
            </a:avLst>
          </a:prstGeom>
          <a:gradFill rotWithShape="1">
            <a:gsLst>
              <a:gs pos="0">
                <a:srgbClr val="4ADE80"/>
              </a:gs>
              <a:gs pos="100000">
                <a:srgbClr val="22C55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8008" y="2019299"/>
            <a:ext cx="107629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NEW WAY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05472" y="2673191"/>
            <a:ext cx="228594" cy="14001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48363" y="2590799"/>
            <a:ext cx="14001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Concise syntax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05472" y="3139916"/>
            <a:ext cx="228594" cy="14001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48363" y="3057525"/>
            <a:ext cx="106677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Clear intent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05472" y="3606641"/>
            <a:ext cx="228594" cy="1400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48363" y="3524250"/>
            <a:ext cx="9048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Type-safe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05472" y="4073366"/>
            <a:ext cx="228594" cy="1400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48363" y="3990974"/>
            <a:ext cx="164778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Self-documenting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05472" y="4533900"/>
            <a:ext cx="4181370" cy="1114425"/>
          </a:xfrm>
          <a:prstGeom prst="roundRect">
            <a:avLst>
              <a:gd name="adj" fmla="val 6837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7393" y="4695824"/>
            <a:ext cx="38575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Clean and expressive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7393" y="4981574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3156" y="4981574"/>
            <a:ext cx="4857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4166" y="4981574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3591" y="5238749"/>
            <a:ext cx="175255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6147" y="523874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1395" y="5238749"/>
            <a:ext cx="952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6642" y="5238749"/>
            <a:ext cx="1904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0"/>
            <a:ext cx="3200319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Best Practices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895350"/>
            <a:ext cx="1190595" cy="266699"/>
          </a:xfrm>
          <a:prstGeom prst="roundRect">
            <a:avLst>
              <a:gd name="adj" fmla="val 71421428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89535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WHEN TO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352549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52456" y="1492988"/>
            <a:ext cx="247643" cy="138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8219" y="1352549"/>
            <a:ext cx="393372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Converting enum values to/from C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1924049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52456" y="2035691"/>
            <a:ext cx="247643" cy="195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924049"/>
            <a:ext cx="388610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Serializing enum values to network/file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4955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2456" y="2607191"/>
            <a:ext cx="247643" cy="195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8219" y="2495550"/>
            <a:ext cx="353368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Logging or debugging enum states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067050"/>
            <a:ext cx="419089" cy="419100"/>
          </a:xfrm>
          <a:prstGeom prst="roundRect">
            <a:avLst>
              <a:gd name="adj" fmla="val 36363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52456" y="3170052"/>
            <a:ext cx="247643" cy="2130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8219" y="3067050"/>
            <a:ext cx="45147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Performing bitwise operations on enum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772150"/>
            <a:ext cx="5314817" cy="933449"/>
          </a:xfrm>
          <a:prstGeom prst="roundRect">
            <a:avLst>
              <a:gd name="adj" fmla="val 16326"/>
            </a:avLst>
          </a:prstGeom>
          <a:solidFill>
            <a:srgbClr val="0A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66049" y="6172834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5924549"/>
            <a:ext cx="4971925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315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✓ Recommendation: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Always prefer </a:t>
            </a:r>
            <a:r>
              <a:rPr sz="131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over </a:t>
            </a:r>
            <a:r>
              <a:rPr sz="1315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895350"/>
            <a:ext cx="1723981" cy="266699"/>
          </a:xfrm>
          <a:prstGeom prst="roundRect">
            <a:avLst>
              <a:gd name="adj" fmla="val 71421428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0144" y="895350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FEATURE TEST MACRO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1314450"/>
            <a:ext cx="5314817" cy="2857500"/>
          </a:xfrm>
          <a:prstGeom prst="roundRect">
            <a:avLst>
              <a:gd name="adj" fmla="val 5333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2065" y="1504950"/>
            <a:ext cx="3047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#if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30" y="1504950"/>
            <a:ext cx="8191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defined(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0284" y="1504950"/>
            <a:ext cx="236214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__cpp_lib_to_underlying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72425" y="1504950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461" y="1857375"/>
            <a:ext cx="4095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8799" y="1857375"/>
            <a:ext cx="5143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7908" y="1857375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7928" y="1857375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257" y="1857375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(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029" y="1857375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5277" y="1857375"/>
            <a:ext cx="2095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2209800"/>
            <a:ext cx="329556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C++23: use std::to_underlying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2065" y="2571750"/>
            <a:ext cx="5143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#else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461" y="2847974"/>
            <a:ext cx="4095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auto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8799" y="2847974"/>
            <a:ext cx="5143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7908" y="2847974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4461" y="3124200"/>
            <a:ext cx="11334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57908" y="3124200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62680" y="3124200"/>
            <a:ext cx="226689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Source Code Pro"/>
                <a:rFonts ascii="Source Code Pro" hAnsi="Source Code Pro" eastAsia="Source Code Pro" cs="Source Code Pro"/>
              </a:rPr>
              <a:t>std::underlying_type_t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20049" y="3124200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&lt;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24821" y="3124200"/>
            <a:ext cx="4095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Enum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4386" y="3124200"/>
            <a:ext cx="3047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&gt;&gt;(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48703" y="3124200"/>
            <a:ext cx="1047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43951" y="3124200"/>
            <a:ext cx="2095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);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4461" y="3486150"/>
            <a:ext cx="226689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Source Code Pro"/>
                <a:rFonts ascii="Source Code Pro" hAnsi="Source Code Pro" eastAsia="Source Code Pro" cs="Source Code Pro"/>
              </a:rPr>
              <a:t>// pre-C++23: fallback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2065" y="3762374"/>
            <a:ext cx="6191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084FC"/>
                </a:solidFill>
                <a:latin typeface="Source Code Pro"/>
                <a:rFonts ascii="Source Code Pro" hAnsi="Source Code Pro" eastAsia="Source Code Pro" cs="Source Code Pro"/>
              </a:rPr>
              <a:t>#endif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4" y="4400550"/>
            <a:ext cx="1276318" cy="266699"/>
          </a:xfrm>
          <a:prstGeom prst="roundRect">
            <a:avLst>
              <a:gd name="adj" fmla="val 71421428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0144" y="4400550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COMPATIBILITY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0144" y="4819650"/>
            <a:ext cx="5314817" cy="1885950"/>
          </a:xfrm>
          <a:prstGeom prst="roundRect">
            <a:avLst>
              <a:gd name="adj" fmla="val 8080"/>
            </a:avLst>
          </a:prstGeom>
          <a:solidFill>
            <a:srgbClr val="0A1410"/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5071933"/>
            <a:ext cx="209544" cy="18123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34006" y="5019675"/>
            <a:ext cx="215259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Requires C++23 or later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5500558"/>
            <a:ext cx="209544" cy="1812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34006" y="5448300"/>
            <a:ext cx="4590935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Feature test macro: </a:t>
            </a:r>
            <a:r>
              <a:rPr sz="1315" b="0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__cpp_lib_to_underlying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0164" y="6243508"/>
            <a:ext cx="209544" cy="1812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734006" y="6191250"/>
            <a:ext cx="373370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For pre-C++23: create your own wrapper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3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3328"/>
              </a:gs>
              <a:gs pos="50000">
                <a:srgbClr val="193328"/>
              </a:gs>
              <a:gs pos="100000">
                <a:srgbClr val="0F1F1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14300"/>
            <a:ext cx="4705232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2392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Summary</a:t>
            </a:r>
            <a:r>
              <a:rPr sz="2392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&amp; Key Takeaways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1717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228724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2133599"/>
            <a:ext cx="560055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435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std::to_underlying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is a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C++23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feature for safe enum-to-underlying-type conversion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9336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037646"/>
            <a:ext cx="266693" cy="2493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76318" y="2895600"/>
            <a:ext cx="373370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Provides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type safety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and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clear intent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6194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775627"/>
            <a:ext cx="266693" cy="14494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3581400"/>
            <a:ext cx="536244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Recommended by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Scott Meyers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and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widely adopted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3053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4415044"/>
            <a:ext cx="266693" cy="2377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76318" y="4267199"/>
            <a:ext cx="404802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Replaces verbose </a:t>
            </a:r>
            <a:r>
              <a:rPr sz="1435" b="0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syntax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9911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5147227"/>
            <a:ext cx="266693" cy="1449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4952999"/>
            <a:ext cx="560055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Use for: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 APIs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,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serialization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,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logging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, </a:t>
            </a: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bitwise operations</a:t>
            </a:r>
            <a:r>
              <a:rPr sz="1435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81670" y="1533525"/>
            <a:ext cx="4343291" cy="4610099"/>
          </a:xfrm>
          <a:prstGeom prst="roundRect">
            <a:avLst>
              <a:gd name="adj" fmla="val 3508"/>
            </a:avLst>
          </a:prstGeom>
          <a:solidFill>
            <a:srgbClr val="0A1410">
              <a:alpha val="80000"/>
            </a:srgbClr>
          </a:solidFill>
          <a:ln w="1651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96107" y="1857375"/>
            <a:ext cx="1304892" cy="419100"/>
          </a:xfrm>
          <a:prstGeom prst="roundRect">
            <a:avLst>
              <a:gd name="adj" fmla="val 45450000"/>
            </a:avLst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6107" y="1857375"/>
            <a:ext cx="1304892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93328"/>
                </a:solidFill>
                <a:latin typeface="Roboto Flex"/>
                <a:rFonts ascii="Roboto Flex" hAnsi="Roboto Flex" eastAsia="Roboto Flex" cs="Roboto Flex"/>
              </a:rPr>
              <a:t>ADOPT C++23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05512" y="2528521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62700" y="2505074"/>
            <a:ext cx="323841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Always prefer over manual </a:t>
            </a:r>
            <a:r>
              <a:rPr sz="155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static_cast</a:t>
            </a: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05512" y="3376246"/>
            <a:ext cx="304792" cy="2579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62700" y="3352800"/>
            <a:ext cx="3419389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Check availability with </a:t>
            </a:r>
            <a:r>
              <a:rPr sz="1554" b="1">
                <a:solidFill>
                  <a:srgbClr val="E7E950"/>
                </a:solidFill>
                <a:latin typeface="Source Code Pro"/>
                <a:rFonts ascii="Source Code Pro" hAnsi="Source Code Pro" eastAsia="Source Code Pro" cs="Source Code Pro"/>
              </a:rPr>
              <a:t>__cpp_lib_to_underlying</a:t>
            </a: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05512" y="4223971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62700" y="4200525"/>
            <a:ext cx="260978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Future-proof your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5512" y="5048250"/>
            <a:ext cx="369560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Start using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5512" y="5410199"/>
            <a:ext cx="369560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E7E950"/>
                </a:solidFill>
                <a:latin typeface="Roboto Flex"/>
                <a:rFonts ascii="Roboto Flex" hAnsi="Roboto Flex" eastAsia="Roboto Flex" cs="Roboto Flex"/>
              </a:rPr>
              <a:t>std::to_underlying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solidFill>
            <a:srgbClr val="E7E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