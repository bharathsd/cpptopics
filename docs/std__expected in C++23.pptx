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8.png"/><Relationship Id="rId6" Type="http://schemas.openxmlformats.org/officeDocument/2006/relationships/image" Target="../media/image40.png"/><Relationship Id="rId7" Type="http://schemas.openxmlformats.org/officeDocument/2006/relationships/image" Target="../media/image33.png"/><Relationship Id="rId8" Type="http://schemas.openxmlformats.org/officeDocument/2006/relationships/image" Target="../media/image17.png"/><Relationship Id="rId9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4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17.png"/><Relationship Id="rId9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31.png"/><Relationship Id="rId6" Type="http://schemas.openxmlformats.org/officeDocument/2006/relationships/image" Target="../media/image53.png"/><Relationship Id="rId7" Type="http://schemas.openxmlformats.org/officeDocument/2006/relationships/image" Target="../media/image17.png"/><Relationship Id="rId8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34.png"/><Relationship Id="rId6" Type="http://schemas.openxmlformats.org/officeDocument/2006/relationships/image" Target="../media/image57.png"/><Relationship Id="rId7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38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1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23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73.png"/><Relationship Id="rId1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92420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 in C++23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04900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57608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19529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9134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055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2520" y="2057400"/>
            <a:ext cx="1371565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441" y="2171700"/>
            <a:ext cx="104772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std::expected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86376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26468"/>
            <a:ext cx="457188" cy="3669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752849"/>
            <a:ext cx="25907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Error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585" y="4095749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exceptions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09231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289634"/>
            <a:ext cx="457188" cy="2406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86202" y="3752849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Error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2936" y="409574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04839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250531"/>
            <a:ext cx="457188" cy="3188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19949" y="3752849"/>
            <a:ext cx="158111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Expected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7098" y="409574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048250"/>
            <a:ext cx="10858228" cy="1514475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332029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286375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C++23 Modern Error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705475"/>
            <a:ext cx="988670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Learn to use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type-safe, efficient error handling without throwing exceptions - providing clean messages and expected values for modern C++23 error handling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338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std::expected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C++23 Error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0959"/>
            <a:ext cx="190495" cy="154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Expected value type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4859"/>
            <a:ext cx="190495" cy="154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Runtime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Exception type 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Error handling without throw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664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type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195512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133599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vs Try-Catch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571750"/>
            <a:ext cx="5848203" cy="847724"/>
          </a:xfrm>
          <a:prstGeom prst="roundRect">
            <a:avLst>
              <a:gd name="adj" fmla="val 179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2714625"/>
            <a:ext cx="388610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Old way: Try-catch (throws exception)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303847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int, 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543300"/>
            <a:ext cx="5848203" cy="847724"/>
          </a:xfrm>
          <a:prstGeom prst="roundRect">
            <a:avLst>
              <a:gd name="adj" fmla="val 179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0579" y="3676649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New way: No exception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40005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int, 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43910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608195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81570" y="45529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570" y="48958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combines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expected value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clean error messages without throwing exceptions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0956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Syntax and Usage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Fundamental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Template Arguments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895600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Two Template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3162299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 = expected value, E = exception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6455"/>
            <a:ext cx="190495" cy="1708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3619499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Derives from std::exception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88620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exception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43434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Three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46100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has_value(), value(), error()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9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5067299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No Exception by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53340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Only throws on value()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35623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85750"/>
            <a:ext cx="25526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 Syntax &amp;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723900"/>
            <a:ext cx="5848203" cy="2914650"/>
          </a:xfrm>
          <a:prstGeom prst="roundRect">
            <a:avLst>
              <a:gd name="adj" fmla="val 522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914400"/>
            <a:ext cx="33812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Class template with two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257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504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7525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000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explicit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247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2495550"/>
            <a:ext cx="552436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static_assert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"Expected must have value"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29908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expected_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2385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3752849"/>
            <a:ext cx="5848203" cy="933449"/>
          </a:xfrm>
          <a:prstGeom prst="roundRect">
            <a:avLst>
              <a:gd name="adj" fmla="val 1632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3943350"/>
            <a:ext cx="29241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Usage with int, runtime_error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286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4800600"/>
            <a:ext cx="5848203" cy="1428750"/>
          </a:xfrm>
          <a:prstGeom prst="roundRect">
            <a:avLst>
              <a:gd name="adj" fmla="val 1066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4991100"/>
            <a:ext cx="301934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value existence &amp; get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3340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55816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3471" y="5848350"/>
            <a:ext cx="9524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62293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456044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81570" y="64008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570" y="67437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combines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expected value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type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T is value type, E derives from std::exception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0101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Types and Requirements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400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Base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 must derive from std::exception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24274"/>
            <a:ext cx="190495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Exception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36765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runtime_error, logic_error, domain_error, overflow_error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0355"/>
            <a:ext cx="190495" cy="170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Exception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9050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Any type derived from std::exception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9468"/>
            <a:ext cx="190495" cy="1204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838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Determines Throw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Exception type determines throw behavior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610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90599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Type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28750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09724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Different exception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33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764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std::logic_error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609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std::overflow_error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152775"/>
            <a:ext cx="5848203" cy="3543300"/>
          </a:xfrm>
          <a:prstGeom prst="roundRect">
            <a:avLst>
              <a:gd name="adj" fmla="val 430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333749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Custom exception type usage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576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exception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867" y="3933824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Custom exception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1814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38679" y="4438649"/>
            <a:ext cx="5524361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00599" y="4619625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Exception type determines throw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0599" y="4943475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3.14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38679" y="5372100"/>
            <a:ext cx="5524361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000599" y="55892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43491" y="5534025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Key Requirement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3491" y="5876925"/>
            <a:ext cx="485762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Exception types must derive from </a:t>
            </a:r>
            <a:r>
              <a:rPr sz="95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95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- exception type determines throw behavior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433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 Extraction and Handling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17964"/>
            <a:ext cx="228594" cy="97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Extraction &amp;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has_value()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Checks if value exists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Safe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Only access after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error descriptions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unexpected exceptions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7562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685800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 Extraction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123949"/>
            <a:ext cx="5848203" cy="1828800"/>
          </a:xfrm>
          <a:prstGeom prst="roundRect">
            <a:avLst>
              <a:gd name="adj" fmla="val 8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304925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Safe extraction with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6668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000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266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5336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067050"/>
            <a:ext cx="5848203" cy="2771775"/>
          </a:xfrm>
          <a:prstGeom prst="roundRect">
            <a:avLst>
              <a:gd name="adj" fmla="val 549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248024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Error message extraction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5718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8290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0957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"Value: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Success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3471" y="4381499"/>
            <a:ext cx="952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3471" y="4638674"/>
            <a:ext cx="952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8863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1530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"Error: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what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3471" y="5429250"/>
            <a:ext cx="952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83882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05599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60007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63436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Always 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has_value()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before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value()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prevents unexpected exceptions and enables clean error handling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6672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Messages and Descriptions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Error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Better Debugging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Provided as second argument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3263"/>
            <a:ext cx="190495" cy="137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than traditional throw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341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vs Old Throwing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error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feature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182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47749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Message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85900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66874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Error message as second argument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28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86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"Not a positive number"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828925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009900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Old way with string concatenation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71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throw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"Value must be positive"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905249"/>
            <a:ext cx="5848203" cy="1571625"/>
          </a:xfrm>
          <a:prstGeom prst="roundRect">
            <a:avLst>
              <a:gd name="adj" fmla="val 96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4086225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Clean error messages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448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7148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"Not a positive number"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048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Better debugging experience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4768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69404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6387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9816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custom descriptions - cleaner debugging experience than traditional throwing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7913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Comparison: std::expected vs Traditional Try-Catch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86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009649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27635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Old vs New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809749"/>
            <a:ext cx="1828754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7924" y="2448558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198512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1885950"/>
            <a:ext cx="1333466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New Way: Concise &amp; Readable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2686050"/>
            <a:ext cx="133346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Combined error + expected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295650"/>
            <a:ext cx="1828754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42224" y="3820159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45421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371850"/>
            <a:ext cx="1333466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Traditional Way: Nested Try-Catch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417195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More verbose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552949"/>
            <a:ext cx="1828754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61273" y="50584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1291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629150"/>
            <a:ext cx="133346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Reduced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5162550"/>
            <a:ext cx="133346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 error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772150"/>
            <a:ext cx="1828754" cy="876299"/>
          </a:xfrm>
          <a:prstGeom prst="roundRect">
            <a:avLst>
              <a:gd name="adj" fmla="val 1739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94624" y="6144259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9195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8483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6115050"/>
            <a:ext cx="133346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 descriptions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876478" y="9848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81270" y="914400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Old vs New Syntax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76478" y="1352549"/>
            <a:ext cx="3695607" cy="2952750"/>
          </a:xfrm>
          <a:prstGeom prst="roundRect">
            <a:avLst>
              <a:gd name="adj" fmla="val 5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0299" y="1485900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Old way: Traditional try-catch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299" y="1809749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0299" y="2076449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calculate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0299" y="2333624"/>
            <a:ext cx="3447963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0299" y="2867025"/>
            <a:ext cx="3447963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std::cerr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"Error: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what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0299" y="3390899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(...)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0299" y="3657600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throw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0299" y="3914775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76478" y="4381499"/>
            <a:ext cx="3695607" cy="2400300"/>
          </a:xfrm>
          <a:prstGeom prst="roundRect">
            <a:avLst>
              <a:gd name="adj" fmla="val 634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0299" y="4524374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New way: std::expected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00299" y="4876800"/>
            <a:ext cx="3447963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00299" y="5410199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calculate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|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00299" y="5686425"/>
            <a:ext cx="2362140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00299" y="6191250"/>
            <a:ext cx="3447963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"Calculation error"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38819" y="809625"/>
            <a:ext cx="4952876" cy="6048375"/>
          </a:xfrm>
          <a:prstGeom prst="roundRect">
            <a:avLst>
              <a:gd name="adj" fmla="val 307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00739" y="1026794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743631" y="971550"/>
            <a:ext cx="42861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3631" y="1314450"/>
            <a:ext cx="4286142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combines error and expected value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more concise than traditional try-catch with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reduced code complexity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error messages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909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Advanced Features: or_else()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-4684395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-4829175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or_else()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-4562475"/>
            <a:ext cx="22478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Advanced std::expected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-4029075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-3771266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-388171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-3952874"/>
            <a:ext cx="31336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Fallback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-3686175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Provides fallback logic without manual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-3305174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-3047365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-315781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-3228975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Inline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-2962274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Eliminates need for manual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-2581275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-2323466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-2405902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-2505074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Throw Alternative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-223837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Exception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-1857375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-1599566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-168200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-1781174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-1514475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Callables as alternative values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-100583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62020" y="-1209674"/>
            <a:ext cx="138109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or_else() 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-523874"/>
            <a:ext cx="1685882" cy="2276474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149" y="-342900"/>
            <a:ext cx="1266793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or_else() with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49" y="285750"/>
            <a:ext cx="1362040" cy="1314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fallback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228" y="1876424"/>
            <a:ext cx="1685882" cy="7477124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149" y="2057400"/>
            <a:ext cx="1066773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Fallback with lambda alternative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49" y="2943225"/>
            <a:ext cx="1362040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or_else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([]()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49" y="3733799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"fallback"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149" y="4257675"/>
            <a:ext cx="1362040" cy="4705350"/>
          </a:xfrm>
          <a:prstGeom prst="roundRect">
            <a:avLst>
              <a:gd name="adj" fmla="val 111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1070" y="4438649"/>
            <a:ext cx="971525" cy="1276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Eliminates manual has_value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1070" y="5848350"/>
            <a:ext cx="103819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1070" y="6657975"/>
            <a:ext cx="1000099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5862" y="7439024"/>
            <a:ext cx="733406" cy="657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Get expected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1070" y="8115300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else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1070" y="8353424"/>
            <a:ext cx="103819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fallback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149" y="8963024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7228" y="9353550"/>
            <a:ext cx="1685882" cy="3143250"/>
          </a:xfrm>
          <a:prstGeom prst="roundRect">
            <a:avLst>
              <a:gd name="adj" fmla="val 90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19149" y="9570719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62040" y="9515475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040" y="9858375"/>
            <a:ext cx="1019149" cy="2476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or_else()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inline fallback logic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without manual has_value checks - eliminates boilerplate and cleaner code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2669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838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String Parsing with std::expected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Real-World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Always returns valid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than multiple return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71059"/>
            <a:ext cx="190495" cy="49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String to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std::stod integrated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8067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 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error types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50863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438149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Parsing with Error Handling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876299"/>
            <a:ext cx="5848203" cy="3333749"/>
          </a:xfrm>
          <a:prstGeom prst="roundRect">
            <a:avLst>
              <a:gd name="adj" fmla="val 457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057275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Parse string with std::expected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419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685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parseDouble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0659" y="1962149"/>
            <a:ext cx="21335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Parse function body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209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4669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std::stod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0659" y="3019424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 fallback value on 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257550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0.0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37909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324349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8679" y="4505325"/>
            <a:ext cx="15525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Usage example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867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parseDouble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"3.14"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200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"Result: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5435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Result: 3.14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60864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3036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62484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65913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error handling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parsing - functions always return valid expected values with comprehensive error messages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5247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Advanced Examples: Functions Returning std::expected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-6464617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-6629400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-6362700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Safe Error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-5829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-5571491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-5670736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-5753099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Always Returns 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-5486400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Functions return std::expected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-51054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-4847591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-495804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-502920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-4762500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 or Exception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-43814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-4123690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-4242547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-4305300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Handling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-4038599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exceptions in return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-36576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-3399791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-3493433"/>
            <a:ext cx="190495" cy="1288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-3581400"/>
            <a:ext cx="24097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Separated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-3314700"/>
            <a:ext cx="24097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Check has_value() first, then value()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-29336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08924" y="-2675890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-2773736"/>
            <a:ext cx="190495" cy="1372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85822" y="-2857500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22" y="-2590799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Provided by std::exception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-1948814"/>
            <a:ext cx="228594" cy="1257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2020" y="-2286000"/>
            <a:ext cx="1381090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Returns Examples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-1333500"/>
            <a:ext cx="1685882" cy="5962650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149" y="-266699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149" y="266699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parseHex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149" y="790574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149" y="1047749"/>
            <a:ext cx="1362040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std::stoi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str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nullptr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8734" y="2124075"/>
            <a:ext cx="1457288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ex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149" y="3152775"/>
            <a:ext cx="1362040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149" y="421004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7228" y="4743450"/>
            <a:ext cx="1685882" cy="6038849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149" y="4933950"/>
            <a:ext cx="1362040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with error checking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149" y="5553074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parseHex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"FF"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149" y="6153149"/>
            <a:ext cx="1362040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 {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149" y="6943725"/>
            <a:ext cx="1362040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149" y="7734299"/>
            <a:ext cx="1362040" cy="1314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"Value: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Success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3941" y="9067800"/>
            <a:ext cx="7810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else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149" y="9315450"/>
            <a:ext cx="1362040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std::cerr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Error handling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3941" y="10382250"/>
            <a:ext cx="952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7228" y="10906124"/>
            <a:ext cx="1685882" cy="3390899"/>
          </a:xfrm>
          <a:prstGeom prst="roundRect">
            <a:avLst>
              <a:gd name="adj" fmla="val 90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19149" y="11123295"/>
            <a:ext cx="228594" cy="1943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62040" y="11068050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62040" y="11410950"/>
            <a:ext cx="1019149" cy="27241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Functions returning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safety - always valid expected type, clean error handling, separate success from error handling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6005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Case #1: Type Conversion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-3432810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-3571875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-3305174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Automatic Type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-2771775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-2513966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-263282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-269557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Automatic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-2428875"/>
            <a:ext cx="25431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Implicit casts work with std::expected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-2047874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-1790065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-187250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-1971675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Manual Casts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-1704975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 than explicit casts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-1323974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-1066165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-117661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-1247775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Type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-981074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Type-erased return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-600075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-342266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-45271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-523874"/>
            <a:ext cx="21430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Flexible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-257175"/>
            <a:ext cx="21430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any convertible type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38480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62020" y="47624"/>
            <a:ext cx="1381090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Conversion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1000125"/>
            <a:ext cx="1685882" cy="3676649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149" y="1181099"/>
            <a:ext cx="1266793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Type conversion with std::expected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49" y="2324100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149" y="2924175"/>
            <a:ext cx="136204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convert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49" y="3457575"/>
            <a:ext cx="1362040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49" y="424815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28" y="4781549"/>
            <a:ext cx="1685882" cy="3200400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624" y="4952999"/>
            <a:ext cx="1362040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No manual casting needed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24" y="5572125"/>
            <a:ext cx="1381090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converted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convert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24" y="6200775"/>
            <a:ext cx="1066773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Implicit conversion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24" y="6781799"/>
            <a:ext cx="1381090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converted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convert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7228" y="8096249"/>
            <a:ext cx="1685882" cy="3143250"/>
          </a:xfrm>
          <a:prstGeom prst="roundRect">
            <a:avLst>
              <a:gd name="adj" fmla="val 90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19149" y="8313419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362040" y="8258175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2040" y="8601075"/>
            <a:ext cx="1019149" cy="2476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handles type conversions automatically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more flexible than explicit casts, no manual casting needed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7912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Case #2: std::expected vs std::optional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-4795837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-4972050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-470535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std::expected vs std::optional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-41719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-405701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-4046435"/>
            <a:ext cx="171445" cy="1299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-41338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Expected = Value +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-37719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-365696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-3639471"/>
            <a:ext cx="171445" cy="1161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-3733799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Optional = Value or Empty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-33718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-325691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-3244952"/>
            <a:ext cx="171445" cy="1272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-33337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Handles Success + 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-2971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-285686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-2855963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-2933699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More Comprehensive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-2571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-245681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-2455913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-2533649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Syntax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-200596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62020" y="-2209800"/>
            <a:ext cx="138109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-1523999"/>
            <a:ext cx="1685882" cy="7296149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050" y="-590549"/>
            <a:ext cx="1438239" cy="990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get_value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5842" y="419100"/>
            <a:ext cx="819129" cy="942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 expected with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50" y="1390650"/>
            <a:ext cx="1438239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50" y="2133599"/>
            <a:ext cx="1438239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|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"Calculation error"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50" y="2876549"/>
            <a:ext cx="14382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8239" y="3181350"/>
            <a:ext cx="819129" cy="1190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Always returns valid expected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8239" y="4419600"/>
            <a:ext cx="914377" cy="1190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Returns either calculated value or 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228" y="5886450"/>
            <a:ext cx="1685882" cy="3543300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050" y="6019800"/>
            <a:ext cx="1276318" cy="695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std::optional: Value or Empty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50" y="6819900"/>
            <a:ext cx="1438239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std::optional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get_optional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5842" y="7581899"/>
            <a:ext cx="819129" cy="695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Return optional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050" y="8305799"/>
            <a:ext cx="143823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050" y="8801100"/>
            <a:ext cx="14382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opt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050" y="9048749"/>
            <a:ext cx="14382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7228" y="9429750"/>
            <a:ext cx="1685882" cy="3219449"/>
          </a:xfrm>
          <a:prstGeom prst="roundRect">
            <a:avLst>
              <a:gd name="adj" fmla="val 90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81050" y="959615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85842" y="9544050"/>
            <a:ext cx="59053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6378" y="9544050"/>
            <a:ext cx="1038199" cy="2971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combines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expected value and error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more comprehensive than std::optional, handles both success and error in single type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93914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Case #3: Exception Propagation and Rethrowing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-5233987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-5410199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-51435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Tricky Error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-46100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27973" y="-437133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-4451536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-45339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Propagation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-4267199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Errors propagated through expected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-39623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27973" y="-372363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-3798233"/>
            <a:ext cx="190495" cy="1288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7723" y="-3886200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-3619499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Preserves exception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-33147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27973" y="-307594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-3139327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23" y="-323850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Re-throw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" y="-2971800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Expected can be re-thrown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-26670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27973" y="-242824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-2528047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23" y="-25907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23" y="-2324100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than nested try-catch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-185356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62020" y="-2057400"/>
            <a:ext cx="138109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Chaining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-1371600"/>
            <a:ext cx="1685882" cy="3257550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050" y="-600075"/>
            <a:ext cx="143823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log_and_throw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msg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50" y="190499"/>
            <a:ext cx="143823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std::cerr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msg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50" y="971550"/>
            <a:ext cx="1438239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throw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msg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50" y="15049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1962149"/>
            <a:ext cx="1685882" cy="5095874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050" y="2105024"/>
            <a:ext cx="1266793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Exception propagation through std::expected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050" y="3257550"/>
            <a:ext cx="1438239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std::runtime_error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50" y="3781424"/>
            <a:ext cx="1438239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process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050" y="4305300"/>
            <a:ext cx="143823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50" y="5095874"/>
            <a:ext cx="1438239" cy="7905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log_and_throw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"Negative value"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050" y="58864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050" y="6153149"/>
            <a:ext cx="1438239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050" y="66770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228" y="7143750"/>
            <a:ext cx="1685882" cy="2543175"/>
          </a:xfrm>
          <a:prstGeom prst="roundRect">
            <a:avLst>
              <a:gd name="adj" fmla="val 90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1050" y="7286625"/>
            <a:ext cx="1162020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Exception information preserved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050" y="8181974"/>
            <a:ext cx="1362040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Contains original error 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050" y="9048749"/>
            <a:ext cx="1362040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// Clean error chain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228" y="9763124"/>
            <a:ext cx="1685882" cy="3314700"/>
          </a:xfrm>
          <a:prstGeom prst="roundRect">
            <a:avLst>
              <a:gd name="adj" fmla="val 90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81050" y="9942194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23941" y="9886950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3941" y="10229850"/>
            <a:ext cx="1095347" cy="27241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enables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propagation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errors are chained through call stack while preserving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error information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from original exception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5150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Support and Standard Compliance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7543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390650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657350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Availability in Modern Compilers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19074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24485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34931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2669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2533649"/>
            <a:ext cx="8286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11+ (partial)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91465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1724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07321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2990849"/>
            <a:ext cx="4476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257550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12+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63855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38963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79711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3714750"/>
            <a:ext cx="4762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3981449"/>
            <a:ext cx="4762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19.2+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36245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46202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5098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443864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C++23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470535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Required for std::expected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010149"/>
            <a:ext cx="4629034" cy="1276350"/>
          </a:xfrm>
          <a:prstGeom prst="roundRect">
            <a:avLst>
              <a:gd name="adj" fmla="val 1194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8654" y="5222081"/>
            <a:ext cx="228594" cy="18573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71545" y="516255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Implementation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54" y="5619750"/>
            <a:ext cx="4305192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MSVC 19.2 supports most std::expected features, GCC 11 has partial support, Clang 12+ has full support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908934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81550" y="2838450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Migration Path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276599"/>
            <a:ext cx="5848203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448049"/>
            <a:ext cx="401944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Migration from try-catch to std::expected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809999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// Before: Try-catch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1148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try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code...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}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catch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std::exception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4386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handle_error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3815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Benefits and Trade-offs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55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Efficient Overhead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Optimizations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Same as plain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02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Minimal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Similar to return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Zero-Cost When No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in success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9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 Syntax Overhead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Justified by readability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356961"/>
            <a:ext cx="228594" cy="1628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305049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vs Traditional Approaches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743200"/>
            <a:ext cx="5848203" cy="1476375"/>
          </a:xfrm>
          <a:prstGeom prst="roundRect">
            <a:avLst>
              <a:gd name="adj" fmla="val 1032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3021268"/>
            <a:ext cx="171445" cy="1106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48223" y="298132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Comparative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0579" y="3324225"/>
            <a:ext cx="5600559" cy="771525"/>
          </a:xfrm>
          <a:prstGeom prst="roundRect">
            <a:avLst>
              <a:gd name="adj" fmla="val 19753"/>
            </a:avLst>
          </a:prstGeom>
          <a:solidFill>
            <a:srgbClr val="33415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4877" y="3438525"/>
            <a:ext cx="53719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"/>
                <a:rFonts ascii="Roboto" hAnsi="Roboto" eastAsia="Roboto" cs="Roboto"/>
              </a:rPr>
              <a:t>throw</a:t>
            </a:r>
            <a:r>
              <a:rPr sz="897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vs </a:t>
            </a:r>
            <a:r>
              <a:rPr sz="897" b="0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std::expected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4877" y="3752849"/>
            <a:ext cx="53719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// Similar performance when no exceptions thrown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42195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4436745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81570" y="43814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570" y="47243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std::expected has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similar performance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to plain types with compiler optimizations - the readability and safety benefits justify minimal overhead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078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5735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std::expected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24049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574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572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577434"/>
            <a:ext cx="171445" cy="1410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495550"/>
            <a:ext cx="21430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std::expected - C++23 error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8575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2972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2998224"/>
            <a:ext cx="171445" cy="995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8956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Basic Syntax &amp;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2575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3372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37338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295650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Exception Types &amp;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6576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772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784497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695699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Value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0576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4172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4173486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4095749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Error Messages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4577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5726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592893"/>
            <a:ext cx="171445" cy="1106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495799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vs Traditional try-catch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857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49726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4970820"/>
            <a:ext cx="171445" cy="15485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4895849"/>
            <a:ext cx="28955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Advanced Features - or_else(), unwrap, transform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5257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53727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5398524"/>
            <a:ext cx="171445" cy="995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5295899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Parsing &amp; Function Returns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6578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51798" y="57727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5776451"/>
            <a:ext cx="171445" cy="1437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0575" y="5695949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Conversion &amp; optional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76758" y="1171098"/>
            <a:ext cx="228594" cy="1914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81550" y="1133475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1724024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23724" y="1877058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91055" y="1871382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57748" y="1800225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error handling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223837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23724" y="23914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91055" y="2377327"/>
            <a:ext cx="190495" cy="17929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57748" y="2314575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syntax than try-catch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275272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23724" y="290575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91055" y="2900082"/>
            <a:ext cx="190495" cy="16248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57748" y="2828925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326707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23724" y="34201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91055" y="3425638"/>
            <a:ext cx="190495" cy="14007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57748" y="3343275"/>
            <a:ext cx="24669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Advanced features (or_else, unwrap)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3781424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23724" y="3934458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91055" y="3941388"/>
            <a:ext cx="190495" cy="1372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57748" y="3857625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performance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4295774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23724" y="4448808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91055" y="4508760"/>
            <a:ext cx="190495" cy="3122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7748" y="437197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feature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4733925"/>
            <a:ext cx="5848203" cy="1819275"/>
          </a:xfrm>
          <a:prstGeom prst="roundRect">
            <a:avLst>
              <a:gd name="adj" fmla="val 837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838679" y="4951095"/>
            <a:ext cx="228594" cy="19430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181570" y="4895849"/>
            <a:ext cx="51814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81570" y="5276850"/>
            <a:ext cx="5181470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C++23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std::expected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 error handling with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advanced features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like or_else(), transform, and unwrap - more portable and composable than traditional try-catch 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