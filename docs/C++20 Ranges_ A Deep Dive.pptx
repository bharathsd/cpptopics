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5.png"/><Relationship Id="rId6" Type="http://schemas.openxmlformats.org/officeDocument/2006/relationships/image" Target="../media/image18.png"/><Relationship Id="rId7" Type="http://schemas.openxmlformats.org/officeDocument/2006/relationships/image" Target="../media/image9.png"/><Relationship Id="rId8" Type="http://schemas.openxmlformats.org/officeDocument/2006/relationships/image" Target="../media/image29.png"/><Relationship Id="rId9" Type="http://schemas.openxmlformats.org/officeDocument/2006/relationships/image" Target="../media/image21.png"/><Relationship Id="rId10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14.png"/><Relationship Id="rId8" Type="http://schemas.openxmlformats.org/officeDocument/2006/relationships/image" Target="../media/image3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14.png"/><Relationship Id="rId7" Type="http://schemas.openxmlformats.org/officeDocument/2006/relationships/image" Target="../media/image7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image" Target="../media/image17.png"/><Relationship Id="rId13" Type="http://schemas.openxmlformats.org/officeDocument/2006/relationships/image" Target="../media/image16.png"/><Relationship Id="rId14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36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Relationship Id="rId8" Type="http://schemas.openxmlformats.org/officeDocument/2006/relationships/image" Target="../media/image16.png"/><Relationship Id="rId9" Type="http://schemas.openxmlformats.org/officeDocument/2006/relationships/image" Target="../media/image5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9.png"/><Relationship Id="rId4" Type="http://schemas.openxmlformats.org/officeDocument/2006/relationships/image" Target="../media/image18.png"/><Relationship Id="rId5" Type="http://schemas.openxmlformats.org/officeDocument/2006/relationships/image" Target="../media/image43.png"/><Relationship Id="rId6" Type="http://schemas.openxmlformats.org/officeDocument/2006/relationships/image" Target="../media/image5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29.png"/><Relationship Id="rId4" Type="http://schemas.openxmlformats.org/officeDocument/2006/relationships/image" Target="../media/image21.png"/><Relationship Id="rId5" Type="http://schemas.openxmlformats.org/officeDocument/2006/relationships/image" Target="../media/image5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21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Relationship Id="rId7" Type="http://schemas.openxmlformats.org/officeDocument/2006/relationships/image" Target="../media/image62.png"/><Relationship Id="rId8" Type="http://schemas.openxmlformats.org/officeDocument/2006/relationships/image" Target="../media/image18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59.png"/><Relationship Id="rId4" Type="http://schemas.openxmlformats.org/officeDocument/2006/relationships/image" Target="../media/image68.png"/><Relationship Id="rId5" Type="http://schemas.openxmlformats.org/officeDocument/2006/relationships/image" Target="../media/image29.png"/><Relationship Id="rId6" Type="http://schemas.openxmlformats.org/officeDocument/2006/relationships/image" Target="../media/image4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image" Target="../media/image72.png"/><Relationship Id="rId4" Type="http://schemas.openxmlformats.org/officeDocument/2006/relationships/image" Target="../media/image32.png"/><Relationship Id="rId5" Type="http://schemas.openxmlformats.org/officeDocument/2006/relationships/image" Target="../media/image21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18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59.png"/><Relationship Id="rId5" Type="http://schemas.openxmlformats.org/officeDocument/2006/relationships/image" Target="../media/image68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Relationship Id="rId7" Type="http://schemas.openxmlformats.org/officeDocument/2006/relationships/image" Target="../media/image18.png"/><Relationship Id="rId8" Type="http://schemas.openxmlformats.org/officeDocument/2006/relationships/image" Target="../media/image7.png"/><Relationship Id="rId9" Type="http://schemas.openxmlformats.org/officeDocument/2006/relationships/image" Target="../media/image42.png"/><Relationship Id="rId10" Type="http://schemas.openxmlformats.org/officeDocument/2006/relationships/image" Target="../media/image4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26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image" Target="../media/image85.png"/><Relationship Id="rId7" Type="http://schemas.openxmlformats.org/officeDocument/2006/relationships/image" Target="../media/image29.png"/><Relationship Id="rId8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image" Target="../media/image82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Relationship Id="rId6" Type="http://schemas.openxmlformats.org/officeDocument/2006/relationships/image" Target="../media/image8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09574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Introduction to C++20 Ranges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324927"/>
            <a:ext cx="228594" cy="1885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171575"/>
            <a:ext cx="15906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What are Ranges?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438274"/>
            <a:ext cx="159063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C++20 Standard Library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1781174"/>
            <a:ext cx="4629034" cy="638175"/>
          </a:xfrm>
          <a:prstGeom prst="roundRect">
            <a:avLst>
              <a:gd name="adj" fmla="val 2388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54" y="1943100"/>
            <a:ext cx="4305192" cy="3143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Composable, lazy-evaluated views over sequences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2754629"/>
            <a:ext cx="228594" cy="2057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1525" y="2609850"/>
            <a:ext cx="11905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25" y="2876549"/>
            <a:ext cx="11905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Why use Ranges?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21944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53440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400705"/>
            <a:ext cx="190495" cy="17088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333749"/>
            <a:ext cx="24097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Composability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638550"/>
            <a:ext cx="24097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Chain operations with pipe operator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0576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3726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255713"/>
            <a:ext cx="190495" cy="137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171950"/>
            <a:ext cx="18097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Lazy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476750"/>
            <a:ext cx="18097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Process only when needed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89584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21080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086910"/>
            <a:ext cx="190495" cy="15127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010149"/>
            <a:ext cx="18001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Zero-Cost Abstractions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314950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temporary allocations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6733" y="573405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351774" y="604900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19129" y="5911102"/>
            <a:ext cx="190495" cy="179294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123921" y="5848350"/>
            <a:ext cx="140966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Expressive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3921" y="6153149"/>
            <a:ext cx="140966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Clean, readable code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76758" y="1636395"/>
            <a:ext cx="228594" cy="19430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981550" y="1600200"/>
            <a:ext cx="9143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Motivation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2000250"/>
            <a:ext cx="5848203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5485623" y="219138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29154" y="2211643"/>
            <a:ext cx="171445" cy="11061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076798" y="2114550"/>
            <a:ext cx="28002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Traditional iterator-based code is verbose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2590799"/>
            <a:ext cx="5848203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5485623" y="2781934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29154" y="2802193"/>
            <a:ext cx="171445" cy="11061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076798" y="2705099"/>
            <a:ext cx="27621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Error-prone manual iterator management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6758" y="3409950"/>
            <a:ext cx="5848203" cy="1828800"/>
          </a:xfrm>
          <a:prstGeom prst="roundRect">
            <a:avLst>
              <a:gd name="adj" fmla="val 833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38679" y="3571875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Traditional vs Ranges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38679" y="3838574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evens = nums |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std::views::filter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([](int x){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38679" y="4067174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%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==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 });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38679" y="4371975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(int x : evens) {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38679" y="4610099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x &lt;&lt;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38679" y="4838699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76758" y="5229225"/>
            <a:ext cx="5848203" cy="857250"/>
          </a:xfrm>
          <a:prstGeom prst="roundRect">
            <a:avLst>
              <a:gd name="adj" fmla="val 17777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38679" y="5447823"/>
            <a:ext cx="228594" cy="191452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181570" y="5391150"/>
            <a:ext cx="51147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Takeaway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81570" y="5695949"/>
            <a:ext cx="51147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Ranges provide a powerful, composable way to work with sequences in C++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20974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 Views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896552"/>
            <a:ext cx="228594" cy="1885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743200"/>
            <a:ext cx="24478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Views: Lightweight Adaptors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3009900"/>
            <a:ext cx="24478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Non-owning range wrappers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4671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13699" y="36201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621036"/>
            <a:ext cx="171445" cy="1493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8674" y="3543300"/>
            <a:ext cx="10477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Lazy evaluation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98144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13699" y="41344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4132620"/>
            <a:ext cx="171445" cy="15485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8674" y="4057650"/>
            <a:ext cx="18668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Composable with | operator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49579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13699" y="46488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655266"/>
            <a:ext cx="171445" cy="13826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8674" y="4572000"/>
            <a:ext cx="16763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Zero allocation overhead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1254442"/>
            <a:ext cx="228594" cy="1771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81550" y="1209674"/>
            <a:ext cx="13429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Views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76758" y="1571625"/>
            <a:ext cx="2886002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5404978" y="1843405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72005" y="1647825"/>
            <a:ext cx="27145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filter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72005" y="1914525"/>
            <a:ext cx="27145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Predicate-based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38959" y="1571625"/>
            <a:ext cx="2886002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8367179" y="1843405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34206" y="1647825"/>
            <a:ext cx="27145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transform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4206" y="1914525"/>
            <a:ext cx="27145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Apply function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257425"/>
            <a:ext cx="2886002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404978" y="2529205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72005" y="2333624"/>
            <a:ext cx="27145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take / take_while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2005" y="2600325"/>
            <a:ext cx="27145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First N elements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38959" y="2257425"/>
            <a:ext cx="2886002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8367179" y="2529205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34206" y="2333624"/>
            <a:ext cx="27145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drop / drop_while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34206" y="2600325"/>
            <a:ext cx="27145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Skip N elements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2943225"/>
            <a:ext cx="2886002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5404978" y="3215005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72005" y="3019424"/>
            <a:ext cx="27145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reverse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72005" y="3286125"/>
            <a:ext cx="27145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Reverse order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38959" y="2943225"/>
            <a:ext cx="2886002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8367179" y="3215005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34206" y="3019424"/>
            <a:ext cx="27145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elements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34206" y="3286125"/>
            <a:ext cx="27145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Tuple indices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76758" y="3629025"/>
            <a:ext cx="2886002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5404978" y="3900805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72005" y="3705224"/>
            <a:ext cx="27145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keys / values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72005" y="3971925"/>
            <a:ext cx="27145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Map access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4442459"/>
            <a:ext cx="228594" cy="12572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981550" y="4371975"/>
            <a:ext cx="147633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Pipeline Example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76758" y="4733925"/>
            <a:ext cx="5848203" cy="1114425"/>
          </a:xfrm>
          <a:prstGeom prst="roundRect">
            <a:avLst>
              <a:gd name="adj" fmla="val 1367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00579" y="4857750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result = data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00579" y="5076825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|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std::views::filter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(is_positive)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0579" y="5295899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|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std::views::transform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(square)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00579" y="5505450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|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std::views::take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83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5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76758" y="5962650"/>
            <a:ext cx="5848203" cy="514350"/>
          </a:xfrm>
          <a:prstGeom prst="roundRect">
            <a:avLst>
              <a:gd name="adj" fmla="val 2962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00579" y="6151188"/>
            <a:ext cx="190495" cy="137272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105372" y="6086475"/>
            <a:ext cx="30479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Lazy: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Elements processed only when iterated </a:t>
            </a:r>
          </a:p>
        </p:txBody>
      </p:sp>
      <p:sp>
        <p:nvSpPr>
          <p:cNvPr id="58" name="Rectangle 5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07649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 Algorithms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60318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24" y="2438400"/>
            <a:ext cx="18573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std::range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24" y="2705099"/>
            <a:ext cx="18573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Work directly with ranges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2385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13699" y="33915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392436"/>
            <a:ext cx="171445" cy="14932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66773" y="3314700"/>
            <a:ext cx="13620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for_each, find, count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75284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13699" y="39058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906786"/>
            <a:ext cx="171445" cy="14932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66773" y="3829050"/>
            <a:ext cx="13906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sort, copy, transform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26719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13699" y="44202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4421136"/>
            <a:ext cx="171445" cy="14932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66773" y="4343400"/>
            <a:ext cx="17335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accumulate, lower_bound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78154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13699" y="49345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4935486"/>
            <a:ext cx="171445" cy="14932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66773" y="4857750"/>
            <a:ext cx="11048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contains, any, all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76758" y="2032634"/>
            <a:ext cx="228594" cy="12572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19649" y="1962149"/>
            <a:ext cx="184780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Traditional vs Ranges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76758" y="2362199"/>
            <a:ext cx="5848203" cy="723900"/>
          </a:xfrm>
          <a:prstGeom prst="roundRect">
            <a:avLst>
              <a:gd name="adj" fmla="val 2105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0579" y="2476499"/>
            <a:ext cx="56005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Traditional - verbose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0579" y="2705099"/>
            <a:ext cx="5600559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std::sort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(vec.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begin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(), vec.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end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());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76758" y="3200400"/>
            <a:ext cx="5848203" cy="704849"/>
          </a:xfrm>
          <a:prstGeom prst="roundRect">
            <a:avLst>
              <a:gd name="adj" fmla="val 21621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390374" y="3486784"/>
            <a:ext cx="7048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29154" y="3314700"/>
            <a:ext cx="558151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Ranges - simple &amp; clean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29154" y="3543300"/>
            <a:ext cx="5581510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std::ranges::sort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(vec);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4057650"/>
            <a:ext cx="5848203" cy="895350"/>
          </a:xfrm>
          <a:prstGeom prst="roundRect">
            <a:avLst>
              <a:gd name="adj" fmla="val 1702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38679" y="42100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found = vec |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std::views::filter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(pred);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45339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idx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std::ranges::find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(found, target);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4952999"/>
            <a:ext cx="5848203" cy="781050"/>
          </a:xfrm>
          <a:prstGeom prst="roundRect">
            <a:avLst>
              <a:gd name="adj" fmla="val 19512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38679" y="5162073"/>
            <a:ext cx="228594" cy="19145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181570" y="5105400"/>
            <a:ext cx="518147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Benefits: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Simpler syntax, works seamlessly with views, no manual iterator management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80027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 Concepts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888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438400"/>
            <a:ext cx="20287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705099"/>
            <a:ext cx="202877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Compile-time type constraints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2385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13699" y="33915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380254"/>
            <a:ext cx="190495" cy="17369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23" y="3314700"/>
            <a:ext cx="14668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Define range behavior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75284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13699" y="39058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90020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47723" y="3829050"/>
            <a:ext cx="19430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Enable generic programming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26719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13699" y="44202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04752"/>
            <a:ext cx="190495" cy="182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47723" y="4343400"/>
            <a:ext cx="16858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Compile-time type safety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78154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13699" y="49345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492890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47723" y="4857750"/>
            <a:ext cx="15620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Self-documenting code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257300"/>
            <a:ext cx="228594" cy="1143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81550" y="1181099"/>
            <a:ext cx="16382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Concepts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76758" y="1581149"/>
            <a:ext cx="2886002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404978" y="1852929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72005" y="1657350"/>
            <a:ext cx="27145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2005" y="1924049"/>
            <a:ext cx="27145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Basic range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38959" y="1581149"/>
            <a:ext cx="2886002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8367179" y="1852929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4206" y="1657350"/>
            <a:ext cx="27145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input_range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4206" y="1924049"/>
            <a:ext cx="27145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Readable once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2266950"/>
            <a:ext cx="2886002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404978" y="2538730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72005" y="2343150"/>
            <a:ext cx="27145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72005" y="2609850"/>
            <a:ext cx="27145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Non-owning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38959" y="2266950"/>
            <a:ext cx="2886002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8367179" y="2538730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34206" y="2343150"/>
            <a:ext cx="27145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borrowed_range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34206" y="2609850"/>
            <a:ext cx="27145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Valid iterators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2952750"/>
            <a:ext cx="2886002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5404978" y="3224530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72005" y="3028950"/>
            <a:ext cx="27145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sized_range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72005" y="3295650"/>
            <a:ext cx="27145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Has size()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638959" y="2952750"/>
            <a:ext cx="2886002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 rot="16200000">
            <a:off x="8367179" y="3224530"/>
            <a:ext cx="609600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34206" y="3028950"/>
            <a:ext cx="27145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common_range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4206" y="3295650"/>
            <a:ext cx="27145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Same iterator type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76758" y="3714750"/>
            <a:ext cx="5848203" cy="2076449"/>
          </a:xfrm>
          <a:prstGeom prst="roundRect">
            <a:avLst>
              <a:gd name="adj" fmla="val 7339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838679" y="3886200"/>
            <a:ext cx="552436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Generic function accepting any input_range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38679" y="41528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template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std::ranges::input_range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R&gt;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38679" y="44005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void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process(R r) {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38679" y="46482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r) {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38679" y="48958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x &lt;&lt;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38679" y="51435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38679" y="53911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76758" y="5791200"/>
            <a:ext cx="5848203" cy="704849"/>
          </a:xfrm>
          <a:prstGeom prst="roundRect">
            <a:avLst>
              <a:gd name="adj" fmla="val 21621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00579" y="5982260"/>
            <a:ext cx="190495" cy="151279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105372" y="5924549"/>
            <a:ext cx="5295767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Hierarchy: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range → input_range → forward_range → bidirectional_range → random_access_range 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66693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Lazy Evaluation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649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714500"/>
            <a:ext cx="18097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Lazy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981199"/>
            <a:ext cx="18097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Process only when needed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3241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6390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5095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438400"/>
            <a:ext cx="26478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On-Demand Computation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2743200"/>
            <a:ext cx="26478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Elements processed only when iterated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1622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4772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367367"/>
            <a:ext cx="190495" cy="1232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276599"/>
            <a:ext cx="197162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 Premature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581400"/>
            <a:ext cx="19716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Skip unnecessary processing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0005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3154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191560"/>
            <a:ext cx="190495" cy="15127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114800"/>
            <a:ext cx="186685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Memory Efficient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419600"/>
            <a:ext cx="18668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intermediate allocations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52999"/>
            <a:ext cx="4629034" cy="1009649"/>
          </a:xfrm>
          <a:prstGeom prst="roundRect">
            <a:avLst>
              <a:gd name="adj" fmla="val 15094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654" y="5105400"/>
            <a:ext cx="4305192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Concept: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Views act as pipelines that process elements one at a time, only when you iterate through them. Perfect for large datasets or when you only need a subset of results. 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1194435"/>
            <a:ext cx="228594" cy="12572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981550" y="1123949"/>
            <a:ext cx="19525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Lazy vs Eager Example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76758" y="1523999"/>
            <a:ext cx="5848203" cy="2305049"/>
          </a:xfrm>
          <a:prstGeom prst="roundRect">
            <a:avLst>
              <a:gd name="adj" fmla="val 6611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838679" y="169544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numbers =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std::views::iota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1000000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8679" y="20192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first_5 = numbers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38679" y="22669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|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std::views::filter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(is_prime)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38679" y="251460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|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std::views::take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5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8384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first_5) {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x &lt;&lt;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 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31622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Only 5 primes checked!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3448049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1">
                <a:solidFill>
                  <a:srgbClr val="4ADE80"/>
                </a:solidFill>
                <a:latin typeface="Roboto Mono"/>
                <a:rFonts ascii="Roboto Mono" hAnsi="Roboto Mono" eastAsia="Roboto Mono" cs="Roboto Mono"/>
              </a:rPr>
              <a:t>✓ NOT all 1,000,000 numbers!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3981449"/>
            <a:ext cx="5848203" cy="1752599"/>
          </a:xfrm>
          <a:prstGeom prst="roundRect">
            <a:avLst>
              <a:gd name="adj" fmla="val 869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38679" y="4209573"/>
            <a:ext cx="228594" cy="19145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181570" y="4152899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Benefits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4643157"/>
            <a:ext cx="190495" cy="1624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143471" y="4572000"/>
            <a:ext cx="36194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Massive speed for large ranges with early termination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38679" y="5005107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143471" y="4933950"/>
            <a:ext cx="25335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intermediate allocations or copies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5367057"/>
            <a:ext cx="190495" cy="1624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143471" y="5295899"/>
            <a:ext cx="34479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Perfect for filtering, searching, and transformations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76758" y="5848350"/>
            <a:ext cx="5848203" cy="704849"/>
          </a:xfrm>
          <a:prstGeom prst="roundRect">
            <a:avLst>
              <a:gd name="adj" fmla="val 21621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00579" y="6052857"/>
            <a:ext cx="190495" cy="162485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067273" y="5981699"/>
            <a:ext cx="5333866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Takeaway: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Lazy evaluation enables efficient processing of large or infinite ranges by computing elements only when actually consumed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76218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 Factories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459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095499"/>
            <a:ext cx="212402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 Factories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362199"/>
            <a:ext cx="212402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Generators without source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895600"/>
            <a:ext cx="4629034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27973" y="3134360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054163"/>
            <a:ext cx="190495" cy="1400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2971800"/>
            <a:ext cx="114297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5822" y="3238500"/>
            <a:ext cx="11429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Generate sequence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581400"/>
            <a:ext cx="4629034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427973" y="3820160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20352"/>
            <a:ext cx="190495" cy="17929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85822" y="3657600"/>
            <a:ext cx="7524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single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5822" y="3924299"/>
            <a:ext cx="7524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One element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27973" y="4505959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14557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85822" y="4343400"/>
            <a:ext cx="7429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empty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22" y="4610099"/>
            <a:ext cx="7429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Empty range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952999"/>
            <a:ext cx="4629034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27973" y="5191759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1003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85822" y="5029200"/>
            <a:ext cx="12572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repeat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5822" y="5295899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Repeat value N times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337310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266824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Factory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666874"/>
            <a:ext cx="5848203" cy="1095374"/>
          </a:xfrm>
          <a:prstGeom prst="roundRect">
            <a:avLst>
              <a:gd name="adj" fmla="val 1391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00579" y="1790700"/>
            <a:ext cx="56005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seq =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std::views::iota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10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00579" y="2105024"/>
            <a:ext cx="56005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(int x : seq) {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x &lt;&lt;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 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0579" y="2409825"/>
            <a:ext cx="56005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89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Output: 1 2 3 4 5 6 7 8 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2876549"/>
            <a:ext cx="5848203" cy="790574"/>
          </a:xfrm>
          <a:prstGeom prst="roundRect">
            <a:avLst>
              <a:gd name="adj" fmla="val 1927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0579" y="3000375"/>
            <a:ext cx="56005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one =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std::views::single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0579" y="3314700"/>
            <a:ext cx="56005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89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Creates range with one element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3781424"/>
            <a:ext cx="5848203" cy="790574"/>
          </a:xfrm>
          <a:prstGeom prst="roundRect">
            <a:avLst>
              <a:gd name="adj" fmla="val 1927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00579" y="3905249"/>
            <a:ext cx="56005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repeated =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std::views::repeat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5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00579" y="4210049"/>
            <a:ext cx="56005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520"/>
              </a:spcBef>
              <a:spcAft>
                <a:spcPts val="0"/>
              </a:spcAft>
            </a:pPr>
            <a:r>
              <a:rPr sz="89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Output: 5 5 5 (3 times)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4724399"/>
            <a:ext cx="5848203" cy="1695449"/>
          </a:xfrm>
          <a:prstGeom prst="roundRect">
            <a:avLst>
              <a:gd name="adj" fmla="val 8988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4930140"/>
            <a:ext cx="228594" cy="21717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181570" y="4886325"/>
            <a:ext cx="17620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1570" y="5229225"/>
            <a:ext cx="17620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• No source data needed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81570" y="5495924"/>
            <a:ext cx="17620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• Zero allocation overhead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570" y="5762625"/>
            <a:ext cx="17620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• Composable with views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1570" y="6029325"/>
            <a:ext cx="17620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26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• Perfect for test data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195257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Projections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356485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171700"/>
            <a:ext cx="18573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438400"/>
            <a:ext cx="18573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Key/Member Access 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9718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32867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318527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3086100"/>
            <a:ext cx="1600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std::views::keys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3390899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Extract keys from maps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8480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41630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4067174"/>
            <a:ext cx="190495" cy="9524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962399"/>
            <a:ext cx="17239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std::views::values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4267199"/>
            <a:ext cx="17239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Extract values from maps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7243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50393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911258"/>
            <a:ext cx="190495" cy="15968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838699"/>
            <a:ext cx="20954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std::views::elements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5143500"/>
            <a:ext cx="209544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Select tuple indices by position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775335"/>
            <a:ext cx="228594" cy="12572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81550" y="704849"/>
            <a:ext cx="21811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Map Projection Examples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76758" y="1104900"/>
            <a:ext cx="5848203" cy="1314450"/>
          </a:xfrm>
          <a:prstGeom prst="roundRect">
            <a:avLst>
              <a:gd name="adj" fmla="val 11594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38679" y="12763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std::map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ages =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38679" y="15239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{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"Alice"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30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38679" y="1771650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{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"Bob"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25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8679" y="2019299"/>
            <a:ext cx="552436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533649"/>
            <a:ext cx="5848203" cy="1371600"/>
          </a:xfrm>
          <a:prstGeom prst="roundRect">
            <a:avLst>
              <a:gd name="adj" fmla="val 11111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056998" y="3153409"/>
            <a:ext cx="1371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67253" y="2686050"/>
            <a:ext cx="550531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name : ages |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std::views::keys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67253" y="2933699"/>
            <a:ext cx="550531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name &lt;&lt;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67253" y="3181350"/>
            <a:ext cx="550531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67253" y="3505199"/>
            <a:ext cx="550531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Output: Alice Bob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4019549"/>
            <a:ext cx="5848203" cy="1371600"/>
          </a:xfrm>
          <a:prstGeom prst="roundRect">
            <a:avLst>
              <a:gd name="adj" fmla="val 11111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056998" y="4639309"/>
            <a:ext cx="1371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67253" y="4171950"/>
            <a:ext cx="550531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(int age : ages |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std::views::values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{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67253" y="4419600"/>
            <a:ext cx="550531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age &lt;&lt;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67253" y="4667249"/>
            <a:ext cx="550531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67253" y="4991100"/>
            <a:ext cx="550531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52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Output: 30 25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543550"/>
            <a:ext cx="5848203" cy="1428750"/>
          </a:xfrm>
          <a:prstGeom prst="roundRect">
            <a:avLst>
              <a:gd name="adj" fmla="val 10666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38679" y="5770244"/>
            <a:ext cx="228594" cy="19430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81570" y="5715000"/>
            <a:ext cx="274313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181570" y="6113526"/>
            <a:ext cx="133346" cy="11734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391115" y="6057900"/>
            <a:ext cx="18001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Simplify map/tuple access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181570" y="6380226"/>
            <a:ext cx="133346" cy="11734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391115" y="6324599"/>
            <a:ext cx="222879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manual iterator dereferencing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181570" y="6646926"/>
            <a:ext cx="133346" cy="11734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391115" y="6591300"/>
            <a:ext cx="253358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seamlessly with views pipeline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42901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with Ranges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956911"/>
            <a:ext cx="228594" cy="16287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24" y="1790700"/>
            <a:ext cx="187637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24" y="2057400"/>
            <a:ext cx="187637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Zero-cost abstractions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5907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351774" y="29057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781860"/>
            <a:ext cx="190495" cy="1512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21" y="2705099"/>
            <a:ext cx="215259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No Intermediate Allocations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3921" y="3009900"/>
            <a:ext cx="215259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Views don't own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34290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351774" y="37439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19129" y="36144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23921" y="3543300"/>
            <a:ext cx="230499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Single-Pass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3848099"/>
            <a:ext cx="23049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Pipeline processes elements once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351774" y="4582158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19129" y="4463863"/>
            <a:ext cx="190495" cy="1400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23921" y="4381499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Cache-Friendly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3921" y="4686300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Sequential memory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5105400"/>
            <a:ext cx="4629034" cy="761999"/>
          </a:xfrm>
          <a:prstGeom prst="roundRect">
            <a:avLst>
              <a:gd name="adj" fmla="val 20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351774" y="5420359"/>
            <a:ext cx="7619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19129" y="5318872"/>
            <a:ext cx="190495" cy="10645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23921" y="5219700"/>
            <a:ext cx="19621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Early Termination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3921" y="5524499"/>
            <a:ext cx="19621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take() stops processing early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1457325"/>
            <a:ext cx="228594" cy="1714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019649" y="1409699"/>
            <a:ext cx="129536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Considerations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180974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523724" y="19627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791055" y="1966451"/>
            <a:ext cx="171445" cy="1437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38699" y="1885950"/>
            <a:ext cx="19811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Iterator overhead in hot loops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232410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523724" y="24771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791055" y="2489097"/>
            <a:ext cx="171445" cy="12720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038699" y="2400300"/>
            <a:ext cx="202877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Multiple lambda call overhead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283845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5523724" y="29914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791055" y="3017274"/>
            <a:ext cx="171445" cy="9955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038699" y="2914650"/>
            <a:ext cx="168588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Complexity vs readability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3429000"/>
            <a:ext cx="5848203" cy="2152650"/>
          </a:xfrm>
          <a:prstGeom prst="roundRect">
            <a:avLst>
              <a:gd name="adj" fmla="val 707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838679" y="3628072"/>
            <a:ext cx="228594" cy="21145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181570" y="3581400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Optimization Tips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838679" y="4116336"/>
            <a:ext cx="171445" cy="14932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086322" y="4038599"/>
            <a:ext cx="208592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 auto&amp;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in lambdas</a:t>
            </a:r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838679" y="4478286"/>
            <a:ext cx="171445" cy="149327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086322" y="4400550"/>
            <a:ext cx="17620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Avoid unnecessary copies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5838679" y="4840236"/>
            <a:ext cx="171445" cy="149327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086322" y="4762500"/>
            <a:ext cx="16573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Profile before optimizing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13">
            <a:alphaModFix amt="100000"/>
          </a:blip>
          <a:stretch>
            <a:fillRect/>
          </a:stretch>
        </p:blipFill>
        <p:spPr>
          <a:xfrm>
            <a:off x="5838679" y="5202186"/>
            <a:ext cx="171445" cy="149327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086322" y="5124449"/>
            <a:ext cx="161920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Trust modern compilers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76758" y="5581649"/>
            <a:ext cx="5848203" cy="704849"/>
          </a:xfrm>
          <a:prstGeom prst="roundRect">
            <a:avLst>
              <a:gd name="adj" fmla="val 21621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4">
            <a:alphaModFix amt="100000"/>
          </a:blip>
          <a:stretch>
            <a:fillRect/>
          </a:stretch>
        </p:blipFill>
        <p:spPr>
          <a:xfrm>
            <a:off x="5800579" y="5837704"/>
            <a:ext cx="190495" cy="173691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067273" y="5695949"/>
            <a:ext cx="5333866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Modern compilers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optimize ranges to be as fast as or faster than traditional iterator-based code 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23861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Ranges vs Traditional Iterators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499235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314450"/>
            <a:ext cx="169540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Traditional Iterators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581149"/>
            <a:ext cx="169540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Verbose &amp; Manual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114550"/>
            <a:ext cx="4629034" cy="2057400"/>
          </a:xfrm>
          <a:prstGeom prst="roundRect">
            <a:avLst>
              <a:gd name="adj" fmla="val 7407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54" y="2286000"/>
            <a:ext cx="430519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it = vec.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begin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54" y="2533649"/>
            <a:ext cx="430519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it != vec.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end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54" y="2781300"/>
            <a:ext cx="430519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++it) {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54" y="3028950"/>
            <a:ext cx="430519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if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(pred(*it))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54" y="3276599"/>
            <a:ext cx="430519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result.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push_back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(*it);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54" y="3524250"/>
            <a:ext cx="430519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654" y="3771900"/>
            <a:ext cx="430519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226858"/>
            <a:ext cx="190495" cy="15688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3426" y="4171950"/>
            <a:ext cx="12477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Common Issues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51485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532748" y="464883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4675414"/>
            <a:ext cx="152396" cy="9797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09624" y="4591050"/>
            <a:ext cx="19621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Manual iterator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6733" y="499110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532748" y="512508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5151664"/>
            <a:ext cx="152396" cy="9797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09624" y="5067299"/>
            <a:ext cx="17335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Prone to off-by-one errors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6733" y="5467349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 Same Side Corner Rectangle 24"/>
          <p:cNvSpPr/>
          <p:nvPr/>
        </p:nvSpPr>
        <p:spPr>
          <a:xfrm rot="16200000">
            <a:off x="532748" y="5601334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5627914"/>
            <a:ext cx="152396" cy="9797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09624" y="5543550"/>
            <a:ext cx="1638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Intermediate allocations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33" y="5943600"/>
            <a:ext cx="4629034" cy="400050"/>
          </a:xfrm>
          <a:prstGeom prst="roundRect">
            <a:avLst>
              <a:gd name="adj" fmla="val 38095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32748" y="6077585"/>
            <a:ext cx="4000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6104164"/>
            <a:ext cx="152396" cy="9797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09624" y="6019800"/>
            <a:ext cx="13144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Less readable code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76758" y="1739264"/>
            <a:ext cx="228594" cy="21717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981550" y="1600200"/>
            <a:ext cx="150491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Ranges Approach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1550" y="1866899"/>
            <a:ext cx="15049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Clean &amp; Declarative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2400300"/>
            <a:ext cx="5848203" cy="1047749"/>
          </a:xfrm>
          <a:prstGeom prst="roundRect">
            <a:avLst>
              <a:gd name="adj" fmla="val 14545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5218924" y="2858134"/>
            <a:ext cx="10477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67253" y="2552700"/>
            <a:ext cx="550531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vec |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std::views::filter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(pred))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67253" y="2800350"/>
            <a:ext cx="550531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result.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push_back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(x);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67253" y="3047999"/>
            <a:ext cx="550531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3494554"/>
            <a:ext cx="190495" cy="173691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943451" y="3448049"/>
            <a:ext cx="1238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Advantages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76758" y="3790949"/>
            <a:ext cx="2886002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 rot="16200000">
            <a:off x="5523724" y="39439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791055" y="3944886"/>
            <a:ext cx="171445" cy="14932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038699" y="3867149"/>
            <a:ext cx="100009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Simpler syntax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638959" y="3790949"/>
            <a:ext cx="2886002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 rot="16200000">
            <a:off x="8485925" y="39439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753256" y="3944886"/>
            <a:ext cx="171445" cy="14932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9000899" y="3867149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iterator arithmetic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76758" y="4305300"/>
            <a:ext cx="2886002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 rot="16200000">
            <a:off x="5523724" y="44583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791055" y="4459236"/>
            <a:ext cx="171445" cy="14932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038699" y="4381499"/>
            <a:ext cx="84770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Fewer errors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638959" y="4305300"/>
            <a:ext cx="2886002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 rot="16200000">
            <a:off x="8485925" y="44583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753256" y="4459236"/>
            <a:ext cx="171445" cy="14932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000899" y="4381499"/>
            <a:ext cx="1438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Better maintainability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76758" y="4933950"/>
            <a:ext cx="5848203" cy="1123949"/>
          </a:xfrm>
          <a:prstGeom prst="roundRect">
            <a:avLst>
              <a:gd name="adj" fmla="val 1355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38679" y="5160644"/>
            <a:ext cx="228594" cy="194309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181570" y="5105400"/>
            <a:ext cx="51814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Result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81570" y="5410199"/>
            <a:ext cx="5181470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Ranges provide a safer, faster, and easier-to-read alternative to traditional iterator-based code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85752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Ranges Best Practices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038224"/>
            <a:ext cx="3543211" cy="1181099"/>
          </a:xfrm>
          <a:prstGeom prst="roundRect">
            <a:avLst>
              <a:gd name="adj" fmla="val 1290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142224" y="1562733"/>
            <a:ext cx="11810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1223682"/>
            <a:ext cx="190495" cy="1624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85822" y="1152524"/>
            <a:ext cx="3009824" cy="4667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Prefer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std::ranges</a:t>
            </a: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over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</a:t>
            </a: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algorithms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4241" y="1038224"/>
            <a:ext cx="3543211" cy="1181099"/>
          </a:xfrm>
          <a:prstGeom prst="roundRect">
            <a:avLst>
              <a:gd name="adj" fmla="val 1290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3799732" y="1562733"/>
            <a:ext cx="11810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476638" y="1223682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43331" y="1152524"/>
            <a:ext cx="208592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 auto&amp;</a:t>
            </a: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in lambdas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1750" y="1038224"/>
            <a:ext cx="3543211" cy="1181099"/>
          </a:xfrm>
          <a:prstGeom prst="roundRect">
            <a:avLst>
              <a:gd name="adj" fmla="val 12903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7457241" y="1562733"/>
            <a:ext cx="11810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34146" y="1223682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400839" y="1152524"/>
            <a:ext cx="19525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Use views for lazy evaluation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6733" y="2333624"/>
            <a:ext cx="3543211" cy="1000125"/>
          </a:xfrm>
          <a:prstGeom prst="roundRect">
            <a:avLst>
              <a:gd name="adj" fmla="val 15238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232711" y="2767646"/>
            <a:ext cx="1000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9129" y="2519082"/>
            <a:ext cx="190495" cy="1624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85822" y="2447924"/>
            <a:ext cx="211449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|</a:t>
            </a: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operator for composition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4241" y="2333624"/>
            <a:ext cx="3543211" cy="1000125"/>
          </a:xfrm>
          <a:prstGeom prst="roundRect">
            <a:avLst>
              <a:gd name="adj" fmla="val 15238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3890219" y="2767646"/>
            <a:ext cx="1000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476638" y="2519082"/>
            <a:ext cx="190495" cy="1624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743331" y="2447924"/>
            <a:ext cx="269550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Use projections for key/member access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81750" y="2333624"/>
            <a:ext cx="3543211" cy="1000125"/>
          </a:xfrm>
          <a:prstGeom prst="roundRect">
            <a:avLst>
              <a:gd name="adj" fmla="val 15238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7547728" y="2767646"/>
            <a:ext cx="1000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134146" y="2519082"/>
            <a:ext cx="190495" cy="1624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00839" y="2447924"/>
            <a:ext cx="194305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Profile code for performance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33" y="3438525"/>
            <a:ext cx="3543211" cy="1000125"/>
          </a:xfrm>
          <a:prstGeom prst="roundRect">
            <a:avLst>
              <a:gd name="adj" fmla="val 15238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232711" y="3872547"/>
            <a:ext cx="1000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9129" y="3623982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85822" y="3552825"/>
            <a:ext cx="205734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Use concepts for generic code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24241" y="3438525"/>
            <a:ext cx="3543211" cy="1000125"/>
          </a:xfrm>
          <a:prstGeom prst="roundRect">
            <a:avLst>
              <a:gd name="adj" fmla="val 15238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3890219" y="3872547"/>
            <a:ext cx="1000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4476638" y="3623982"/>
            <a:ext cx="190495" cy="1624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743331" y="3552825"/>
            <a:ext cx="23907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Keep pipelines simple and readable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81750" y="3438525"/>
            <a:ext cx="3543211" cy="1000125"/>
          </a:xfrm>
          <a:prstGeom prst="roundRect">
            <a:avLst>
              <a:gd name="adj" fmla="val 15238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 rot="16200000">
            <a:off x="7547728" y="3872547"/>
            <a:ext cx="1000125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8134146" y="3623982"/>
            <a:ext cx="190495" cy="1624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400839" y="3552825"/>
            <a:ext cx="176208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Avoid unnecessary copies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6733" y="4591050"/>
            <a:ext cx="5352916" cy="857250"/>
          </a:xfrm>
          <a:prstGeom prst="roundRect">
            <a:avLst>
              <a:gd name="adj" fmla="val 17777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3B82F6">
                  <a:alpha val="5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8654" y="4842509"/>
            <a:ext cx="228594" cy="12572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171545" y="4752974"/>
            <a:ext cx="324794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Readability First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1545" y="5057775"/>
            <a:ext cx="324794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Clear, declarative code over clever optimizations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045" y="4591050"/>
            <a:ext cx="5352916" cy="857250"/>
          </a:xfrm>
          <a:prstGeom prst="roundRect">
            <a:avLst>
              <a:gd name="adj" fmla="val 17777"/>
            </a:avLst>
          </a:prstGeom>
          <a:gradFill rotWithShape="1">
            <a:gsLst>
              <a:gs pos="0">
                <a:srgbClr val="F59E0B">
                  <a:alpha val="10000"/>
                </a:srgbClr>
              </a:gs>
              <a:gs pos="100000">
                <a:srgbClr val="F59E0B">
                  <a:alpha val="5000"/>
                </a:srgbClr>
              </a:gs>
            </a:gsLst>
            <a:lin scaled="0" ang="10800000"/>
          </a:gradFill>
          <a:ln w="825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33966" y="4823936"/>
            <a:ext cx="228594" cy="162877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676858" y="4752974"/>
            <a:ext cx="28098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 Matters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6858" y="5057775"/>
            <a:ext cx="280980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Lazy views avoid intermediate allocations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66733" y="5600700"/>
            <a:ext cx="10858228" cy="1028700"/>
          </a:xfrm>
          <a:prstGeom prst="roundRect">
            <a:avLst>
              <a:gd name="adj" fmla="val 14814"/>
            </a:avLst>
          </a:prstGeom>
          <a:solidFill>
            <a:srgbClr val="1E293B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 rot="16200000">
            <a:off x="218423" y="6049010"/>
            <a:ext cx="10287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95327" y="5980922"/>
            <a:ext cx="285742" cy="268255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333466" y="5791200"/>
            <a:ext cx="100009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Ranges are Powerful!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333466" y="6172200"/>
            <a:ext cx="100009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Embrace C++20 ranges in your codebase - they make code more readable, maintainable, and efficient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76248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Ranges Summary and Conclusion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58889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438400"/>
            <a:ext cx="14477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705099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C++20 Ranges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2385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513699" y="33915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3858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5822" y="3314700"/>
            <a:ext cx="231451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Composable, lazy-evaluated views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75284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513699" y="39058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90020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85822" y="3829050"/>
            <a:ext cx="15239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Zero-cost abstractions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26719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13699" y="44202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4414557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85822" y="4343400"/>
            <a:ext cx="256216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for transformations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478154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13699" y="49345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492890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85822" y="4857750"/>
            <a:ext cx="206687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std::ranges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algorithms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76758" y="196214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523724" y="21151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91055" y="2109507"/>
            <a:ext cx="190495" cy="1624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95847" y="2038349"/>
            <a:ext cx="266693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Projections enable key/member access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6758" y="247649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523724" y="26295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791055" y="2623857"/>
            <a:ext cx="190495" cy="16248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95847" y="2552700"/>
            <a:ext cx="31145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Performance excellent with modern compilers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758" y="299084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5523724" y="31438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91055" y="3138207"/>
            <a:ext cx="190495" cy="1624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095847" y="3067050"/>
            <a:ext cx="26574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seamlessly with range-based for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505199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5523724" y="36582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791055" y="3652557"/>
            <a:ext cx="190495" cy="1624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095847" y="3581400"/>
            <a:ext cx="19621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Lazy evaluation for efficiency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76758" y="4095749"/>
            <a:ext cx="5848203" cy="1619250"/>
          </a:xfrm>
          <a:prstGeom prst="roundRect">
            <a:avLst>
              <a:gd name="adj" fmla="val 9411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838679" y="4309576"/>
            <a:ext cx="285742" cy="23909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276818" y="4257675"/>
            <a:ext cx="50862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Recommendation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76818" y="4600575"/>
            <a:ext cx="5086222" cy="838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Embrace </a:t>
            </a:r>
            <a:r>
              <a:rPr sz="107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C++20 Ranges</a:t>
            </a: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 in your codebase! They make code more readable, maintainable, and efficient than traditional iterator-based approaches. 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89552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Filter View Detail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182213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1657350"/>
            <a:ext cx="16477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std::views::filter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1924049"/>
            <a:ext cx="16477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Predicate-based filtering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266950"/>
            <a:ext cx="4629034" cy="523874"/>
          </a:xfrm>
          <a:prstGeom prst="roundRect">
            <a:avLst>
              <a:gd name="adj" fmla="val 29090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555" y="2400300"/>
            <a:ext cx="4381390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Filters elements based on a predicate function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070972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33426" y="2990849"/>
            <a:ext cx="5238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6733" y="3333749"/>
            <a:ext cx="4629034" cy="714375"/>
          </a:xfrm>
          <a:prstGeom prst="roundRect">
            <a:avLst>
              <a:gd name="adj" fmla="val 2133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555" y="3457575"/>
            <a:ext cx="4381390" cy="4667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filtered = range |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std::views::filter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(predicate);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424310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33426" y="4190999"/>
            <a:ext cx="9620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When to 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6733" y="45339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513699" y="46869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698897"/>
            <a:ext cx="171445" cy="1272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8674" y="4610099"/>
            <a:ext cx="197162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Filter out unwanted elements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6733" y="50482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13699" y="52012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81030" y="5213247"/>
            <a:ext cx="171445" cy="1272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28674" y="5124449"/>
            <a:ext cx="20097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Select subset meeting criteria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" y="55626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513699" y="57156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81030" y="5737276"/>
            <a:ext cx="171445" cy="10784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28674" y="5638799"/>
            <a:ext cx="136204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Conditional iteration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676758" y="180403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1733550"/>
            <a:ext cx="7334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Example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133599"/>
            <a:ext cx="5848203" cy="1790700"/>
          </a:xfrm>
          <a:prstGeom prst="roundRect">
            <a:avLst>
              <a:gd name="adj" fmla="val 85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38679" y="2295525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evens = nums |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std::views::filter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([](int x){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38679" y="2524125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%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==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8679" y="2762249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38679" y="3067050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(int x : evens) {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38679" y="3295650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x &lt;&lt;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38679" y="3533774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4076699"/>
            <a:ext cx="5848203" cy="1285875"/>
          </a:xfrm>
          <a:prstGeom prst="roundRect">
            <a:avLst>
              <a:gd name="adj" fmla="val 11851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38679" y="4290732"/>
            <a:ext cx="190495" cy="1624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143471" y="4238624"/>
            <a:ext cx="264788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Lazy 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43471" y="4543425"/>
            <a:ext cx="26478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Elements processed only when iterated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5838679" y="5005080"/>
            <a:ext cx="171445" cy="12443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086322" y="4952999"/>
            <a:ext cx="38575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O(n) complexity, early termination possible 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6758" y="5514975"/>
            <a:ext cx="286695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5523724" y="5668009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5791055" y="5674441"/>
            <a:ext cx="171445" cy="13826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038699" y="5591175"/>
            <a:ext cx="16382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intermediate storage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58008" y="5514975"/>
            <a:ext cx="286695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8504974" y="5668009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772305" y="5679972"/>
            <a:ext cx="171445" cy="12720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019949" y="5591175"/>
            <a:ext cx="148586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Cache-friendly access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80037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Transform View Detail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3168015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3028950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std::views::transform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3295650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Apply function to elements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829050"/>
            <a:ext cx="4629034" cy="809625"/>
          </a:xfrm>
          <a:prstGeom prst="roundRect">
            <a:avLst>
              <a:gd name="adj" fmla="val 18823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555" y="3952874"/>
            <a:ext cx="4381390" cy="56197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Transforms each element using a function, producing a new range with modified values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676758" y="1042147"/>
            <a:ext cx="190495" cy="10645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451" y="962024"/>
            <a:ext cx="5238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Syntax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76758" y="1304925"/>
            <a:ext cx="5848203" cy="476249"/>
          </a:xfrm>
          <a:prstGeom prst="roundRect">
            <a:avLst>
              <a:gd name="adj" fmla="val 3200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0579" y="1428750"/>
            <a:ext cx="56005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transformed = range |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std::views::transform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(function);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76758" y="2023222"/>
            <a:ext cx="190495" cy="10645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451" y="1943100"/>
            <a:ext cx="65720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Example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76758" y="2286000"/>
            <a:ext cx="5848203" cy="1790700"/>
          </a:xfrm>
          <a:prstGeom prst="roundRect">
            <a:avLst>
              <a:gd name="adj" fmla="val 85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38679" y="2447924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squared = nums | 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std::views::transform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([](int x){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8679" y="2676524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* x;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8679" y="2905124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8679" y="3219449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squared)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38679" y="3448049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x &lt;&lt; </a:t>
            </a:r>
            <a:r>
              <a:rPr sz="89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8679" y="3676649"/>
            <a:ext cx="552436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76758" y="4281207"/>
            <a:ext cx="190495" cy="1624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43451" y="4229100"/>
            <a:ext cx="9620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When to Use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76758" y="457200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5523724" y="47250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791055" y="4736997"/>
            <a:ext cx="171445" cy="12720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38699" y="4648200"/>
            <a:ext cx="18954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Mapping data to new values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76758" y="508635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523724" y="52393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791055" y="5251347"/>
            <a:ext cx="171445" cy="1272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038699" y="5162550"/>
            <a:ext cx="118107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Type conversions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76758" y="560070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 rot="16200000">
            <a:off x="5523724" y="57537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791055" y="5760166"/>
            <a:ext cx="171445" cy="13826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038699" y="5676900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Computations on elements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76758" y="6191250"/>
            <a:ext cx="5848203" cy="514350"/>
          </a:xfrm>
          <a:prstGeom prst="roundRect">
            <a:avLst>
              <a:gd name="adj" fmla="val 2962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5800579" y="6379788"/>
            <a:ext cx="190495" cy="13727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105372" y="6334125"/>
            <a:ext cx="401944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O(n) complexity, lazy evaluation for efficiency 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65760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Take and Drop Views Detail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813684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647949"/>
            <a:ext cx="141918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std::views::take(n)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914650"/>
            <a:ext cx="14191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Returns first n elements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181350"/>
            <a:ext cx="2952676" cy="571500"/>
          </a:xfrm>
          <a:prstGeom prst="roundRect">
            <a:avLst>
              <a:gd name="adj" fmla="val 26666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2456" y="3276599"/>
            <a:ext cx="2781230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first_5 = vec |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std::views::take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83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5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070984"/>
            <a:ext cx="228594" cy="1257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1525" y="3905249"/>
            <a:ext cx="14382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std::views::drop(n)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25" y="4171950"/>
            <a:ext cx="14382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Skips first n elements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4438649"/>
            <a:ext cx="2952676" cy="571500"/>
          </a:xfrm>
          <a:prstGeom prst="roundRect">
            <a:avLst>
              <a:gd name="adj" fmla="val 26666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2456" y="4533900"/>
            <a:ext cx="2781230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skip_3 = vec |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std::views::drop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83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000399" y="3130363"/>
            <a:ext cx="190495" cy="14007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67093" y="3067050"/>
            <a:ext cx="179065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take_while / drop_while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000399" y="3409950"/>
            <a:ext cx="3724181" cy="1028700"/>
          </a:xfrm>
          <a:prstGeom prst="roundRect">
            <a:avLst>
              <a:gd name="adj" fmla="val 14814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86122" y="3505199"/>
            <a:ext cx="3552736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positives = vec |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std::views::take_while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([](int x){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6122" y="3905249"/>
            <a:ext cx="35527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return</a:t>
            </a:r>
            <a:r>
              <a:rPr sz="956" b="0">
                <a:solidFill>
                  <a:srgbClr val="000000"/>
                </a:solidFill>
                <a:latin typeface="Roboto Mono"/>
                <a:rFonts ascii="Roboto Mono" hAnsi="Roboto Mono" eastAsia="Roboto Mono" cs="Roboto Mono"/>
              </a:rPr>
              <a:t> x &gt; 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956" b="0">
                <a:solidFill>
                  <a:srgbClr val="00000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6122" y="4133849"/>
            <a:ext cx="35527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000000"/>
                </a:solidFill>
                <a:latin typeface="Roboto Mono"/>
                <a:rFonts ascii="Roboto Mono" hAnsi="Roboto Mono" eastAsia="Roboto Mono" cs="Roboto Mono"/>
              </a:rPr>
              <a:t>});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391315" y="86173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58008" y="809625"/>
            <a:ext cx="9620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When to Use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1315" y="1152524"/>
            <a:ext cx="1400139" cy="838200"/>
          </a:xfrm>
          <a:prstGeom prst="roundRect">
            <a:avLst>
              <a:gd name="adj" fmla="val 1818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8038255" y="1505584"/>
            <a:ext cx="838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505612" y="1279017"/>
            <a:ext cx="133346" cy="12801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15157" y="1228725"/>
            <a:ext cx="1000099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Limit processing to subset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91315" y="2028825"/>
            <a:ext cx="1400139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 Same Side Corner Rectangle 25"/>
          <p:cNvSpPr/>
          <p:nvPr/>
        </p:nvSpPr>
        <p:spPr>
          <a:xfrm rot="16200000">
            <a:off x="8152555" y="2267585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505612" y="2196973"/>
            <a:ext cx="133346" cy="4470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715157" y="2105024"/>
            <a:ext cx="1000099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Skip unwanted elements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91315" y="2676524"/>
            <a:ext cx="1400139" cy="609600"/>
          </a:xfrm>
          <a:prstGeom prst="roundRect">
            <a:avLst>
              <a:gd name="adj" fmla="val 25000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8152555" y="2915284"/>
            <a:ext cx="6096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505612" y="2816352"/>
            <a:ext cx="133346" cy="10134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715157" y="2752725"/>
            <a:ext cx="1000099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Conditional iteration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91455" y="809625"/>
            <a:ext cx="2400239" cy="6048375"/>
          </a:xfrm>
          <a:prstGeom prst="roundRect">
            <a:avLst>
              <a:gd name="adj" fmla="val 6349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9915277" y="1093413"/>
            <a:ext cx="190495" cy="13727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0181970" y="933449"/>
            <a:ext cx="1885902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</a:t>
            </a: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Performance: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O(1) complexity, lazy evaluation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5314950"/>
            <a:ext cx="12048823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03839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Projections Detail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470784"/>
            <a:ext cx="228594" cy="1257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286000"/>
            <a:ext cx="18192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Projections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552700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Key/Member access views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3090022"/>
            <a:ext cx="190495" cy="1064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3426" y="3009900"/>
            <a:ext cx="12286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std::views::keys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6733" y="3352800"/>
            <a:ext cx="4629034" cy="371475"/>
          </a:xfrm>
          <a:prstGeom prst="roundRect">
            <a:avLst>
              <a:gd name="adj" fmla="val 41025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2456" y="3438525"/>
            <a:ext cx="445758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name : ages |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std::views::keys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66733" y="3924299"/>
            <a:ext cx="190495" cy="9524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33426" y="3838574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std::views::values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181474"/>
            <a:ext cx="4629034" cy="371475"/>
          </a:xfrm>
          <a:prstGeom prst="roundRect">
            <a:avLst>
              <a:gd name="adj" fmla="val 41025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2456" y="4267199"/>
            <a:ext cx="445758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3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age : ages |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std::views::values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" y="4720758"/>
            <a:ext cx="190495" cy="15968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33426" y="4667249"/>
            <a:ext cx="15906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std::views::elements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5010149"/>
            <a:ext cx="4629034" cy="371475"/>
          </a:xfrm>
          <a:prstGeom prst="roundRect">
            <a:avLst>
              <a:gd name="adj" fmla="val 41025"/>
            </a:avLst>
          </a:prstGeom>
          <a:solidFill>
            <a:srgbClr val="1E293B">
              <a:alpha val="4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456" y="5095874"/>
            <a:ext cx="4457588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elem = tuple |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std::views::elements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83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0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676758" y="1594485"/>
            <a:ext cx="228594" cy="12572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81550" y="1523999"/>
            <a:ext cx="207639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Map Projection Example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76758" y="1885950"/>
            <a:ext cx="5848203" cy="2133599"/>
          </a:xfrm>
          <a:prstGeom prst="roundRect">
            <a:avLst>
              <a:gd name="adj" fmla="val 714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0579" y="2019299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std::map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&lt;</a:t>
            </a:r>
            <a:r>
              <a:rPr sz="83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83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&gt; ages = 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0579" y="2228850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{</a:t>
            </a:r>
            <a:r>
              <a:rPr sz="83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"Alice"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83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30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}, {</a:t>
            </a:r>
            <a:r>
              <a:rPr sz="83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"Bob"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83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25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0579" y="2447924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0579" y="2752725"/>
            <a:ext cx="1123921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Access keys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0579" y="2952750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name : ages |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std::views::keys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0579" y="3171825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name &lt;&lt; </a:t>
            </a:r>
            <a:r>
              <a:rPr sz="83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0579" y="3390899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0579" y="3686175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Output: Alice Bob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76758" y="417195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 Same Side Corner Rectangle 29"/>
          <p:cNvSpPr/>
          <p:nvPr/>
        </p:nvSpPr>
        <p:spPr>
          <a:xfrm rot="16200000">
            <a:off x="5523724" y="43249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791055" y="4325886"/>
            <a:ext cx="171445" cy="14932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038699" y="4248150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Lazy evaluation - no copies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76758" y="468630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5523724" y="48393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791055" y="4840236"/>
            <a:ext cx="171445" cy="149327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038699" y="4762500"/>
            <a:ext cx="181922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O(1) complexity for access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76758" y="520065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5523724" y="53536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791055" y="5354586"/>
            <a:ext cx="171445" cy="149327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038699" y="5276850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 member access syntax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76758" y="5715000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5523724" y="58680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791055" y="5868936"/>
            <a:ext cx="171445" cy="149327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038699" y="5791200"/>
            <a:ext cx="18573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with range-based for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519099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Reverse and Split Views Detail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825115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705099"/>
            <a:ext cx="160968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std::views::reverse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971800"/>
            <a:ext cx="16096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Reverse iteration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429000"/>
            <a:ext cx="4629034" cy="447675"/>
          </a:xfrm>
          <a:prstGeom prst="roundRect">
            <a:avLst>
              <a:gd name="adj" fmla="val 3404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555" y="3543300"/>
            <a:ext cx="438139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reversed = vec |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std::views::reverse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66733" y="4127182"/>
            <a:ext cx="228594" cy="16573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71525" y="3981449"/>
            <a:ext cx="13429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std::views::split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25" y="4248150"/>
            <a:ext cx="13429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Split by delimiter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6733" y="4514850"/>
            <a:ext cx="4629034" cy="447675"/>
          </a:xfrm>
          <a:prstGeom prst="roundRect">
            <a:avLst>
              <a:gd name="adj" fmla="val 34042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0555" y="4648200"/>
            <a:ext cx="4381390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words = text |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std::views::split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83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 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76758" y="1146922"/>
            <a:ext cx="190495" cy="1064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43451" y="1066799"/>
            <a:ext cx="13239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Reverse Example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76758" y="1409699"/>
            <a:ext cx="5848203" cy="1152524"/>
          </a:xfrm>
          <a:prstGeom prst="roundRect">
            <a:avLst>
              <a:gd name="adj" fmla="val 13223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00579" y="1533525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reversed) 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0579" y="1752599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x &lt;&lt; </a:t>
            </a:r>
            <a:r>
              <a:rPr sz="83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0579" y="1971675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0579" y="2219324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Output: last to first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676758" y="2794747"/>
            <a:ext cx="190495" cy="10645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943451" y="2714625"/>
            <a:ext cx="10477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Split Example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76758" y="3057525"/>
            <a:ext cx="5848203" cy="1409699"/>
          </a:xfrm>
          <a:prstGeom prst="roundRect">
            <a:avLst>
              <a:gd name="adj" fmla="val 10810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0579" y="3181350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std::string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text = </a:t>
            </a:r>
            <a:r>
              <a:rPr sz="83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"hello world"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0579" y="3438525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&amp; word : text | </a:t>
            </a: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std::views::split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83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))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0579" y="3657600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word &lt;&lt; </a:t>
            </a:r>
            <a:r>
              <a:rPr sz="83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0579" y="3867149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0579" y="4124324"/>
            <a:ext cx="5600559" cy="219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43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 Mono"/>
                <a:rFonts ascii="Roboto Mono" hAnsi="Roboto Mono" eastAsia="Roboto Mono" cs="Roboto Mono"/>
              </a:rPr>
              <a:t>// Output: hello, world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4619625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523724" y="4772659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791055" y="4773561"/>
            <a:ext cx="171445" cy="14932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038699" y="4695824"/>
            <a:ext cx="22573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Lazy evaluation - no extra storage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5133975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523724" y="5287009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791055" y="5287911"/>
            <a:ext cx="171445" cy="14932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038699" y="5210174"/>
            <a:ext cx="172398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O(1) complexity for views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5648325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5523724" y="5801359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791055" y="5802261"/>
            <a:ext cx="171445" cy="1493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038699" y="5724524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Composable with other views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6162675"/>
            <a:ext cx="5848203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5523724" y="6315709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791055" y="6316611"/>
            <a:ext cx="171445" cy="149327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038699" y="6238874"/>
            <a:ext cx="18573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Works with range-based for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384800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 Factories Detail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98894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857500"/>
            <a:ext cx="188590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 Factories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3124200"/>
            <a:ext cx="18859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Generate ranges without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3619499"/>
            <a:ext cx="2257368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466074" y="3820158"/>
            <a:ext cx="533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784497"/>
            <a:ext cx="171445" cy="1272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8674" y="3695699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iota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674" y="3924299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Generate sequence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38399" y="3619499"/>
            <a:ext cx="2257368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2837740" y="3820158"/>
            <a:ext cx="533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152696" y="3767905"/>
            <a:ext cx="171445" cy="1603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400339" y="3695699"/>
            <a:ext cx="638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single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0339" y="3924299"/>
            <a:ext cx="6381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One element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6733" y="4267199"/>
            <a:ext cx="2257368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466074" y="4467858"/>
            <a:ext cx="533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030" y="4421136"/>
            <a:ext cx="171445" cy="14932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28674" y="4343400"/>
            <a:ext cx="63815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empty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674" y="4572000"/>
            <a:ext cx="63815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Empty range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38399" y="4267199"/>
            <a:ext cx="2257368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2837740" y="4467858"/>
            <a:ext cx="5333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3152696" y="4421136"/>
            <a:ext cx="171445" cy="1493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400339" y="4343400"/>
            <a:ext cx="7810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repeat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0339" y="4572000"/>
            <a:ext cx="78103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Repeat N times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676758" y="2127885"/>
            <a:ext cx="228594" cy="12572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1550" y="2057400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Code Examples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2419349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2480" y="2514600"/>
            <a:ext cx="56767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77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seq = </a:t>
            </a:r>
            <a:r>
              <a:rPr sz="77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std::views::iota</a:t>
            </a: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77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</a:t>
            </a: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77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10</a:t>
            </a: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76758" y="2857500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2480" y="2943225"/>
            <a:ext cx="56767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77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for</a:t>
            </a: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(</a:t>
            </a:r>
            <a:r>
              <a:rPr sz="777" b="0">
                <a:solidFill>
                  <a:srgbClr val="60A5FA"/>
                </a:solidFill>
                <a:latin typeface="Roboto Mono"/>
                <a:rFonts ascii="Roboto Mono" hAnsi="Roboto Mono" eastAsia="Roboto Mono" cs="Roboto Mono"/>
              </a:rPr>
              <a:t>int</a:t>
            </a: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x : seq) </a:t>
            </a:r>
            <a:r>
              <a:rPr sz="77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std::cout</a:t>
            </a: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&lt;&lt; x &lt;&lt; </a:t>
            </a:r>
            <a:r>
              <a:rPr sz="77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' '</a:t>
            </a: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;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3295650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2480" y="3371850"/>
            <a:ext cx="56767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77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one = </a:t>
            </a:r>
            <a:r>
              <a:rPr sz="77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std::views::single</a:t>
            </a: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77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42</a:t>
            </a: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6758" y="3724274"/>
            <a:ext cx="5848203" cy="361950"/>
          </a:xfrm>
          <a:prstGeom prst="roundRect">
            <a:avLst>
              <a:gd name="adj" fmla="val 42105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2480" y="3809999"/>
            <a:ext cx="56767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235"/>
              </a:lnSpc>
              <a:spcBef>
                <a:spcPts val="0"/>
              </a:spcBef>
              <a:spcAft>
                <a:spcPts val="0"/>
              </a:spcAft>
            </a:pP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</a:t>
            </a:r>
            <a:r>
              <a:rPr sz="77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repeated = </a:t>
            </a:r>
            <a:r>
              <a:rPr sz="777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std::views::repeat</a:t>
            </a: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77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5</a:t>
            </a: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, </a:t>
            </a:r>
            <a:r>
              <a:rPr sz="777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3</a:t>
            </a:r>
            <a:r>
              <a:rPr sz="777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);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229100"/>
            <a:ext cx="5848203" cy="1390650"/>
          </a:xfrm>
          <a:prstGeom prst="roundRect">
            <a:avLst>
              <a:gd name="adj" fmla="val 10958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38679" y="4455795"/>
            <a:ext cx="228594" cy="19430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181570" y="4400550"/>
            <a:ext cx="180970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Benefits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181570" y="4760975"/>
            <a:ext cx="133346" cy="11734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391115" y="4705350"/>
            <a:ext cx="15620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allocation overhead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181570" y="5027676"/>
            <a:ext cx="133346" cy="117348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391115" y="4972050"/>
            <a:ext cx="160015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Composable with views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181570" y="5294376"/>
            <a:ext cx="133346" cy="117348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391115" y="5238749"/>
            <a:ext cx="135251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Perfect for test data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418137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Advanced View Patterns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265045"/>
            <a:ext cx="228594" cy="19430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114550"/>
            <a:ext cx="191447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Composable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25" y="2381250"/>
            <a:ext cx="191447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Roboto"/>
                <a:rFonts ascii="Roboto" hAnsi="Roboto" eastAsia="Roboto" cs="Roboto"/>
              </a:rPr>
              <a:t>Combine views with pipe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6733" y="2914650"/>
            <a:ext cx="4629034" cy="1562100"/>
          </a:xfrm>
          <a:prstGeom prst="roundRect">
            <a:avLst>
              <a:gd name="adj" fmla="val 9756"/>
            </a:avLst>
          </a:prstGeom>
          <a:solidFill>
            <a:srgbClr val="1E293B">
              <a:alpha val="6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8654" y="3067050"/>
            <a:ext cx="430519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auto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 result =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8654" y="3314700"/>
            <a:ext cx="430519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|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std::views::filter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(is_positive)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54" y="3562349"/>
            <a:ext cx="430519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|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std::views::transform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(square)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54" y="3809999"/>
            <a:ext cx="430519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|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std::views::take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</a:t>
            </a:r>
            <a:r>
              <a:rPr sz="956" b="0">
                <a:solidFill>
                  <a:srgbClr val="FBBF24"/>
                </a:solidFill>
                <a:latin typeface="Roboto Mono"/>
                <a:rFonts ascii="Roboto Mono" hAnsi="Roboto Mono" eastAsia="Roboto Mono" cs="Roboto Mono"/>
              </a:rPr>
              <a:t>10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54" y="4057650"/>
            <a:ext cx="4305192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|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std::views::reverse</a:t>
            </a:r>
            <a:r>
              <a:rPr sz="956" b="0">
                <a:solidFill>
                  <a:srgbClr val="E2E8F0"/>
                </a:solidFill>
                <a:latin typeface="Roboto Mono"/>
                <a:rFonts ascii="Roboto Mono" hAnsi="Roboto Mono" eastAsia="Roboto Mono" cs="Roboto Mono"/>
              </a:rPr>
              <a:t>();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6733" y="4476750"/>
            <a:ext cx="4629034" cy="1085850"/>
          </a:xfrm>
          <a:prstGeom prst="roundRect">
            <a:avLst>
              <a:gd name="adj" fmla="val 1403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28654" y="4684395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71545" y="4629150"/>
            <a:ext cx="396230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Lazy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1545" y="4933950"/>
            <a:ext cx="396230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Elements processed only when iterated - enables early termination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76758" y="1664017"/>
            <a:ext cx="228594" cy="1771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81550" y="1619250"/>
            <a:ext cx="11905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Order Matters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76758" y="2019299"/>
            <a:ext cx="5848203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5399898" y="22961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829154" y="2215963"/>
            <a:ext cx="190495" cy="140073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133946" y="2133599"/>
            <a:ext cx="324794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Filter before Transform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3946" y="2400300"/>
            <a:ext cx="32479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Process fewer elements with expensive transformation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76758" y="2819399"/>
            <a:ext cx="5848203" cy="685800"/>
          </a:xfrm>
          <a:prstGeom prst="roundRect">
            <a:avLst>
              <a:gd name="adj" fmla="val 2222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5399898" y="3096259"/>
            <a:ext cx="6858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29154" y="3016063"/>
            <a:ext cx="190495" cy="14007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33946" y="2933699"/>
            <a:ext cx="289552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260"/>
              </a:spcAft>
            </a:pPr>
            <a:r>
              <a:rPr sz="95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Transform before Filter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33946" y="3200400"/>
            <a:ext cx="289552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Transforms all elements - slower for large ranges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76758" y="3657600"/>
            <a:ext cx="5848203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 Same Side Corner Rectangle 28"/>
          <p:cNvSpPr/>
          <p:nvPr/>
        </p:nvSpPr>
        <p:spPr>
          <a:xfrm rot="16200000">
            <a:off x="5485623" y="384873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29154" y="3843057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133946" y="3771900"/>
            <a:ext cx="269550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Single-pass processing through pipeline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76758" y="4286250"/>
            <a:ext cx="5848203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 rot="16200000">
            <a:off x="5485623" y="447738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29154" y="4471707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133946" y="4400550"/>
            <a:ext cx="18668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intermediate allocations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76758" y="4914900"/>
            <a:ext cx="5848203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 rot="16200000">
            <a:off x="5485623" y="510603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5829154" y="5100357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133946" y="5029200"/>
            <a:ext cx="16763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Clean, declarative syntax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76758" y="5543550"/>
            <a:ext cx="5848203" cy="514350"/>
          </a:xfrm>
          <a:prstGeom prst="roundRect">
            <a:avLst>
              <a:gd name="adj" fmla="val 29629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 rot="16200000">
            <a:off x="5485623" y="5734685"/>
            <a:ext cx="51435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5829154" y="5729007"/>
            <a:ext cx="190495" cy="162485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133946" y="5657850"/>
            <a:ext cx="171445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Easy to test and maintain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77170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Views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000125"/>
            <a:ext cx="2628834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433054" y="123380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1980" y="1076325"/>
            <a:ext cx="24573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80" y="1304925"/>
            <a:ext cx="24573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Predicate-based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9864" y="1000125"/>
            <a:ext cx="2628834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3176185" y="123380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5112" y="1076325"/>
            <a:ext cx="24573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transform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5112" y="1304925"/>
            <a:ext cx="24573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Apply function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2996" y="1000125"/>
            <a:ext cx="2628834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 Same Side Corner Rectangle 11"/>
          <p:cNvSpPr/>
          <p:nvPr/>
        </p:nvSpPr>
        <p:spPr>
          <a:xfrm rot="16200000">
            <a:off x="5919317" y="123380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48243" y="1076325"/>
            <a:ext cx="24573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take / drop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243" y="1304925"/>
            <a:ext cx="24573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First N / Skip 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96127" y="1000125"/>
            <a:ext cx="2628834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8662448" y="123380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1375" y="1076325"/>
            <a:ext cx="24573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reverse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375" y="1304925"/>
            <a:ext cx="24573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Reverse order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6733" y="1647825"/>
            <a:ext cx="2628834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 rot="16200000">
            <a:off x="433054" y="188150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980" y="1724024"/>
            <a:ext cx="24573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split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980" y="1952624"/>
            <a:ext cx="24573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Split by delimiter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09864" y="1647825"/>
            <a:ext cx="2628834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 Same Side Corner Rectangle 23"/>
          <p:cNvSpPr/>
          <p:nvPr/>
        </p:nvSpPr>
        <p:spPr>
          <a:xfrm rot="16200000">
            <a:off x="3176185" y="188150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05112" y="1724024"/>
            <a:ext cx="24573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keys / values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5112" y="1952624"/>
            <a:ext cx="24573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Map projections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52996" y="1647825"/>
            <a:ext cx="2628834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 Same Side Corner Rectangle 27"/>
          <p:cNvSpPr/>
          <p:nvPr/>
        </p:nvSpPr>
        <p:spPr>
          <a:xfrm rot="16200000">
            <a:off x="5919317" y="188150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8243" y="1724024"/>
            <a:ext cx="24573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elements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8243" y="1952624"/>
            <a:ext cx="24573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Tuple indices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385732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33426" y="2333624"/>
            <a:ext cx="10858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Factory Views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6733" y="2714625"/>
            <a:ext cx="2628834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 rot="16200000">
            <a:off x="433054" y="294830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1980" y="2790824"/>
            <a:ext cx="24573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iota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980" y="3019424"/>
            <a:ext cx="24573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Generate sequence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09864" y="2714625"/>
            <a:ext cx="2628834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 rot="16200000">
            <a:off x="3176185" y="294830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05112" y="2790824"/>
            <a:ext cx="24573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single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05112" y="3019424"/>
            <a:ext cx="24573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One element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52996" y="2714625"/>
            <a:ext cx="2628834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 rot="16200000">
            <a:off x="5919317" y="294830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48243" y="2790824"/>
            <a:ext cx="24573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empty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48243" y="3019424"/>
            <a:ext cx="24573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Empty range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896127" y="2714625"/>
            <a:ext cx="2628834" cy="533399"/>
          </a:xfrm>
          <a:prstGeom prst="roundRect">
            <a:avLst>
              <a:gd name="adj" fmla="val 28571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 rot="16200000">
            <a:off x="8662448" y="2948304"/>
            <a:ext cx="53339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91375" y="2790824"/>
            <a:ext cx="24573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260"/>
              </a:spcAft>
            </a:pPr>
            <a:r>
              <a:rPr sz="837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repeat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91375" y="3019424"/>
            <a:ext cx="24573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Repeat N times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66733" y="3400425"/>
            <a:ext cx="5352916" cy="1657350"/>
          </a:xfrm>
          <a:prstGeom prst="roundRect">
            <a:avLst>
              <a:gd name="adj" fmla="val 9195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 w="825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28654" y="3617595"/>
            <a:ext cx="228594" cy="194309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71545" y="3581400"/>
            <a:ext cx="109534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Key Patterns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8654" y="4002036"/>
            <a:ext cx="171445" cy="14932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1076298" y="3962399"/>
            <a:ext cx="229546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Composable with pipe operator (|)</a:t>
            </a:r>
          </a:p>
        </p:txBody>
      </p:sp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28654" y="4344936"/>
            <a:ext cx="171445" cy="149327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076298" y="4305300"/>
            <a:ext cx="29622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Lazy evaluation - process only when needed</a:t>
            </a:r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28654" y="4687836"/>
            <a:ext cx="171445" cy="149327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76298" y="4648200"/>
            <a:ext cx="18668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No intermediate allocations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72045" y="3400425"/>
            <a:ext cx="5352916" cy="1657350"/>
          </a:xfrm>
          <a:prstGeom prst="roundRect">
            <a:avLst>
              <a:gd name="adj" fmla="val 9195"/>
            </a:avLst>
          </a:prstGeom>
          <a:gradFill rotWithShape="1">
            <a:gsLst>
              <a:gs pos="0">
                <a:srgbClr val="F59E0B">
                  <a:alpha val="10000"/>
                </a:srgbClr>
              </a:gs>
              <a:gs pos="100000">
                <a:srgbClr val="3B82F6">
                  <a:alpha val="10000"/>
                </a:srgbClr>
              </a:gs>
            </a:gsLst>
            <a:lin scaled="0" ang="10800000"/>
          </a:gradFill>
          <a:ln w="825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333966" y="3609022"/>
            <a:ext cx="228594" cy="21145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676858" y="3581400"/>
            <a:ext cx="12382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Best Practices</a:t>
            </a:r>
          </a:p>
        </p:txBody>
      </p:sp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33966" y="4002036"/>
            <a:ext cx="171445" cy="149327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6581610" y="3962399"/>
            <a:ext cx="208592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Use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const auto&amp;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in lambdas</a:t>
            </a:r>
          </a:p>
        </p:txBody>
      </p:sp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333966" y="4344936"/>
            <a:ext cx="171445" cy="149327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6581610" y="4305300"/>
            <a:ext cx="35622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Order views for performance (filter before transform)</a:t>
            </a:r>
          </a:p>
        </p:txBody>
      </p:sp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333966" y="4687836"/>
            <a:ext cx="171445" cy="149327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6581610" y="4648200"/>
            <a:ext cx="274313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Combine with </a:t>
            </a:r>
            <a:r>
              <a:rPr sz="956" b="0">
                <a:solidFill>
                  <a:srgbClr val="F472B6"/>
                </a:solidFill>
                <a:latin typeface="Roboto Mono"/>
                <a:rFonts ascii="Roboto Mono" hAnsi="Roboto Mono" eastAsia="Roboto Mono" cs="Roboto Mono"/>
              </a:rPr>
              <a:t>std::ranges</a:t>
            </a: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 algorithms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5000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14300"/>
            <a:ext cx="283837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Final Conclusion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2653665"/>
            <a:ext cx="228594" cy="21717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525" y="2628900"/>
            <a:ext cx="211449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C++20 Ranges Complete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6733" y="306705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 Same Side Corner Rectangle 5"/>
          <p:cNvSpPr/>
          <p:nvPr/>
        </p:nvSpPr>
        <p:spPr>
          <a:xfrm rot="16200000">
            <a:off x="513699" y="322008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3220986"/>
            <a:ext cx="171445" cy="1493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8674" y="3143250"/>
            <a:ext cx="17430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All views covered in detail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3581400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 Same Side Corner Rectangle 9"/>
          <p:cNvSpPr/>
          <p:nvPr/>
        </p:nvSpPr>
        <p:spPr>
          <a:xfrm rot="16200000">
            <a:off x="513699" y="3734434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3735336"/>
            <a:ext cx="171445" cy="14932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8674" y="3657600"/>
            <a:ext cx="175255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Range factories explained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6733" y="409574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 rot="16200000">
            <a:off x="513699" y="424878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81030" y="4249686"/>
            <a:ext cx="171445" cy="1493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28674" y="4171950"/>
            <a:ext cx="225736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Advanced patterns demonstrated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6733" y="4610099"/>
            <a:ext cx="4629034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 Same Side Corner Rectangle 17"/>
          <p:cNvSpPr/>
          <p:nvPr/>
        </p:nvSpPr>
        <p:spPr>
          <a:xfrm rot="16200000">
            <a:off x="513699" y="4763133"/>
            <a:ext cx="43814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81030" y="4764036"/>
            <a:ext cx="171445" cy="149327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28674" y="4686300"/>
            <a:ext cx="18573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Best practices documented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76758" y="2762249"/>
            <a:ext cx="5848203" cy="1600200"/>
          </a:xfrm>
          <a:prstGeom prst="roundRect">
            <a:avLst>
              <a:gd name="adj" fmla="val 9523"/>
            </a:avLst>
          </a:prstGeom>
          <a:gradFill rotWithShape="1">
            <a:gsLst>
              <a:gs pos="0">
                <a:srgbClr val="3B82F6">
                  <a:alpha val="10000"/>
                </a:srgbClr>
              </a:gs>
              <a:gs pos="100000">
                <a:srgbClr val="F59E0B">
                  <a:alpha val="10000"/>
                </a:srgbClr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 Same Side Corner Rectangle 21"/>
          <p:cNvSpPr/>
          <p:nvPr/>
        </p:nvSpPr>
        <p:spPr>
          <a:xfrm rot="16200000">
            <a:off x="4942698" y="3496309"/>
            <a:ext cx="1600200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905352" y="3004651"/>
            <a:ext cx="285742" cy="2390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05392" y="2952750"/>
            <a:ext cx="5029074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Roboto"/>
                <a:rFonts ascii="Roboto" hAnsi="Roboto" eastAsia="Roboto" cs="Roboto"/>
              </a:rPr>
              <a:t>Ranges are Powerful!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5392" y="3333749"/>
            <a:ext cx="5029074" cy="838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Roboto"/>
                <a:rFonts ascii="Roboto" hAnsi="Roboto" eastAsia="Roboto" cs="Roboto"/>
              </a:rPr>
              <a:t>Embrace C++20 Ranges in your codebase - they make code more readable, maintainable, and efficient than traditional iterator-based approaches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76758" y="4467224"/>
            <a:ext cx="1895427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5490704" y="4653278"/>
            <a:ext cx="4381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772005" y="4621161"/>
            <a:ext cx="171445" cy="1493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019649" y="4543425"/>
            <a:ext cx="86675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Clean syntax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48383" y="4467224"/>
            <a:ext cx="1895427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7462329" y="4653278"/>
            <a:ext cx="4381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743631" y="4621161"/>
            <a:ext cx="171445" cy="14932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991275" y="4543425"/>
            <a:ext cx="10477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Lazy evaluation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29534" y="4467224"/>
            <a:ext cx="1895427" cy="438149"/>
          </a:xfrm>
          <a:prstGeom prst="roundRect">
            <a:avLst>
              <a:gd name="adj" fmla="val 34782"/>
            </a:avLst>
          </a:prstGeom>
          <a:solidFill>
            <a:srgbClr val="1E293B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9443480" y="4653278"/>
            <a:ext cx="438149" cy="660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724781" y="4621161"/>
            <a:ext cx="171445" cy="149327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972425" y="4543425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Roboto"/>
                <a:rFonts ascii="Roboto" hAnsi="Roboto" eastAsia="Roboto" cs="Roboto"/>
              </a:rPr>
              <a:t>Zero-cost abstraction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781799"/>
            <a:ext cx="12191695" cy="76200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50000">
                <a:srgbClr val="F59E0B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