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9.png"/><Relationship Id="rId8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18.png"/><Relationship Id="rId8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1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7.png"/><Relationship Id="rId7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9.png"/><Relationship Id="rId8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31.png"/><Relationship Id="rId5" Type="http://schemas.openxmlformats.org/officeDocument/2006/relationships/image" Target="../media/image24.png"/><Relationship Id="rId6" Type="http://schemas.openxmlformats.org/officeDocument/2006/relationships/image" Target="../media/image32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9.png"/><Relationship Id="rId8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21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8.png"/><Relationship Id="rId7" Type="http://schemas.openxmlformats.org/officeDocument/2006/relationships/image" Target="../media/image48.png"/><Relationship Id="rId8" Type="http://schemas.openxmlformats.org/officeDocument/2006/relationships/image" Target="../media/image39.png"/><Relationship Id="rId9" Type="http://schemas.openxmlformats.org/officeDocument/2006/relationships/image" Target="../media/image49.png"/><Relationship Id="rId10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07659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Fold Expressions in C++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238249"/>
            <a:ext cx="10858228" cy="800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460"/>
              </a:lnSpc>
              <a:spcBef>
                <a:spcPts val="0"/>
              </a:spcBef>
              <a:spcAft>
                <a:spcPts val="1300"/>
              </a:spcAft>
            </a:pPr>
            <a:r>
              <a:rPr sz="3348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Fold Expressions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33826" y="2228850"/>
            <a:ext cx="819129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95747" y="2343150"/>
            <a:ext cx="49528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0A5FA"/>
                </a:solidFill>
                <a:latin typeface="Roboto"/>
                <a:rFonts ascii="Roboto" hAnsi="Roboto" eastAsia="Roboto" cs="Roboto"/>
              </a:rPr>
              <a:t>C++17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05352" y="2228850"/>
            <a:ext cx="380990" cy="438149"/>
          </a:xfrm>
          <a:prstGeom prst="roundRect">
            <a:avLst>
              <a:gd name="adj" fmla="val 400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67273" y="2343150"/>
            <a:ext cx="57148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BBF24"/>
                </a:solidFill>
                <a:latin typeface="Roboto"/>
                <a:rFonts ascii="Roboto" hAnsi="Roboto" eastAsia="Roboto" cs="Roboto"/>
              </a:rPr>
              <a:t>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38739" y="2228850"/>
            <a:ext cx="819129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0659" y="2343150"/>
            <a:ext cx="49528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0A5FA"/>
                </a:solidFill>
                <a:latin typeface="Roboto"/>
                <a:rFonts ascii="Roboto" hAnsi="Roboto" eastAsia="Roboto" cs="Roboto"/>
              </a:rPr>
              <a:t>C++20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047999"/>
            <a:ext cx="3467013" cy="1562100"/>
          </a:xfrm>
          <a:prstGeom prst="roundRect">
            <a:avLst>
              <a:gd name="adj" fmla="val 9756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-48277" y="3763009"/>
            <a:ext cx="1562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2190695" y="3282114"/>
            <a:ext cx="457188" cy="36997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43011" y="3809999"/>
            <a:ext cx="176208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Parameter Packs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7308" y="4152899"/>
            <a:ext cx="15239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Folding all elements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2340" y="3047999"/>
            <a:ext cx="3467013" cy="1562100"/>
          </a:xfrm>
          <a:prstGeom prst="roundRect">
            <a:avLst>
              <a:gd name="adj" fmla="val 9756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3647330" y="3763009"/>
            <a:ext cx="1562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886302" y="3292642"/>
            <a:ext cx="457188" cy="34891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90995" y="3809999"/>
            <a:ext cx="183827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Binary 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9134" y="4152899"/>
            <a:ext cx="97152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+, *, -, /, ||, &amp;&amp;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57948" y="3047999"/>
            <a:ext cx="3467013" cy="1562100"/>
          </a:xfrm>
          <a:prstGeom prst="roundRect">
            <a:avLst>
              <a:gd name="adj" fmla="val 9756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7342938" y="3763009"/>
            <a:ext cx="1562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581910" y="3346784"/>
            <a:ext cx="457188" cy="24063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143771" y="3809999"/>
            <a:ext cx="134299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Clean Syntax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9949" y="4152899"/>
            <a:ext cx="158111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No recursion needed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6733" y="4914900"/>
            <a:ext cx="10858228" cy="1523999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04852" y="5189154"/>
            <a:ext cx="342891" cy="28969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400139" y="5143500"/>
            <a:ext cx="988670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Introduction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0139" y="5562600"/>
            <a:ext cx="9886702" cy="6286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Fold expressions allow you to apply a binary operation (</a:t>
            </a:r>
            <a:r>
              <a:rPr sz="119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+, *, &amp;&amp;</a:t>
            </a: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) to all elements of a parameter pack in a single line of code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552436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Introduction to Fold Expressions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724977"/>
            <a:ext cx="228594" cy="1885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571625"/>
            <a:ext cx="236214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What are Fold Expressions?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1838324"/>
            <a:ext cx="236214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Folding Parameter Packs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409825"/>
            <a:ext cx="4629034" cy="942975"/>
          </a:xfrm>
          <a:prstGeom prst="roundRect">
            <a:avLst>
              <a:gd name="adj" fmla="val 16161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54" y="2571750"/>
            <a:ext cx="4305192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Apply a binary operation to </a:t>
            </a: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all elements</a:t>
            </a: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of a parameter pack in a single line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35814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351774" y="38963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3766857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23921" y="3695699"/>
            <a:ext cx="17620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Think of it like folding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3921" y="4000500"/>
            <a:ext cx="176208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"Folding" or reducing a list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33" y="44577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351774" y="47726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4654363"/>
            <a:ext cx="190495" cy="14007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23921" y="4572000"/>
            <a:ext cx="20859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Similar to std::reduce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3921" y="4876800"/>
            <a:ext cx="208592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Works with any binary operator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53340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351774" y="56489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5547472"/>
            <a:ext cx="190495" cy="10645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23921" y="5448300"/>
            <a:ext cx="15239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C++17 Feature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3921" y="5753099"/>
            <a:ext cx="15239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Clean, readable syntax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676758" y="2223135"/>
            <a:ext cx="228594" cy="12572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981550" y="2152650"/>
            <a:ext cx="13715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Simple Example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76758" y="2590799"/>
            <a:ext cx="5848203" cy="1409699"/>
          </a:xfrm>
          <a:prstGeom prst="roundRect">
            <a:avLst>
              <a:gd name="adj" fmla="val 1081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38679" y="2752725"/>
            <a:ext cx="55243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Sum of numbers: 1 + 2 + 3 + 4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8679" y="3019424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result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(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+ ... +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4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8679" y="3343275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Before C++17: needed recursive templates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8679" y="3590924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sum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(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1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+ ... +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4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76758" y="4190999"/>
            <a:ext cx="5848203" cy="1343025"/>
          </a:xfrm>
          <a:prstGeom prst="roundRect">
            <a:avLst>
              <a:gd name="adj" fmla="val 11347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838679" y="4408170"/>
            <a:ext cx="228594" cy="19430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181570" y="4352924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Visualizing the Fold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81570" y="4695824"/>
            <a:ext cx="5181470" cy="5619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Fold expressions </a:t>
            </a: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fold</a:t>
            </a: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all parameters together using the binary operator, just like folding a piece of paper 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62903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The Problem Before C++17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888331"/>
            <a:ext cx="228594" cy="1857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733550"/>
            <a:ext cx="287647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Challenges with Parameter Packs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000250"/>
            <a:ext cx="287647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Before Fold Expressions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533649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51774" y="284860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271910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3921" y="2647949"/>
            <a:ext cx="195257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Recursive Templates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21" y="2952750"/>
            <a:ext cx="195257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Complex, hard to understand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40995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51774" y="372490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3598208"/>
            <a:ext cx="190495" cy="15688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3921" y="3524250"/>
            <a:ext cx="213354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Recursive Limit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21" y="3829050"/>
            <a:ext cx="213354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Compile-time depth restrictions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8625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51774" y="460120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4484313"/>
            <a:ext cx="190495" cy="137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23921" y="4400550"/>
            <a:ext cx="238119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Runtime Overhead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21" y="4705350"/>
            <a:ext cx="23811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Manual unpacking costs at runtime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16255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51774" y="547750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9129" y="5376022"/>
            <a:ext cx="190495" cy="10645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23921" y="5276850"/>
            <a:ext cx="14287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Verbose 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3921" y="5581649"/>
            <a:ext cx="142871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Too much boilerplate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25158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181099"/>
            <a:ext cx="136204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Old Approaches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619250"/>
            <a:ext cx="5848203" cy="1790700"/>
          </a:xfrm>
          <a:prstGeom prst="roundRect">
            <a:avLst>
              <a:gd name="adj" fmla="val 851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800225"/>
            <a:ext cx="70483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87171"/>
                </a:solidFill>
                <a:latin typeface="Roboto"/>
                <a:rFonts ascii="Roboto" hAnsi="Roboto" eastAsia="Roboto" cs="Roboto"/>
              </a:rPr>
              <a:t>RECURSIVE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7808" y="1781174"/>
            <a:ext cx="171445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Naive recursive approach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2085975"/>
            <a:ext cx="55243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897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... Args&gt;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2314575"/>
            <a:ext cx="55243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sum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(Args... args) {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679" y="2543175"/>
            <a:ext cx="55243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(args + ...);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3471" y="2800350"/>
            <a:ext cx="154301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87171"/>
                </a:solidFill>
                <a:latin typeface="Roboto Mono"/>
                <a:rFonts ascii="Roboto Mono" hAnsi="Roboto Mono" eastAsia="Roboto Mono" cs="Roboto Mono"/>
              </a:rPr>
              <a:t>// Compiler error!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3009900"/>
            <a:ext cx="55243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76758" y="3562349"/>
            <a:ext cx="5848203" cy="1790700"/>
          </a:xfrm>
          <a:prstGeom prst="roundRect">
            <a:avLst>
              <a:gd name="adj" fmla="val 851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38679" y="3733799"/>
            <a:ext cx="132394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B923C"/>
                </a:solidFill>
                <a:latin typeface="Roboto"/>
                <a:rFonts ascii="Roboto" hAnsi="Roboto" eastAsia="Roboto" cs="Roboto"/>
              </a:rPr>
              <a:t>MANUAL UNPACKING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76918" y="3714750"/>
            <a:ext cx="130489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Using initializer_list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38679" y="4019549"/>
            <a:ext cx="55243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result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89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0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38679" y="4257675"/>
            <a:ext cx="55243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897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arg : {args...}) {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38679" y="4486275"/>
            <a:ext cx="55243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result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+= arg;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38679" y="4724399"/>
            <a:ext cx="55243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38679" y="4952999"/>
            <a:ext cx="55243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result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76758" y="5343525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EF4444">
                  <a:alpha val="10000"/>
                </a:srgbClr>
              </a:gs>
              <a:gs pos="100000">
                <a:srgbClr val="F97316">
                  <a:alpha val="10000"/>
                </a:srgbClr>
              </a:gs>
            </a:gsLst>
            <a:lin scaled="0" ang="10800000"/>
          </a:gradFill>
          <a:ln w="825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560694"/>
            <a:ext cx="228594" cy="19430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181570" y="5505450"/>
            <a:ext cx="435281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Why These Were Problematic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81570" y="5848350"/>
            <a:ext cx="4352816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Recursive: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Compiler complexity, template instantiation overhead</a:t>
            </a:r>
            <a:r>
              <a:rPr sz="1104"/>
              <a:t>
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Manual: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Runtime loop overhead, temporary array creation 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EF4444"/>
              </a:gs>
              <a:gs pos="50000">
                <a:srgbClr val="F97316"/>
              </a:gs>
              <a:gs pos="100000">
                <a:srgbClr val="EF4444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303839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Basic Fold Syntax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737484"/>
            <a:ext cx="228594" cy="1257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552700"/>
            <a:ext cx="22002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Fold Expression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819399"/>
            <a:ext cx="22002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Left Fold vs Right Fold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3390899"/>
            <a:ext cx="4629034" cy="495299"/>
          </a:xfrm>
          <a:prstGeom prst="roundRect">
            <a:avLst>
              <a:gd name="adj" fmla="val 3076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85124" y="3572508"/>
            <a:ext cx="495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9129" y="3505199"/>
            <a:ext cx="3428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0A5FA"/>
                </a:solidFill>
                <a:latin typeface="Roboto"/>
                <a:rFonts ascii="Roboto" hAnsi="Roboto" eastAsia="Roboto" cs="Roboto"/>
              </a:rPr>
              <a:t>args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6318" y="3524250"/>
            <a:ext cx="154301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Parameter pack to fold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4000500"/>
            <a:ext cx="4629034" cy="495299"/>
          </a:xfrm>
          <a:prstGeom prst="roundRect">
            <a:avLst>
              <a:gd name="adj" fmla="val 3076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485124" y="4182109"/>
            <a:ext cx="495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129" y="4114800"/>
            <a:ext cx="19049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BBF24"/>
                </a:solidFill>
                <a:latin typeface="Roboto"/>
                <a:rFonts ascii="Roboto" hAnsi="Roboto" eastAsia="Roboto" cs="Roboto"/>
              </a:rPr>
              <a:t>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3921" y="4133849"/>
            <a:ext cx="186685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Binary operation (+, *, &amp;&amp;, ||)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4610099"/>
            <a:ext cx="4629034" cy="495299"/>
          </a:xfrm>
          <a:prstGeom prst="roundRect">
            <a:avLst>
              <a:gd name="adj" fmla="val 3076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485124" y="4791708"/>
            <a:ext cx="495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129" y="4724399"/>
            <a:ext cx="24764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22C55E"/>
                </a:solidFill>
                <a:latin typeface="Roboto"/>
                <a:rFonts ascii="Roboto" hAnsi="Roboto" eastAsia="Roboto" cs="Roboto"/>
              </a:rPr>
              <a:t>init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1070" y="4743450"/>
            <a:ext cx="21049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Initial value (optional for unary)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676758" y="1321117"/>
            <a:ext cx="228594" cy="1771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81550" y="1276350"/>
            <a:ext cx="14572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Syntax Examples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76758" y="1714500"/>
            <a:ext cx="5848203" cy="914400"/>
          </a:xfrm>
          <a:prstGeom prst="roundRect">
            <a:avLst>
              <a:gd name="adj" fmla="val 16666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38679" y="1876424"/>
            <a:ext cx="84770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LEFT FOLD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2580" y="1895474"/>
            <a:ext cx="13334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((args op ...) op init)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38679" y="2219324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3B82F6"/>
                </a:solidFill>
                <a:latin typeface="Roboto Mono"/>
                <a:rFonts ascii="Roboto Mono" hAnsi="Roboto Mono" eastAsia="Roboto Mono" cs="Roboto Mono"/>
              </a:rPr>
              <a:t>args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op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...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)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op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10B981"/>
                </a:solidFill>
                <a:latin typeface="Roboto Mono"/>
                <a:rFonts ascii="Roboto Mono" hAnsi="Roboto Mono" eastAsia="Roboto Mono" cs="Roboto Mono"/>
              </a:rPr>
              <a:t>init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)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76758" y="2771775"/>
            <a:ext cx="5848203" cy="914400"/>
          </a:xfrm>
          <a:prstGeom prst="roundRect">
            <a:avLst>
              <a:gd name="adj" fmla="val 16666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679" y="2933699"/>
            <a:ext cx="95247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RIGHT FOLD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7353" y="2952750"/>
            <a:ext cx="13334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(init op (... op args))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8679" y="327659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10B981"/>
                </a:solidFill>
                <a:latin typeface="Roboto Mono"/>
                <a:rFonts ascii="Roboto Mono" hAnsi="Roboto Mono" eastAsia="Roboto Mono" cs="Roboto Mono"/>
              </a:rPr>
              <a:t>init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op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...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op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3B82F6"/>
                </a:solidFill>
                <a:latin typeface="Roboto Mono"/>
                <a:rFonts ascii="Roboto Mono" hAnsi="Roboto Mono" eastAsia="Roboto Mono" cs="Roboto Mono"/>
              </a:rPr>
              <a:t>args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)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)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3838574"/>
            <a:ext cx="5848203" cy="1762125"/>
          </a:xfrm>
          <a:prstGeom prst="roundRect">
            <a:avLst>
              <a:gd name="adj" fmla="val 864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4000500"/>
            <a:ext cx="68578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4ADE80"/>
                </a:solidFill>
                <a:latin typeface="Roboto"/>
                <a:rFonts ascii="Roboto" hAnsi="Roboto" eastAsia="Roboto" cs="Roboto"/>
              </a:rPr>
              <a:t>EXAMPLE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0659" y="4000500"/>
            <a:ext cx="16382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Sum: 1,2,3,4 with init=10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4324349"/>
            <a:ext cx="272408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Left: ((1+2+3+4)+10) = 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45624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((</a:t>
            </a:r>
            <a:r>
              <a:rPr sz="1016" b="0">
                <a:solidFill>
                  <a:srgbClr val="3B82F6"/>
                </a:solidFill>
                <a:latin typeface="Roboto Mono"/>
                <a:rFonts ascii="Roboto Mono" hAnsi="Roboto Mono" eastAsia="Roboto Mono" cs="Roboto Mono"/>
              </a:rPr>
              <a:t>args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+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...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)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+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10B981"/>
                </a:solidFill>
                <a:latin typeface="Roboto Mono"/>
                <a:rFonts ascii="Roboto Mono" hAnsi="Roboto Mono" eastAsia="Roboto Mono" cs="Roboto Mono"/>
              </a:rPr>
              <a:t>10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679" y="4924424"/>
            <a:ext cx="281932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Right: (10+(1+2+3+4)) = 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679" y="51720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10B981"/>
                </a:solidFill>
                <a:latin typeface="Roboto Mono"/>
                <a:rFonts ascii="Roboto Mono" hAnsi="Roboto Mono" eastAsia="Roboto Mono" cs="Roboto Mono"/>
              </a:rPr>
              <a:t>10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+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...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+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3B82F6"/>
                </a:solidFill>
                <a:latin typeface="Roboto Mono"/>
                <a:rFonts ascii="Roboto Mono" hAnsi="Roboto Mono" eastAsia="Roboto Mono" cs="Roboto Mono"/>
              </a:rPr>
              <a:t>args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)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76758" y="5591175"/>
            <a:ext cx="5848203" cy="819149"/>
          </a:xfrm>
          <a:prstGeom prst="roundRect">
            <a:avLst>
              <a:gd name="adj" fmla="val 1860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838679" y="5808345"/>
            <a:ext cx="228594" cy="19430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181570" y="5753099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Point: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The operator folds all elements of the parameter pack together, then combines with init value (if provided) 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367655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Binary Fold Examples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975484"/>
            <a:ext cx="228594" cy="1257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790700"/>
            <a:ext cx="186685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Binary Folds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057400"/>
            <a:ext cx="186685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Real-world Examples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590799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51774" y="290575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2795867"/>
            <a:ext cx="190495" cy="1232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3921" y="2705099"/>
            <a:ext cx="170493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21" y="3009900"/>
            <a:ext cx="170493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(... + args) folds all with 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4290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51774" y="37439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3634067"/>
            <a:ext cx="190495" cy="1232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3921" y="3543300"/>
            <a:ext cx="16668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21" y="3848099"/>
            <a:ext cx="166683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(... * args) folds all with *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51774" y="458215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4452657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23921" y="4381499"/>
            <a:ext cx="14382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Logical 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21" y="4686300"/>
            <a:ext cx="14382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(... || args) true if ANY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1054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51774" y="54203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9129" y="5296460"/>
            <a:ext cx="190495" cy="15127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23921" y="5219700"/>
            <a:ext cx="15239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Logical 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3921" y="5524499"/>
            <a:ext cx="15239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(... &amp;&amp; args) true if ALL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59067"/>
            <a:ext cx="228594" cy="17716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14300"/>
            <a:ext cx="140966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Visual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552450"/>
            <a:ext cx="5848203" cy="1381124"/>
          </a:xfrm>
          <a:prstGeom prst="roundRect">
            <a:avLst>
              <a:gd name="adj" fmla="val 11034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714375"/>
            <a:ext cx="55243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SUM: 1 + 2 + 3 + 4 = 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98107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template&lt;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... Args&gt;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123824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sum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(</a:t>
            </a: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...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op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args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15049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sum</a:t>
            </a: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1,2,3,4</a:t>
            </a: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()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returns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76758" y="2047874"/>
            <a:ext cx="5848203" cy="1381124"/>
          </a:xfrm>
          <a:prstGeom prst="roundRect">
            <a:avLst>
              <a:gd name="adj" fmla="val 11034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38679" y="2209800"/>
            <a:ext cx="55243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PRODUCT: 1 * 2 * 3 * 4 = 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24764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template&lt;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... Args&gt;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8679" y="273367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prod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(</a:t>
            </a: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...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op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args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8679" y="30003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prod</a:t>
            </a: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1,2,3,4</a:t>
            </a: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()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returns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24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76758" y="3543300"/>
            <a:ext cx="5848203" cy="1381124"/>
          </a:xfrm>
          <a:prstGeom prst="roundRect">
            <a:avLst>
              <a:gd name="adj" fmla="val 11034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38679" y="3695699"/>
            <a:ext cx="55243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LOGICAL OR: true if ANY element is true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38679" y="39623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template&lt;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... Args&gt;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38679" y="42291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any_true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(</a:t>
            </a: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...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||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args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38679" y="44957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any_true</a:t>
            </a: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true,false,true</a:t>
            </a: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()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returns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true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76758" y="5029200"/>
            <a:ext cx="5848203" cy="1381124"/>
          </a:xfrm>
          <a:prstGeom prst="roundRect">
            <a:avLst>
              <a:gd name="adj" fmla="val 11034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38679" y="5191125"/>
            <a:ext cx="55243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LOGICAL AND: true if ALL elements are true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38679" y="54578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template&lt;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... Args&gt;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38679" y="57245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all_true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(</a:t>
            </a: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...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&amp;&amp;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args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38679" y="59912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all_true</a:t>
            </a: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true,true,false</a:t>
            </a: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()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returns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false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76758" y="6410324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6627494"/>
            <a:ext cx="228594" cy="194309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181570" y="657225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Understanding the Pattern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81570" y="6915150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Binary fold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applies the operator to all elements, reducing the entire parameter pack to a single result 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359083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Unary Fold Examples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867852"/>
            <a:ext cx="228594" cy="1885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714500"/>
            <a:ext cx="13048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Unary Fold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1981199"/>
            <a:ext cx="130489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Simpler Binary Fold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5527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51774" y="28676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273815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3921" y="2667000"/>
            <a:ext cx="15144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No Init Needed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21" y="2971800"/>
            <a:ext cx="151443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Single parameter pack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4290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51774" y="37439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3642472"/>
            <a:ext cx="190495" cy="10645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3921" y="3543300"/>
            <a:ext cx="11048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Simple Syntax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21" y="3848099"/>
            <a:ext cx="11048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(op args...)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3053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51774" y="46202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4503363"/>
            <a:ext cx="190495" cy="137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23921" y="4419600"/>
            <a:ext cx="155253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Faster Than Binary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21" y="4724399"/>
            <a:ext cx="155253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No extra init parameter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181599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51774" y="549655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9129" y="5378263"/>
            <a:ext cx="190495" cy="1400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23921" y="5295899"/>
            <a:ext cx="16858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Any Operator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3921" y="5600700"/>
            <a:ext cx="168588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Works with any binary op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23253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162050"/>
            <a:ext cx="155253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Common Patterns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600200"/>
            <a:ext cx="5848203" cy="1657350"/>
          </a:xfrm>
          <a:prstGeom prst="roundRect">
            <a:avLst>
              <a:gd name="adj" fmla="val 9195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752599"/>
            <a:ext cx="55243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Print all elements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201929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template&lt;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... Args&gt;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23431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print_all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(Args... args) {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259079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std::cout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... &lt;&lt; args) &lt;&lt;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'\n'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679" y="28384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76758" y="3409950"/>
            <a:ext cx="5848203" cy="1485900"/>
          </a:xfrm>
          <a:prstGeom prst="roundRect">
            <a:avLst>
              <a:gd name="adj" fmla="val 10256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38679" y="3562349"/>
            <a:ext cx="55243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Check all true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8679" y="38290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template&lt;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... Args&gt;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8679" y="415289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bool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all_true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(args &amp;&amp; ...);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8679" y="44767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Returns true ONLY if ALL are true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76758" y="5048250"/>
            <a:ext cx="5848203" cy="1485900"/>
          </a:xfrm>
          <a:prstGeom prst="roundRect">
            <a:avLst>
              <a:gd name="adj" fmla="val 10256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38679" y="5200650"/>
            <a:ext cx="55243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Check any true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38679" y="546734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template&lt;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... Args&gt;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38679" y="57912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bool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any_true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(args || ...);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38679" y="61150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Returns true if ANY element is true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526719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Practical Real-World Examples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556986"/>
            <a:ext cx="228594" cy="2200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419349"/>
            <a:ext cx="189542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Real-World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686050"/>
            <a:ext cx="189542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Solve Common Problems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325755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513699" y="34105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3449338"/>
            <a:ext cx="171445" cy="7362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28674" y="3333749"/>
            <a:ext cx="131441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Sum of all numbers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77190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513699" y="39249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925836"/>
            <a:ext cx="171445" cy="14932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8674" y="3848099"/>
            <a:ext cx="118107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Check all positive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428625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513699" y="44392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70604"/>
            <a:ext cx="171445" cy="8849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28674" y="4362450"/>
            <a:ext cx="140966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String concatenation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480060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13699" y="49536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009842"/>
            <a:ext cx="171445" cy="3871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28674" y="4876800"/>
            <a:ext cx="140966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Find maximum value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080135"/>
            <a:ext cx="228594" cy="12572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81550" y="1009649"/>
            <a:ext cx="220974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Fold Expression Solutions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76758" y="1447800"/>
            <a:ext cx="5848203" cy="962024"/>
          </a:xfrm>
          <a:prstGeom prst="roundRect">
            <a:avLst>
              <a:gd name="adj" fmla="val 1584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00579" y="1600200"/>
            <a:ext cx="28574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60A5FA"/>
                </a:solidFill>
                <a:latin typeface="Roboto"/>
                <a:rFonts ascii="Roboto" hAnsi="Roboto" eastAsia="Roboto" cs="Roboto"/>
              </a:rPr>
              <a:t>SUM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0619" y="1581149"/>
            <a:ext cx="131441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Sum of all numbers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0579" y="1885950"/>
            <a:ext cx="56005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auto sum = (... + args);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0579" y="2133599"/>
            <a:ext cx="56005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1+2+3+4 = 10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76758" y="2524125"/>
            <a:ext cx="5848203" cy="962024"/>
          </a:xfrm>
          <a:prstGeom prst="roundRect">
            <a:avLst>
              <a:gd name="adj" fmla="val 1584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00579" y="2667000"/>
            <a:ext cx="84770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BBF24"/>
                </a:solidFill>
                <a:latin typeface="Roboto"/>
                <a:rFonts ascii="Roboto" hAnsi="Roboto" eastAsia="Roboto" cs="Roboto"/>
              </a:rPr>
              <a:t>ALL POSITIVE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2580" y="2647949"/>
            <a:ext cx="8572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Check all &gt; 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0579" y="2952750"/>
            <a:ext cx="56005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auto all_pos = ((args &gt; 0) &amp;&amp; ...);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0579" y="3200400"/>
            <a:ext cx="56005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true only if ALL &gt; 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76758" y="3600450"/>
            <a:ext cx="5848203" cy="962024"/>
          </a:xfrm>
          <a:prstGeom prst="roundRect">
            <a:avLst>
              <a:gd name="adj" fmla="val 1584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00579" y="3733799"/>
            <a:ext cx="102867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60A5FA"/>
                </a:solidFill>
                <a:latin typeface="Roboto"/>
                <a:rFonts ascii="Roboto" hAnsi="Roboto" eastAsia="Roboto" cs="Roboto"/>
              </a:rPr>
              <a:t>STRING CONCAT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3551" y="3714750"/>
            <a:ext cx="130489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Combine all strings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0579" y="4019549"/>
            <a:ext cx="56005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auto result = ("", ... + args);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0579" y="4276725"/>
            <a:ext cx="56005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"" + "hello" + "world" = "helloworld"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76758" y="4667249"/>
            <a:ext cx="5848203" cy="962024"/>
          </a:xfrm>
          <a:prstGeom prst="roundRect">
            <a:avLst>
              <a:gd name="adj" fmla="val 1584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00579" y="4810124"/>
            <a:ext cx="61910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BBF24"/>
                </a:solidFill>
                <a:latin typeface="Roboto"/>
                <a:rFonts ascii="Roboto" hAnsi="Roboto" eastAsia="Roboto" cs="Roboto"/>
              </a:rPr>
              <a:t>FIND MAX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3986" y="4791075"/>
            <a:ext cx="16382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Compare each with max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00579" y="5095874"/>
            <a:ext cx="56005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auto max_val = ((args &gt; max ? args : max), ...);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00579" y="5353049"/>
            <a:ext cx="56005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4,8,15,3 → 15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76758" y="5619750"/>
            <a:ext cx="5848203" cy="1047749"/>
          </a:xfrm>
          <a:prstGeom prst="roundRect">
            <a:avLst>
              <a:gd name="adj" fmla="val 14545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00579" y="5808345"/>
            <a:ext cx="228594" cy="19430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143471" y="5753099"/>
            <a:ext cx="52576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Compile-Time vs Runtime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43471" y="6057900"/>
            <a:ext cx="5257668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Fold expressions are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compile-time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- evaluated at compile time, zero runtime cost.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std::reduce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is runtime with overhead. 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75285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Fold with Custom Functions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088832"/>
            <a:ext cx="228594" cy="1657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924049"/>
            <a:ext cx="189542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Custom Operators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190749"/>
            <a:ext cx="189542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Using Lambdas &amp; Functions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762249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89873" y="303910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37622"/>
            <a:ext cx="190495" cy="1064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38450"/>
            <a:ext cx="16858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Custom Functions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43250"/>
            <a:ext cx="168588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Pass lambda as operator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2425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89873" y="380111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691217"/>
            <a:ext cx="190495" cy="1232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00450"/>
            <a:ext cx="180970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Pairwise 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905249"/>
            <a:ext cx="180970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Apply function to each pair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8625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89873" y="456311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46213"/>
            <a:ext cx="190495" cy="137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62450"/>
            <a:ext cx="153348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Still Compile-Time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67249"/>
            <a:ext cx="153348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Zero runtime overhead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04825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89873" y="532511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87202"/>
            <a:ext cx="190495" cy="17929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124449"/>
            <a:ext cx="17239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Flexible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429250"/>
            <a:ext cx="172398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Any callable object works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-19621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-266699"/>
            <a:ext cx="23335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Custom Function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71450"/>
            <a:ext cx="5848203" cy="2057400"/>
          </a:xfrm>
          <a:prstGeom prst="roundRect">
            <a:avLst>
              <a:gd name="adj" fmla="val 740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342900"/>
            <a:ext cx="55243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Custom sum with lambda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6096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template&lt;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... Args&gt;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8572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sum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(</a:t>
            </a:r>
            <a:r>
              <a:rPr sz="95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...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op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args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0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11049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[]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a,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b) {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679" y="135254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a + b;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679" y="16002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});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1924049"/>
            <a:ext cx="552436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→ sum&lt;1,2,3,4&gt;() returns 10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76758" y="2343150"/>
            <a:ext cx="5848203" cy="2057400"/>
          </a:xfrm>
          <a:prstGeom prst="roundRect">
            <a:avLst>
              <a:gd name="adj" fmla="val 740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38679" y="2514600"/>
            <a:ext cx="55243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Custom max with comparator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8679" y="27813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template&lt;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... Args&gt;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38679" y="30289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max_val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(</a:t>
            </a:r>
            <a:r>
              <a:rPr sz="95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...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op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args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0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38679" y="327659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[]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a,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b) {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38679" y="35242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a &gt; b ? a : b;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38679" y="37719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});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38679" y="4095749"/>
            <a:ext cx="552436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→ max_val&lt;4,8,15,3&gt;() returns 15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76758" y="4514850"/>
            <a:ext cx="5848203" cy="2057400"/>
          </a:xfrm>
          <a:prstGeom prst="roundRect">
            <a:avLst>
              <a:gd name="adj" fmla="val 740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38679" y="4686300"/>
            <a:ext cx="55243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String concatenation with lambda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38679" y="495299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template&lt;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... Args&gt;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38679" y="52006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concat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(</a:t>
            </a:r>
            <a:r>
              <a:rPr sz="95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"</a:t>
            </a:r>
            <a:r>
              <a:rPr sz="95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"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op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...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args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),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38679" y="54483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[]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a,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b) {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38679" y="569594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a + b;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38679" y="59436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});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38679" y="6267449"/>
            <a:ext cx="552436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→ concat&lt;"a","b","c"&gt;() returns "abc"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76758" y="6572250"/>
            <a:ext cx="5848203" cy="1371600"/>
          </a:xfrm>
          <a:prstGeom prst="roundRect">
            <a:avLst>
              <a:gd name="adj" fmla="val 11111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6798944"/>
            <a:ext cx="228594" cy="194309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181570" y="674370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Function Processing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81570" y="7048500"/>
            <a:ext cx="5181470" cy="7429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Fold calls your custom function on pairs of elements, giving you complete control over the folding logic - can implement sum, max, concat, or any custom operation!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522909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Limitations and Best Practices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574131"/>
            <a:ext cx="228594" cy="1857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419349"/>
            <a:ext cx="15239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Fold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686050"/>
            <a:ext cx="15239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What to Watch Out For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325755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513699" y="34105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3411486"/>
            <a:ext cx="171445" cy="14932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28674" y="3333749"/>
            <a:ext cx="148586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Empty pack needs init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77190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513699" y="39249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925836"/>
            <a:ext cx="171445" cy="14932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8674" y="3848099"/>
            <a:ext cx="200972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Can't fold arbitrary sequences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428625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513699" y="44392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65074"/>
            <a:ext cx="171445" cy="9955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28674" y="4362450"/>
            <a:ext cx="189542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Operator overloading issues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480060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13699" y="49536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4965597"/>
            <a:ext cx="171445" cy="12720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28674" y="4876800"/>
            <a:ext cx="198115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Type issues with mixed types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388745"/>
            <a:ext cx="228594" cy="19430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81550" y="1352549"/>
            <a:ext cx="12382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Best Practices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76758" y="1790700"/>
            <a:ext cx="5848203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5361799" y="21056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29154" y="1987363"/>
            <a:ext cx="190495" cy="14007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133946" y="1904999"/>
            <a:ext cx="15239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Prefer Unary Folds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33946" y="2209800"/>
            <a:ext cx="15239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Simpler, no init needed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76758" y="2667000"/>
            <a:ext cx="5848203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 rot="16200000">
            <a:off x="5361799" y="29819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829154" y="2844052"/>
            <a:ext cx="190495" cy="17929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133946" y="2781300"/>
            <a:ext cx="201924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Use Init for Empty Packs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33946" y="3086100"/>
            <a:ext cx="201924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Prevents errors with zero args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76758" y="3543300"/>
            <a:ext cx="5848203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5361799" y="38582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29154" y="3739963"/>
            <a:ext cx="190495" cy="14007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133946" y="3657600"/>
            <a:ext cx="24288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Use Functions for Complex Ops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33946" y="3962399"/>
            <a:ext cx="242881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Lambdas for custom logic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76758" y="4419600"/>
            <a:ext cx="5848203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 rot="16200000">
            <a:off x="5361799" y="47345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829154" y="4607858"/>
            <a:ext cx="190495" cy="15688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133946" y="4533900"/>
            <a:ext cx="204782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Avoid Comma Overloading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33946" y="4838699"/>
            <a:ext cx="204782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Can cause ambiguity in folds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76758" y="5181599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838679" y="5389244"/>
            <a:ext cx="228594" cy="19430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181570" y="533400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81570" y="5676900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Fold expressions are powerful but have limitations -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use them wisely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and understand when std::reduce or manual iteration might be better 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285742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Common Pitfalls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078831"/>
            <a:ext cx="228594" cy="1857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924049"/>
            <a:ext cx="21811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Mistakes to Avoid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190749"/>
            <a:ext cx="218117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Common Fold Expression Errors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762249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89873" y="303910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0960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38450"/>
            <a:ext cx="23049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Binary Fold Without Init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43250"/>
            <a:ext cx="230499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Empty pack causes compiler error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2425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89873" y="380111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674408"/>
            <a:ext cx="190495" cy="15688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00450"/>
            <a:ext cx="22668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Empty Pack with Init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905249"/>
            <a:ext cx="226689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Must have at least one parameter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8625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89873" y="456311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61622"/>
            <a:ext cx="190495" cy="10645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62450"/>
            <a:ext cx="228594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Comma Operator Side Effects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67249"/>
            <a:ext cx="228594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Works but not what you want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04825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89873" y="532511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206813"/>
            <a:ext cx="190495" cy="1400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124449"/>
            <a:ext cx="221926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Heterogeneous Type Issues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429250"/>
            <a:ext cx="22192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Mixed types can cause problems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23253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162050"/>
            <a:ext cx="18573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Examples &amp; Solutions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600200"/>
            <a:ext cx="5848203" cy="1638299"/>
          </a:xfrm>
          <a:prstGeom prst="roundRect">
            <a:avLst>
              <a:gd name="adj" fmla="val 930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00579" y="1752599"/>
            <a:ext cx="4209944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87171"/>
                </a:solidFill>
                <a:latin typeface="Roboto Mono"/>
                <a:rFonts ascii="Roboto Mono" hAnsi="Roboto Mono" eastAsia="Roboto Mono" cs="Roboto Mono"/>
              </a:rPr>
              <a:t>// ERROR: Binary fold with empty pack, no init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0579" y="2057400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... Args&gt;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0579" y="2305049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sum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(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...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+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args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 </a:t>
            </a:r>
            <a:r>
              <a:rPr sz="956" b="0">
                <a:solidFill>
                  <a:srgbClr val="F87171"/>
                </a:solidFill>
                <a:latin typeface="Roboto Mono"/>
                <a:rFonts ascii="Roboto Mono" hAnsi="Roboto Mono" eastAsia="Roboto Mono" cs="Roboto Mono"/>
              </a:rPr>
              <a:t>// Compile error!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0579" y="2647949"/>
            <a:ext cx="246691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SOLUTION: Add init value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0579" y="2876549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sum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(</a:t>
            </a:r>
            <a:r>
              <a:rPr sz="95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args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+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...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,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0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76758" y="3352800"/>
            <a:ext cx="5848203" cy="819149"/>
          </a:xfrm>
          <a:prstGeom prst="roundRect">
            <a:avLst>
              <a:gd name="adj" fmla="val 18604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00579" y="3505199"/>
            <a:ext cx="4209944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87171"/>
                </a:solidFill>
                <a:latin typeface="Roboto Mono"/>
                <a:rFonts ascii="Roboto Mono" hAnsi="Roboto Mono" eastAsia="Roboto Mono" cs="Roboto Mono"/>
              </a:rPr>
              <a:t>// PROBLEM: Comma operator causes side effects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0579" y="3809999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result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(</a:t>
            </a:r>
            <a:r>
              <a:rPr sz="95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...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,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args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76758" y="4286250"/>
            <a:ext cx="5848203" cy="1066799"/>
          </a:xfrm>
          <a:prstGeom prst="roundRect">
            <a:avLst>
              <a:gd name="adj" fmla="val 14285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00579" y="4438649"/>
            <a:ext cx="466713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SOLUTION: Use fold with function for complex ops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0579" y="4743450"/>
            <a:ext cx="5600559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result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(</a:t>
            </a:r>
            <a:r>
              <a:rPr sz="95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args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+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...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,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0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),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[]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x,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y) {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+ y; });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76758" y="5353049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EF4444">
                  <a:alpha val="10000"/>
                </a:srgbClr>
              </a:gs>
              <a:gs pos="100000">
                <a:srgbClr val="F97316">
                  <a:alpha val="10000"/>
                </a:srgbClr>
              </a:gs>
            </a:gsLst>
            <a:lin scaled="0" ang="10800000"/>
          </a:gradFill>
          <a:ln w="825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579745"/>
            <a:ext cx="228594" cy="19430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181570" y="5524499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Advice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81570" y="5867399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Always include init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for binary folds,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ensure pack has elements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,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be careful with operator,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and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test with different type combinations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38139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Summary and Conclusion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56984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419349"/>
            <a:ext cx="20954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686050"/>
            <a:ext cx="20954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C++17 Fold Expressions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325755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513699" y="34105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340490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3333749"/>
            <a:ext cx="260978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C++17 introduced for parameter packs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77190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513699" y="39249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919257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85822" y="3848099"/>
            <a:ext cx="198115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Left fold and right fold syntax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428625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513699" y="44392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4433607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85822" y="4362450"/>
            <a:ext cx="193352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Binary fold with any operator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480060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13699" y="49536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4947957"/>
            <a:ext cx="190495" cy="1624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85822" y="4876800"/>
            <a:ext cx="18001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Unary fold for single packs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676758" y="2045017"/>
            <a:ext cx="228594" cy="1771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81550" y="2000250"/>
            <a:ext cx="107629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Benefits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76758" y="2552700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5523724" y="27057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791055" y="2728072"/>
            <a:ext cx="190495" cy="10645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95847" y="2628900"/>
            <a:ext cx="22287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Cleaner than recursive templates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3067050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5523724" y="32200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791055" y="3227013"/>
            <a:ext cx="190495" cy="13727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095847" y="3143250"/>
            <a:ext cx="141918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No runtime overhead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76758" y="3581400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5523724" y="37344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791055" y="3739963"/>
            <a:ext cx="190495" cy="140073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095847" y="3657600"/>
            <a:ext cx="197162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Works with custom functions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76758" y="4095749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5523724" y="424878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791055" y="4248710"/>
            <a:ext cx="190495" cy="15127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095847" y="4171950"/>
            <a:ext cx="172398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Flexible with any operator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76758" y="4533900"/>
            <a:ext cx="5848203" cy="1152524"/>
          </a:xfrm>
          <a:prstGeom prst="roundRect">
            <a:avLst>
              <a:gd name="adj" fmla="val 13223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5166536" y="5044122"/>
            <a:ext cx="11525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867253" y="4742973"/>
            <a:ext cx="228594" cy="19145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210144" y="4686300"/>
            <a:ext cx="516242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Final Recommendation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0144" y="5029200"/>
            <a:ext cx="5162420" cy="5048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Use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fold expressions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for parameter packs in C++17+ for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clean, efficient, compile-time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code! 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