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3.png"/><Relationship Id="rId4" Type="http://schemas.openxmlformats.org/officeDocument/2006/relationships/image" Target="../media/image14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9.png"/><Relationship Id="rId4" Type="http://schemas.openxmlformats.org/officeDocument/2006/relationships/image" Target="../media/image14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8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1.png"/><Relationship Id="rId5" Type="http://schemas.openxmlformats.org/officeDocument/2006/relationships/image" Target="../media/image33.png"/><Relationship Id="rId6" Type="http://schemas.openxmlformats.org/officeDocument/2006/relationships/image" Target="../media/image39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17.png"/><Relationship Id="rId10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6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63.pn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png"/><Relationship Id="rId16" Type="http://schemas.openxmlformats.org/officeDocument/2006/relationships/image" Target="../media/image71.png"/><Relationship Id="rId17" Type="http://schemas.openxmlformats.org/officeDocument/2006/relationships/image" Target="../media/image72.png"/><Relationship Id="rId18" Type="http://schemas.openxmlformats.org/officeDocument/2006/relationships/image" Target="../media/image73.png"/><Relationship Id="rId19" Type="http://schemas.openxmlformats.org/officeDocument/2006/relationships/image" Target="../media/image74.png"/><Relationship Id="rId20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91487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Bit Operations in bit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04900"/>
            <a:ext cx="10858228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1040"/>
              </a:spcAft>
            </a:pPr>
            <a:r>
              <a:rPr sz="3348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Bit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90975" y="2057400"/>
            <a:ext cx="695307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52896" y="2171700"/>
            <a:ext cx="37146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&lt;bit&gt;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38679" y="2057400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599" y="2171700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1590" y="2057400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3511" y="2171700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86376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190695" y="3235492"/>
            <a:ext cx="457188" cy="3489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71585" y="3752849"/>
            <a:ext cx="16858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 Manipulation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8259" y="4095749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Low-level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340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609231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86302" y="3277602"/>
            <a:ext cx="457188" cy="26469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86282" y="3752849"/>
            <a:ext cx="84770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7193" y="4095749"/>
            <a:ext cx="17049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Optimized by compiler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7948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304839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81910" y="3289634"/>
            <a:ext cx="457188" cy="2406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62800" y="3752849"/>
            <a:ext cx="170493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Standard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4701" y="4095749"/>
            <a:ext cx="17811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Cross-platform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5048250"/>
            <a:ext cx="10858228" cy="1523999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5322504"/>
            <a:ext cx="342891" cy="2896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00139" y="5276850"/>
            <a:ext cx="98867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Modern Bit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0139" y="5695949"/>
            <a:ext cx="9886702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Comprehensive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 manipulation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functions in </a:t>
            </a:r>
            <a:r>
              <a:rPr sz="119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&lt;bit&gt;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header - efficient, portable, and type-safe bit operations for modern C++ programming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9091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bit Header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697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7335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bit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7335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Bit Manipulation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Optimized by compiler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06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Cross-Platform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Portable bit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615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5525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Unsigned integer types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4255"/>
            <a:ext cx="190495" cy="17088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Comprehensive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Counting, rotation, casting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431607"/>
            <a:ext cx="228594" cy="1657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381124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 Header Contents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819275"/>
            <a:ext cx="5848203" cy="1609724"/>
          </a:xfrm>
          <a:prstGeom prst="roundRect">
            <a:avLst>
              <a:gd name="adj" fmla="val 946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000250"/>
            <a:ext cx="24288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Bit counting functions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3241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std::popcount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std::has_single_bit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std::bit_width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6574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std::countl_zero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std::countl_one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3000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543300"/>
            <a:ext cx="5848203" cy="1609724"/>
          </a:xfrm>
          <a:prstGeom prst="roundRect">
            <a:avLst>
              <a:gd name="adj" fmla="val 946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3714750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Bit manipulation functions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0385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std::rotl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std::rotr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- Bit rotation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381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std::byteswap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- Byte swapping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7148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std::bit_cast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- Type reinterpretation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514350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360669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181570" y="53054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570" y="564832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bit header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efficient, portable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bit manipulation for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unsigned integer types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cross-platform and compiler-optimized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18127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std::has_single_bit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583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4191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Single Bit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41918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Power of 2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Power of 2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3525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Exactly one bit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Optimized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Efficient implementation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evaluation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1063"/>
            <a:ext cx="190495" cy="137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Unsigned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unsigned integral types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801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00964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has_single_bit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47800"/>
            <a:ext cx="5848203" cy="1228725"/>
          </a:xfrm>
          <a:prstGeom prst="roundRect">
            <a:avLst>
              <a:gd name="adj" fmla="val 124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628775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Function signature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90724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std::has_single_bit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2790824"/>
            <a:ext cx="5848203" cy="1304925"/>
          </a:xfrm>
          <a:prstGeom prst="roundRect">
            <a:avLst>
              <a:gd name="adj" fmla="val 1167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8679" y="2971800"/>
            <a:ext cx="300982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if value is power of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33337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is_power_of_2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std::has_single_bit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8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6671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is_power_of_2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std::has_single_bit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6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false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4210049"/>
            <a:ext cx="5848203" cy="1304925"/>
          </a:xfrm>
          <a:prstGeom prst="roundRect">
            <a:avLst>
              <a:gd name="adj" fmla="val 1167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8679" y="4391025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Binary representation examples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7529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std::has_single_bit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8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1000b = true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50863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std::has_single_bit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6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0110b = false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51497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732144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81570" y="56769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570" y="60198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std::has_single_bit efficiently checks if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exactly one bit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is set - perfect for power of 2 detection with compiler optimizations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30499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std::bit_width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81225"/>
            <a:ext cx="228594" cy="17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 Width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7906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Bits to Represent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796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4953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ceil(log2(x+1)) for x&gt;0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41174"/>
            <a:ext cx="190495" cy="614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Zero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1620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Returns 0 for x=0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Minimum Bits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Bits needed to represent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1063"/>
            <a:ext cx="190495" cy="137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evaluation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991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028700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bit_width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66849"/>
            <a:ext cx="5848203" cy="923924"/>
          </a:xfrm>
          <a:prstGeom prst="roundRect">
            <a:avLst>
              <a:gd name="adj" fmla="val 164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647825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Function signature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716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std::bit_width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2505074"/>
            <a:ext cx="5848203" cy="1609724"/>
          </a:xfrm>
          <a:prstGeom prst="roundRect">
            <a:avLst>
              <a:gd name="adj" fmla="val 946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8679" y="2686050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Bit width calculation examples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30099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std::bit_width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7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111b =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352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std::bit_width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8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1000b =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6861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std::bit_width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0b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229100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4410074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Practical use 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7339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bits_needed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std::bit_width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max_value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50672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Calculate storage size needed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495924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713094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6578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600075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std::bit_width returns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minimum bits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needed to represent a value - handles zero correctly and is optimized by compiler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74313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std::countl_zero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28169"/>
            <a:ext cx="228594" cy="77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Leading Zero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Count Leading Zero Bits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023259"/>
            <a:ext cx="190495" cy="49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Leading Zeros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4953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Zeros before first 1 bit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Find Highest Set 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bit_width - floor(log2(x))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Equivalent Expression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bit_width(x) - floor(log2(x))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1063"/>
            <a:ext cx="190495" cy="137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Optimized by compiler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8896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819149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countl_zero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257300"/>
            <a:ext cx="5848203" cy="923924"/>
          </a:xfrm>
          <a:prstGeom prst="roundRect">
            <a:avLst>
              <a:gd name="adj" fmla="val 164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438274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Function signature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7621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std::countl_zero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2305049"/>
            <a:ext cx="5848203" cy="1981199"/>
          </a:xfrm>
          <a:prstGeom prst="roundRect">
            <a:avLst>
              <a:gd name="adj" fmla="val 769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8679" y="2486025"/>
            <a:ext cx="213354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Count leading zeros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8384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std::countl_zero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8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1000b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1813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std::countl_zero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5242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std::countl_zero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1111b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8576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std::countl_zero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bit_width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all zeros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400550"/>
            <a:ext cx="5848203" cy="1304925"/>
          </a:xfrm>
          <a:prstGeom prst="roundRect">
            <a:avLst>
              <a:gd name="adj" fmla="val 1167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8679" y="4581524"/>
            <a:ext cx="31050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Find highest set bit position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9339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highest_bit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std::bit_width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-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52768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leading_zeros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std::countl_zero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70547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922645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81570" y="58673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570" y="621029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std::countl_zero counts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leading zero bits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efficient way to find highest set bit position using compiler optimizations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62883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std::countl_one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583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Leading One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6287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Count Leading One Bits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Leading 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Ones before first 0 bit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2667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Sign Bit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Two's complement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Optimized by compiler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1063"/>
            <a:ext cx="190495" cy="137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evaluation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9467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876299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countl_one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314450"/>
            <a:ext cx="5848203" cy="962024"/>
          </a:xfrm>
          <a:prstGeom prst="roundRect">
            <a:avLst>
              <a:gd name="adj" fmla="val 1584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495424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Function signature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857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std::countl_one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2400300"/>
            <a:ext cx="5848203" cy="1571625"/>
          </a:xfrm>
          <a:prstGeom prst="roundRect">
            <a:avLst>
              <a:gd name="adj" fmla="val 969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8679" y="2581275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Count leading ones in byte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933699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count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std::countl_one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static_cast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char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255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5433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count == 8 (11111111b)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4076699"/>
            <a:ext cx="5848203" cy="1571625"/>
          </a:xfrm>
          <a:prstGeom prst="roundRect">
            <a:avLst>
              <a:gd name="adj" fmla="val 969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8679" y="4257675"/>
            <a:ext cx="359083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sign bit in two's complement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619625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int8_t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sign_extension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std::countl_one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static_cast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uint8_t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52197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Count sign bits for sign extension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64832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865495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81570" y="58102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570" y="615314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std::countl_one efficiently counts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leading one bits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useful for sign bit detection and bit manipulation algorithms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78123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std::countr_zero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583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Trailing Zero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Count Trailing Zero Bits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023259"/>
            <a:ext cx="190495" cy="49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3620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Trailing Zeros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Zeros after last 1 bit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Find First Set 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__builtin_ctz equivalent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716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Optimized by compiler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406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0478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Returns index of lowest set bit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420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971550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countr_zero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09699"/>
            <a:ext cx="5848203" cy="962024"/>
          </a:xfrm>
          <a:prstGeom prst="roundRect">
            <a:avLst>
              <a:gd name="adj" fmla="val 1584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590675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Function signature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526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2486025"/>
            <a:ext cx="5848203" cy="1647825"/>
          </a:xfrm>
          <a:prstGeom prst="roundRect">
            <a:avLst>
              <a:gd name="adj" fmla="val 92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8679" y="2667000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Count trailing zeros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30289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8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3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1000b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3718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0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7052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16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10000b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248150"/>
            <a:ext cx="5848203" cy="1304925"/>
          </a:xfrm>
          <a:prstGeom prst="roundRect">
            <a:avLst>
              <a:gd name="adj" fmla="val 1167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4429125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Find first set bit 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7910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first_set_bit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51244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Returns index of lowest set bit (0-based)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553074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770244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7150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60579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std::countr_zero counts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trailing zero bits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efficiently finds position of first set bit, equivalent to __builtin_ctz for non-zero values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6669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std::countr_one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583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Trailing One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Count Trailing One Bits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Trailing 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Ones after last 0 bit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 Field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Find consecutive set bits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Optimized by compiler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1063"/>
            <a:ext cx="190495" cy="137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evaluation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9086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838200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countr_one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276350"/>
            <a:ext cx="5848203" cy="962024"/>
          </a:xfrm>
          <a:prstGeom prst="roundRect">
            <a:avLst>
              <a:gd name="adj" fmla="val 1584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457325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Function signature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8192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std::countr_one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2362199"/>
            <a:ext cx="5848203" cy="1904999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8679" y="2543175"/>
            <a:ext cx="213354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Count trailing 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895600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count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std::countr_one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static_cast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char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));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2 (11b)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5051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count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std::countr_one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0 (101b)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8385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count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std::countr_one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0 (1111b)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381499"/>
            <a:ext cx="5848203" cy="1304925"/>
          </a:xfrm>
          <a:prstGeom prst="roundRect">
            <a:avLst>
              <a:gd name="adj" fmla="val 1167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4562475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case: Bit field extraction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9149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trailing_ones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std::countr_one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5257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field_width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trailing_ones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68642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903594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8483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619125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std::countr_one efficiently counts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trailing one bits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useful for bit field extraction and finding consecutive set bits with compiler optimizations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37166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std::popcount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583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Population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Count Set Bits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000375"/>
            <a:ext cx="190495" cy="952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Set Bit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Number of 1 bits in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Hamming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Bit difference calculation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716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Optimized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__builtin_popcountll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406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Algorithms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Bit counting algorithms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420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971550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popcount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09699"/>
            <a:ext cx="5848203" cy="962024"/>
          </a:xfrm>
          <a:prstGeom prst="roundRect">
            <a:avLst>
              <a:gd name="adj" fmla="val 1584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590675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Function signature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526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std::popcount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2486025"/>
            <a:ext cx="5848203" cy="1647825"/>
          </a:xfrm>
          <a:prstGeom prst="roundRect">
            <a:avLst>
              <a:gd name="adj" fmla="val 92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8679" y="2667000"/>
            <a:ext cx="164778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Count set bits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30289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std::popcount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7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3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111b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3718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std::popcount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1111b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7052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std::popcount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255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8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11111111b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248150"/>
            <a:ext cx="5848203" cy="1304925"/>
          </a:xfrm>
          <a:prstGeom prst="roundRect">
            <a:avLst>
              <a:gd name="adj" fmla="val 1167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4429125"/>
            <a:ext cx="184780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Hamming distance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7910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hamming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std::popcount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^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51244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XOR and count bits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553074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770244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7150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60579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std::popcount returns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number of set bits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equivalent to __builtin_popcountll, optimized for Hamming distance and bit counting algorithms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52416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std::rotl and std::rotr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583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3048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 Rotation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3048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Circular Bit Shifting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9558"/>
            <a:ext cx="190495" cy="156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Left Rotation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Bits shift left, wrap around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93458"/>
            <a:ext cx="190495" cy="1568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Right Rotation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Bits shift right, wrap around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615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Circular 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Bits wrap around at edges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0052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Use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Encryption, circular buffers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5562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485775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 Rotation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923924"/>
            <a:ext cx="5848203" cy="1752599"/>
          </a:xfrm>
          <a:prstGeom prst="roundRect">
            <a:avLst>
              <a:gd name="adj" fmla="val 869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104900"/>
            <a:ext cx="213354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Function signatures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428750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std::rotl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990724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std::rotr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long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790824"/>
            <a:ext cx="5848203" cy="1866899"/>
          </a:xfrm>
          <a:prstGeom prst="roundRect">
            <a:avLst>
              <a:gd name="adj" fmla="val 816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2971800"/>
            <a:ext cx="23335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Bit rotation examples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2956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std::rotl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0b0001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0b0100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5909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std::rotr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0b0001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0b1000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9338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std::rotl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0b1111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0b1111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2386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std::rotr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0b1111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0b1111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772025"/>
            <a:ext cx="5848203" cy="1266824"/>
          </a:xfrm>
          <a:prstGeom prst="roundRect">
            <a:avLst>
              <a:gd name="adj" fmla="val 1203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8679" y="4952999"/>
            <a:ext cx="223831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Use case: Encryption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52768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uint32_t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encrypted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std::rotl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data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key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56102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Circular rotation for encryption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603884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256019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81570" y="620077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570" y="654367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std::rotl and std::rotr perform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circular bit rotation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bits wrap around at edges, useful for encryption and circular buffers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39071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std::byteswap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95512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2858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Byte Swapping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Reverse Byte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796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Reverse 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1715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Swaps byte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13069"/>
            <a:ext cx="190495" cy="1176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0667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Endianness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Big/little endian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57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Swaps at type size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1063"/>
            <a:ext cx="190495" cy="137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2667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Network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2667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TCP/IP conversion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9467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876299"/>
            <a:ext cx="21525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Byte Swapping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314450"/>
            <a:ext cx="5848203" cy="962024"/>
          </a:xfrm>
          <a:prstGeom prst="roundRect">
            <a:avLst>
              <a:gd name="adj" fmla="val 1584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495424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Function signature (C++23)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857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std::byteswap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x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2400300"/>
            <a:ext cx="5848203" cy="1647825"/>
          </a:xfrm>
          <a:prstGeom prst="roundRect">
            <a:avLst>
              <a:gd name="adj" fmla="val 92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8679" y="2581275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Swap bytes in 16-bit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9336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uint16_t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0x1234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2765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uint16_t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swapped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std::byteswap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638550"/>
            <a:ext cx="194305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swapped == 0x3412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152899"/>
            <a:ext cx="5848203" cy="1495424"/>
          </a:xfrm>
          <a:prstGeom prst="roundRect">
            <a:avLst>
              <a:gd name="adj" fmla="val 1019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4333875"/>
            <a:ext cx="437186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Convert to network byte order (big-endian)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6958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uint32_t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to_network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uint32_t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host_order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9529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std::byteswap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host_order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52197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64832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865495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81570" y="58102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570" y="615314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std::byteswap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reverses byte order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essential for network byte order conversion, endianness handling, and cross-platform data exchange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09544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std::bit_cast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583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 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7906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Type-Safe Reinterpretation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58352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Replaces reinterpret_cast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Object Representation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Reinterprets bits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34167"/>
            <a:ext cx="190495" cy="1232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Same Size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sizeof(To) == sizeof(From)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406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400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Standard Layout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400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Both types must be standard-layout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537209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466724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bit_cast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904874"/>
            <a:ext cx="5848203" cy="1647825"/>
          </a:xfrm>
          <a:prstGeom prst="roundRect">
            <a:avLst>
              <a:gd name="adj" fmla="val 92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085850"/>
            <a:ext cx="27240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Convert float to uint32_t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4382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float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1.0f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7811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uint32_t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bits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std::bit_cast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uint32_t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1240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Type-safe float-&gt;bits conversion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2657475"/>
            <a:ext cx="5848203" cy="1647825"/>
          </a:xfrm>
          <a:prstGeom prst="roundRect">
            <a:avLst>
              <a:gd name="adj" fmla="val 92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2838450"/>
            <a:ext cx="23335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Vector to int32 array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2004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std::array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int32_t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bits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5433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float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vec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8766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bits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std::bit_cast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bits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)&gt;&gt;(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vec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419600"/>
            <a:ext cx="5848203" cy="1647825"/>
          </a:xfrm>
          <a:prstGeom prst="roundRect">
            <a:avLst>
              <a:gd name="adj" fmla="val 92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8679" y="4600575"/>
            <a:ext cx="14572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972050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sizeof(To) == sizeof(From)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5314950"/>
            <a:ext cx="359083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Both types must be standard-layout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56387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Otherwise: compilation error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76758" y="605790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275069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81570" y="62198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1570" y="656272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std::bit_cast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 reinterpretation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of object representation - safer and cleaner than reinterpret_cast for bit-level conversions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19049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std::endian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98370"/>
            <a:ext cx="228594" cy="1371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Endianness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Byte Order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796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System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byte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Enum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1620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Byte order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615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Cross-Platform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Portable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1063"/>
            <a:ext cx="190495" cy="137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7430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Network Programming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7430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TCP/IP compatibility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-24764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-95249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Endian Detection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342900"/>
            <a:ext cx="5848203" cy="2019299"/>
          </a:xfrm>
          <a:prstGeom prst="roundRect">
            <a:avLst>
              <a:gd name="adj" fmla="val 754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523874"/>
            <a:ext cx="349558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Enum class with endianness 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8762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enum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std::endian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1430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little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14096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big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5867" y="1685925"/>
            <a:ext cx="58101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19335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2476499"/>
            <a:ext cx="5848203" cy="1752599"/>
          </a:xfrm>
          <a:prstGeom prst="roundRect">
            <a:avLst>
              <a:gd name="adj" fmla="val 869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8679" y="2657475"/>
            <a:ext cx="25240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 system endianness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0099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std::endian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native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std::endian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little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8263" y="3295650"/>
            <a:ext cx="20382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Little-endian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35433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"Little-endian"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38004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4343400"/>
            <a:ext cx="5848203" cy="2276474"/>
          </a:xfrm>
          <a:prstGeom prst="roundRect">
            <a:avLst>
              <a:gd name="adj" fmla="val 66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8679" y="4524374"/>
            <a:ext cx="359083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Cross-platform byte order handling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4876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std::endian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native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std::endian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::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big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8679" y="51435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Already big-endian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8679" y="54101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else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38679" y="5667374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std::byteswap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Convert to big-endian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38679" y="61912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6758" y="6619875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837045"/>
            <a:ext cx="228594" cy="19430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181570" y="678179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81570" y="712469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std::endian provides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endianness detection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essential for cross-platform byte order handling and network programming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88630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Practical Examples and Use Cases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4326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247899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Bit Manipulation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514600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Real-World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04799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51798" y="31629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3169366"/>
            <a:ext cx="171445" cy="1382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3086100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Next power of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44804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51798" y="35629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3563886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3486150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Power of 2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84809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1798" y="39630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3983293"/>
            <a:ext cx="171445" cy="1106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3886200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Hamming distance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2481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1798" y="43630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4416139"/>
            <a:ext cx="171445" cy="4502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575" y="4286250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Count set bits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46482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1798" y="47631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2931" y="4770949"/>
            <a:ext cx="171445" cy="135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0575" y="4686300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Find first set bit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50482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1798" y="51631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2931" y="5176530"/>
            <a:ext cx="171445" cy="1244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0575" y="5086350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Efficient &amp; portable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676758" y="1708785"/>
            <a:ext cx="228594" cy="1257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81550" y="1638299"/>
            <a:ext cx="19144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Practical Code Examples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038349"/>
            <a:ext cx="5848203" cy="742950"/>
          </a:xfrm>
          <a:prstGeom prst="roundRect">
            <a:avLst>
              <a:gd name="adj" fmla="val 2051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0579" y="2162174"/>
            <a:ext cx="5600559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uint32_t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next_power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std::bit_width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-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&lt;&lt;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std::bit_width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-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2857500"/>
            <a:ext cx="5848203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0579" y="2981325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is_power_of_2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std::has_single_bit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3429000"/>
            <a:ext cx="5848203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0579" y="3552825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hamming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std::popcount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^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000500"/>
            <a:ext cx="5848203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0579" y="4124324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count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std::popcount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-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std::popcount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4572000"/>
            <a:ext cx="5848203" cy="495299"/>
          </a:xfrm>
          <a:prstGeom prst="roundRect">
            <a:avLst>
              <a:gd name="adj" fmla="val 3076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0579" y="4695824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first_bit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std::countr_zero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5067299"/>
            <a:ext cx="5848203" cy="990599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00579" y="5243232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05372" y="5191125"/>
            <a:ext cx="52957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05372" y="5495924"/>
            <a:ext cx="5295767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bit operations provide </a:t>
            </a: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efficient, portable</a:t>
            </a: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bit manipulation - use them for real-world algorithms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875325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Considerations and Compiler Support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85511"/>
            <a:ext cx="228594" cy="1628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Compiler Optimizations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CPU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POPCNT, TZCNT, LZCNT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1867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Intrinsics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Compiler optimizations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Portable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Cross-platform 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966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1810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1810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Template-friendly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1849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114425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Compiler Support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552574"/>
            <a:ext cx="5848203" cy="1904999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733550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Compiler intrinsics 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095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popcount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-&gt;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POPCNT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4003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countl_zero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-&gt;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LZCNT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6955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countr_zero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-&gt; 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TZCNT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30384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Single CPU instruction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581400"/>
            <a:ext cx="5848203" cy="1828800"/>
          </a:xfrm>
          <a:prstGeom prst="roundRect">
            <a:avLst>
              <a:gd name="adj" fmla="val 833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3752849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Template constexpr example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114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unsigned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381499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constexpr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is_power_of_2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std::has_single_bit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5000625"/>
            <a:ext cx="25240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Compile-time evaluation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6758" y="541019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627369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81570" y="55721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570" y="591502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bit operations compile to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single CPU instructions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on modern compilers (GCC, Clang, MSVC) with portable, cleaner syntax and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constexpr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support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813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4077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257300"/>
            <a:ext cx="2400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Bit Operations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523999"/>
            <a:ext cx="2400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Complete Feature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0574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51798" y="21723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2167705"/>
            <a:ext cx="171445" cy="1603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2095499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std::has_single_bit - power of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4574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51798" y="25723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2581582"/>
            <a:ext cx="171445" cy="1327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2495550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std::bit_width - bits needed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28575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1798" y="29724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3018752"/>
            <a:ext cx="171445" cy="584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2895600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std::countl_zero - leading zeros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32575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1798" y="33724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3367855"/>
            <a:ext cx="171445" cy="1603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575" y="3295650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std::countl_one - leading 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36576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1798" y="37725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2931" y="3767905"/>
            <a:ext cx="171445" cy="1603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0575" y="3695699"/>
            <a:ext cx="18192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std::countr_zero - trailing zeros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0576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1798" y="41725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4167955"/>
            <a:ext cx="171445" cy="1603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0575" y="4095749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std::countr_one - trailing ones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44577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1798" y="45726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2931" y="4603954"/>
            <a:ext cx="171445" cy="8849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0575" y="4495799"/>
            <a:ext cx="19144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std::popcount - population count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48577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51798" y="49726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2931" y="4968055"/>
            <a:ext cx="171445" cy="16038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0575" y="4895849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std::rotl/std::rotr - rotation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33" y="52578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551798" y="53727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2931" y="5392993"/>
            <a:ext cx="171445" cy="1106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0575" y="5295899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std::byteswap - byte swap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33" y="56578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51798" y="57727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42931" y="5768155"/>
            <a:ext cx="171445" cy="16038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0575" y="5695949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std::bit_cast - type-safe cast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6733" y="60579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51798" y="61728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42931" y="6195858"/>
            <a:ext cx="171445" cy="10508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90575" y="6095999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std::endian - endianness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676758" y="1847373"/>
            <a:ext cx="228594" cy="19145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981550" y="1809749"/>
            <a:ext cx="10762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76758" y="23621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561823" y="24771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752956" y="2490480"/>
            <a:ext cx="171445" cy="12443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00599" y="2400300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Efficient CPU instructions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76758" y="27622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561823" y="28771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752956" y="2878086"/>
            <a:ext cx="171445" cy="149327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000599" y="2800350"/>
            <a:ext cx="14191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Cross-platform portable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76758" y="31622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5561823" y="32772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752956" y="3272605"/>
            <a:ext cx="171445" cy="16038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000599" y="3200400"/>
            <a:ext cx="1238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Type-safe operations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76758" y="35623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5561823" y="36772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5752956" y="3689247"/>
            <a:ext cx="171445" cy="12720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00599" y="3600450"/>
            <a:ext cx="8762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syntax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76758" y="39623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 Same Side Corner Rectangle 68"/>
          <p:cNvSpPr/>
          <p:nvPr/>
        </p:nvSpPr>
        <p:spPr>
          <a:xfrm rot="16200000">
            <a:off x="5561823" y="40773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5752956" y="4103124"/>
            <a:ext cx="171445" cy="9955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000599" y="4000500"/>
            <a:ext cx="13810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Compiler optimizations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76758" y="4362450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5561823" y="44773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5752956" y="4472755"/>
            <a:ext cx="171445" cy="16038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000599" y="4400550"/>
            <a:ext cx="10572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constexpr friendly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76758" y="4724399"/>
            <a:ext cx="5848203" cy="1152524"/>
          </a:xfrm>
          <a:prstGeom prst="roundRect">
            <a:avLst>
              <a:gd name="adj" fmla="val 1322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5800579" y="4903469"/>
            <a:ext cx="228594" cy="194309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143471" y="4848225"/>
            <a:ext cx="52576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43471" y="5191125"/>
            <a:ext cx="5257668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C++20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&lt;bit&gt;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header for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efficient, portable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, and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bit manipulation with excellent compiler support! 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