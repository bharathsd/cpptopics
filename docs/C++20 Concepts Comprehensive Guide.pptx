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24.png"/><Relationship Id="rId6" Type="http://schemas.openxmlformats.org/officeDocument/2006/relationships/image" Target="../media/image1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22.png"/><Relationship Id="rId6" Type="http://schemas.openxmlformats.org/officeDocument/2006/relationships/image" Target="../media/image27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14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20.png"/><Relationship Id="rId6" Type="http://schemas.openxmlformats.org/officeDocument/2006/relationships/image" Target="../media/image27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22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3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Relationship Id="rId8" Type="http://schemas.openxmlformats.org/officeDocument/2006/relationships/image" Target="../media/image42.png"/><Relationship Id="rId9" Type="http://schemas.openxmlformats.org/officeDocument/2006/relationships/image" Target="../media/image43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18.png"/><Relationship Id="rId6" Type="http://schemas.openxmlformats.org/officeDocument/2006/relationships/image" Target="../media/image27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8.png"/><Relationship Id="rId4" Type="http://schemas.openxmlformats.org/officeDocument/2006/relationships/image" Target="../media/image47.png"/><Relationship Id="rId5" Type="http://schemas.openxmlformats.org/officeDocument/2006/relationships/image" Target="../media/image22.png"/><Relationship Id="rId6" Type="http://schemas.openxmlformats.org/officeDocument/2006/relationships/image" Target="../media/image27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48.png"/><Relationship Id="rId4" Type="http://schemas.openxmlformats.org/officeDocument/2006/relationships/image" Target="../media/image7.png"/><Relationship Id="rId5" Type="http://schemas.openxmlformats.org/officeDocument/2006/relationships/image" Target="../media/image49.png"/><Relationship Id="rId6" Type="http://schemas.openxmlformats.org/officeDocument/2006/relationships/image" Target="../media/image27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57.png"/><Relationship Id="rId7" Type="http://schemas.openxmlformats.org/officeDocument/2006/relationships/image" Target="../media/image58.png"/><Relationship Id="rId8" Type="http://schemas.openxmlformats.org/officeDocument/2006/relationships/image" Target="../media/image59.png"/><Relationship Id="rId9" Type="http://schemas.openxmlformats.org/officeDocument/2006/relationships/image" Target="../media/image60.png"/><Relationship Id="rId10" Type="http://schemas.openxmlformats.org/officeDocument/2006/relationships/image" Target="../media/image61.png"/><Relationship Id="rId11" Type="http://schemas.openxmlformats.org/officeDocument/2006/relationships/image" Target="../media/image62.png"/><Relationship Id="rId1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Relationship Id="rId3" Type="http://schemas.openxmlformats.org/officeDocument/2006/relationships/image" Target="../media/image64.png"/><Relationship Id="rId4" Type="http://schemas.openxmlformats.org/officeDocument/2006/relationships/image" Target="../media/image57.png"/><Relationship Id="rId5" Type="http://schemas.openxmlformats.org/officeDocument/2006/relationships/image" Target="../media/image65.pn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image" Target="../media/image68.png"/><Relationship Id="rId9" Type="http://schemas.openxmlformats.org/officeDocument/2006/relationships/image" Target="../media/image69.png"/><Relationship Id="rId10" Type="http://schemas.openxmlformats.org/officeDocument/2006/relationships/image" Target="../media/image70.png"/><Relationship Id="rId11" Type="http://schemas.openxmlformats.org/officeDocument/2006/relationships/image" Target="../media/image71.png"/><Relationship Id="rId12" Type="http://schemas.openxmlformats.org/officeDocument/2006/relationships/image" Target="../media/image54.png"/><Relationship Id="rId13" Type="http://schemas.openxmlformats.org/officeDocument/2006/relationships/image" Target="../media/image72.png"/><Relationship Id="rId14" Type="http://schemas.openxmlformats.org/officeDocument/2006/relationships/image" Target="../media/image73.png"/><Relationship Id="rId15" Type="http://schemas.openxmlformats.org/officeDocument/2006/relationships/image" Target="../media/image74.png"/><Relationship Id="rId16" Type="http://schemas.openxmlformats.org/officeDocument/2006/relationships/image" Target="../media/image75.png"/><Relationship Id="rId17" Type="http://schemas.openxmlformats.org/officeDocument/2006/relationships/image" Target="../media/image76.png"/><Relationship Id="rId18" Type="http://schemas.openxmlformats.org/officeDocument/2006/relationships/image" Target="../media/image77.png"/><Relationship Id="rId19" Type="http://schemas.openxmlformats.org/officeDocument/2006/relationships/image" Target="../media/image78.png"/><Relationship Id="rId20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7134046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C++20 Concepts: A Comprehensive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6733" y="1104900"/>
            <a:ext cx="10858228" cy="800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5460"/>
              </a:lnSpc>
              <a:spcBef>
                <a:spcPts val="0"/>
              </a:spcBef>
              <a:spcAft>
                <a:spcPts val="1040"/>
              </a:spcAft>
            </a:pPr>
            <a:r>
              <a:rPr sz="3348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C++20 Concepts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62340" y="2057400"/>
            <a:ext cx="819129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24261" y="2171700"/>
            <a:ext cx="495287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60A5FA"/>
                </a:solidFill>
                <a:latin typeface="Roboto"/>
                <a:rFonts ascii="Roboto" hAnsi="Roboto" eastAsia="Roboto" cs="Roboto"/>
              </a:rPr>
              <a:t>C++20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33866" y="2057400"/>
            <a:ext cx="380990" cy="438149"/>
          </a:xfrm>
          <a:prstGeom prst="roundRect">
            <a:avLst>
              <a:gd name="adj" fmla="val 4000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95787" y="2171700"/>
            <a:ext cx="57148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BBF24"/>
                </a:solidFill>
                <a:latin typeface="Roboto"/>
                <a:rFonts ascii="Roboto" hAnsi="Roboto" eastAsia="Roboto" cs="Roboto"/>
              </a:rPr>
              <a:t>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67253" y="2057400"/>
            <a:ext cx="1962100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29174" y="2171700"/>
            <a:ext cx="1638259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60A5FA"/>
                </a:solidFill>
                <a:latin typeface="Roboto"/>
                <a:rFonts ascii="Roboto" hAnsi="Roboto" eastAsia="Roboto" cs="Roboto"/>
              </a:rPr>
              <a:t>Type-Safe Templates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33" y="2952750"/>
            <a:ext cx="3467013" cy="1638299"/>
          </a:xfrm>
          <a:prstGeom prst="roundRect">
            <a:avLst>
              <a:gd name="adj" fmla="val 930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-86376" y="3705859"/>
            <a:ext cx="16382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2190695" y="3235492"/>
            <a:ext cx="457188" cy="34891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23941" y="3752849"/>
            <a:ext cx="2190695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Type-Safe Templates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2536" y="4095749"/>
            <a:ext cx="172398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Constrained templates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62340" y="2952750"/>
            <a:ext cx="3467013" cy="1638299"/>
          </a:xfrm>
          <a:prstGeom prst="roundRect">
            <a:avLst>
              <a:gd name="adj" fmla="val 930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 rot="16200000">
            <a:off x="3609231" y="3705859"/>
            <a:ext cx="16382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886302" y="3217444"/>
            <a:ext cx="457188" cy="38501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067173" y="3752849"/>
            <a:ext cx="209544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Concept Constraints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14837" y="4095749"/>
            <a:ext cx="120964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Requires clause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57948" y="2952750"/>
            <a:ext cx="3467013" cy="1638299"/>
          </a:xfrm>
          <a:prstGeom prst="roundRect">
            <a:avLst>
              <a:gd name="adj" fmla="val 930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 Same Side Corner Rectangle 20"/>
          <p:cNvSpPr/>
          <p:nvPr/>
        </p:nvSpPr>
        <p:spPr>
          <a:xfrm rot="16200000">
            <a:off x="7304839" y="3705859"/>
            <a:ext cx="16382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581910" y="3196389"/>
            <a:ext cx="457188" cy="42712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962800" y="3752849"/>
            <a:ext cx="168588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Tricky Examples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29494" y="4095749"/>
            <a:ext cx="117154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Complex cases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6733" y="5048250"/>
            <a:ext cx="10858228" cy="1514475"/>
          </a:xfrm>
          <a:prstGeom prst="roundRect">
            <a:avLst>
              <a:gd name="adj" fmla="val 10062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04852" y="5332029"/>
            <a:ext cx="342891" cy="28969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400139" y="5286375"/>
            <a:ext cx="988670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780"/>
              </a:spcAft>
            </a:pPr>
            <a:r>
              <a:rPr sz="1435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C++20 Modern Type System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00139" y="5705475"/>
            <a:ext cx="9886702" cy="61912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 Learn to use </a:t>
            </a: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concepts</a:t>
            </a:r>
            <a:r>
              <a:rPr sz="119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 for type-safe template constraints, replacing type traits and SFINAE with </a:t>
            </a: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cleaner syntax</a:t>
            </a:r>
            <a:r>
              <a:rPr sz="119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 and </a:t>
            </a: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better error messages</a:t>
            </a:r>
            <a:r>
              <a:rPr sz="119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 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423851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Introduction to Concepts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178367"/>
            <a:ext cx="228594" cy="1771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019299"/>
            <a:ext cx="198115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C++20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286000"/>
            <a:ext cx="198115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Named Template Constraints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8193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408924" y="30772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2966757"/>
            <a:ext cx="190495" cy="16248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822" y="2895600"/>
            <a:ext cx="212402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Compile-Time Predicates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22" y="3162299"/>
            <a:ext cx="212402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Boolean requirements for types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5433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408924" y="38011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710267"/>
            <a:ext cx="190495" cy="1232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5822" y="3619499"/>
            <a:ext cx="156206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Replace SFINAE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22" y="3886200"/>
            <a:ext cx="156206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Simpler than type traits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671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408924" y="45250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414557"/>
            <a:ext cx="190495" cy="16248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85822" y="4343400"/>
            <a:ext cx="208592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Better Error Messages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5822" y="4610099"/>
            <a:ext cx="208592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Clear type constraint violations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49911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408924" y="52489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5130052"/>
            <a:ext cx="190495" cy="17929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85822" y="5067299"/>
            <a:ext cx="180970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Type Safety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5822" y="5334000"/>
            <a:ext cx="180970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Compile-time enforcement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1870710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1800225"/>
            <a:ext cx="210497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Concept Syntax &amp; Usage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2238375"/>
            <a:ext cx="5848203" cy="1190625"/>
          </a:xfrm>
          <a:prstGeom prst="roundRect">
            <a:avLst>
              <a:gd name="adj" fmla="val 1280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38679" y="2419349"/>
            <a:ext cx="359083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Define a concept (named predicate)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8679" y="2733674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template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typename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38679" y="300037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concept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Integral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std::is_integral_v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&gt;;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76758" y="3543300"/>
            <a:ext cx="5848203" cy="1190625"/>
          </a:xfrm>
          <a:prstGeom prst="roundRect">
            <a:avLst>
              <a:gd name="adj" fmla="val 1280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38679" y="3714750"/>
            <a:ext cx="3305092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Constrain template with concept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38679" y="4038599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template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typename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requires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Integral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38679" y="430530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void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func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 </a:t>
            </a: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Integral</a:t>
            </a: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 must be true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76758" y="4724399"/>
            <a:ext cx="5848203" cy="1162050"/>
          </a:xfrm>
          <a:prstGeom prst="roundRect">
            <a:avLst>
              <a:gd name="adj" fmla="val 13114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38679" y="4941569"/>
            <a:ext cx="228594" cy="194309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181570" y="4886325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Benefit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81570" y="5229225"/>
            <a:ext cx="5181470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Concepts provide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named requirements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for template parameters - cleaner than SFINAE, better error messages, compile-time type safety 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3914677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Basic Concepts Syntax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204085"/>
            <a:ext cx="228594" cy="1257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019299"/>
            <a:ext cx="223831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Concept 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286000"/>
            <a:ext cx="223831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Named Compile-Time Predicates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8193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408924" y="30772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2965356"/>
            <a:ext cx="190495" cy="16528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822" y="2895600"/>
            <a:ext cx="212402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Simple Boolean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22" y="3162299"/>
            <a:ext cx="212402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Concept as boolean expression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5433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408924" y="38011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701863"/>
            <a:ext cx="190495" cy="14007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5822" y="3619499"/>
            <a:ext cx="195257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Requires Expression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22" y="3886200"/>
            <a:ext cx="195257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Concept with requires clause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671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408924" y="45250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427163"/>
            <a:ext cx="190495" cy="1372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85822" y="4343400"/>
            <a:ext cx="234309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Compile-Time Evaluation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5822" y="4610099"/>
            <a:ext cx="234309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Concepts checked at compile-time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49911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408924" y="52489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5138457"/>
            <a:ext cx="190495" cy="16248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85822" y="5067299"/>
            <a:ext cx="237166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Type Predicate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5822" y="5334000"/>
            <a:ext cx="237166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Tests if type satisfies requirements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689610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619124"/>
            <a:ext cx="210497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Basic Concept Examples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1057275"/>
            <a:ext cx="5848203" cy="1190625"/>
          </a:xfrm>
          <a:prstGeom prst="roundRect">
            <a:avLst>
              <a:gd name="adj" fmla="val 1280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38679" y="1238249"/>
            <a:ext cx="2428814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Simple boolean concept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8679" y="156210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template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typename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38679" y="181927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concept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Integral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std::is_integral_v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&gt;;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76758" y="2362199"/>
            <a:ext cx="5848203" cy="1714500"/>
          </a:xfrm>
          <a:prstGeom prst="roundRect">
            <a:avLst>
              <a:gd name="adj" fmla="val 8888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38679" y="2543175"/>
            <a:ext cx="291457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Requires expression concept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38679" y="285750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template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typename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38679" y="312420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concept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HasSize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requires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 {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38679" y="3390899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.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size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();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38679" y="3648074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};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76758" y="4190999"/>
            <a:ext cx="5848203" cy="1714500"/>
          </a:xfrm>
          <a:prstGeom prst="roundRect">
            <a:avLst>
              <a:gd name="adj" fmla="val 8888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38679" y="4371975"/>
            <a:ext cx="3105072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Default constructible concept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38679" y="4695824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template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typename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38679" y="4952999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concept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DefaultConstructible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requires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{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38679" y="521970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();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38679" y="547687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};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76758" y="5905500"/>
            <a:ext cx="5848203" cy="1162050"/>
          </a:xfrm>
          <a:prstGeom prst="roundRect">
            <a:avLst>
              <a:gd name="adj" fmla="val 13114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38679" y="6122670"/>
            <a:ext cx="228594" cy="194309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181570" y="6067424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Insight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81570" y="6410324"/>
            <a:ext cx="5181470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Concepts are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named compile-time predicates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- evaluated when template constraints are checked, providing clear type requirements 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7705532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Concepts with Multiple Template Parameters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172652"/>
            <a:ext cx="228594" cy="18859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019299"/>
            <a:ext cx="199067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Multiple Parameters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286000"/>
            <a:ext cx="199067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Concepts with Multiple Types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8193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408924" y="30772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2994772"/>
            <a:ext cx="190495" cy="10645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822" y="2895600"/>
            <a:ext cx="201924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Multiple Template Params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22" y="3162299"/>
            <a:ext cx="201924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template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concept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5433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408924" y="38011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710267"/>
            <a:ext cx="190495" cy="1232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5822" y="3619499"/>
            <a:ext cx="166683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Addable Concept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22" y="3886200"/>
            <a:ext cx="166683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requires(T t, U u) { t + u; }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671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408924" y="45250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434167"/>
            <a:ext cx="190495" cy="12326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85822" y="4343400"/>
            <a:ext cx="174303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Equality Comparable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5822" y="4610099"/>
            <a:ext cx="174303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requires(T t, U u) { t == u; }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49911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408924" y="52489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5149663"/>
            <a:ext cx="190495" cy="14007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85822" y="5067299"/>
            <a:ext cx="210497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Requires Clause Params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5822" y="5334000"/>
            <a:ext cx="210497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Multiple parameters in requires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1299210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1228725"/>
            <a:ext cx="346701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Multiple Template Parameters Examples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1666874"/>
            <a:ext cx="5848203" cy="1752599"/>
          </a:xfrm>
          <a:prstGeom prst="roundRect">
            <a:avLst>
              <a:gd name="adj" fmla="val 8695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38679" y="1847849"/>
            <a:ext cx="3209844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Addable concept with two types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8679" y="220980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template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typename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typename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U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38679" y="2476499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concept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Addable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requires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U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u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 {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38679" y="2733674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+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u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38679" y="300037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};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76758" y="3543300"/>
            <a:ext cx="5848203" cy="1752599"/>
          </a:xfrm>
          <a:prstGeom prst="roundRect">
            <a:avLst>
              <a:gd name="adj" fmla="val 8695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38679" y="3714750"/>
            <a:ext cx="291457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Equality comparable concept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38679" y="4076699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template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typename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typename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U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38679" y="434340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concept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EqualityComparable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requires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U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u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 {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38679" y="460057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==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u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38679" y="4867274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};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76758" y="5295899"/>
            <a:ext cx="5848203" cy="1162050"/>
          </a:xfrm>
          <a:prstGeom prst="roundRect">
            <a:avLst>
              <a:gd name="adj" fmla="val 13114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38679" y="5513069"/>
            <a:ext cx="228594" cy="194309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181570" y="5457825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Benefit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81570" y="5800725"/>
            <a:ext cx="5181470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Concepts can have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multiple template parameters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- useful for binary operations, comparisons, and interactions between different types 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5676758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Concepts with Auto and Requires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158365"/>
            <a:ext cx="228594" cy="21717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019299"/>
            <a:ext cx="189542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Auto in Requires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286000"/>
            <a:ext cx="189542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Type Deduction in Concepts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8193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408924" y="30772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2977963"/>
            <a:ext cx="190495" cy="1400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822" y="2895600"/>
            <a:ext cx="200972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Auto Deduction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22" y="3162299"/>
            <a:ext cx="200972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Deduces types in expressions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5433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408924" y="38011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718672"/>
            <a:ext cx="190495" cy="10645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5822" y="3619499"/>
            <a:ext cx="171445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Requires { expr 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22" y="3886200"/>
            <a:ext cx="171445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Check expression validity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671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408924" y="45250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417358"/>
            <a:ext cx="190495" cy="15688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85822" y="4343400"/>
            <a:ext cx="159063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Tricky Cases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5822" y="4610099"/>
            <a:ext cx="159063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std::declval in concepts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49911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408924" y="52489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5130052"/>
            <a:ext cx="190495" cy="17929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85822" y="5067299"/>
            <a:ext cx="129536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Requires Type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5822" y="5334000"/>
            <a:ext cx="129536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vs Requires { expr }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1051560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981074"/>
            <a:ext cx="216212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Tricky Concept Examples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1419225"/>
            <a:ext cx="5848203" cy="2019299"/>
          </a:xfrm>
          <a:prstGeom prst="roundRect">
            <a:avLst>
              <a:gd name="adj" fmla="val 7547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38679" y="1600200"/>
            <a:ext cx="3981350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Sortable concept with auto in requires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8679" y="1952624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template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typename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38679" y="2219324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concept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Sortable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requires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{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38679" y="2476499"/>
            <a:ext cx="5524361" cy="5238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std::sort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std::declval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&gt;().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begin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(),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std::declval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&gt;().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end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());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38679" y="300990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};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76758" y="3543300"/>
            <a:ext cx="5848203" cy="1752599"/>
          </a:xfrm>
          <a:prstGeom prst="roundRect">
            <a:avLst>
              <a:gd name="adj" fmla="val 8695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38679" y="3724274"/>
            <a:ext cx="4276618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Streamable concept with output expression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38679" y="408622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template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typename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38679" y="4352924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concept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Streamable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requires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{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38679" y="4610099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std::cout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&lt;&lt;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std::declval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&gt;();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38679" y="487680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};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76758" y="5295899"/>
            <a:ext cx="5848203" cy="1409699"/>
          </a:xfrm>
          <a:prstGeom prst="roundRect">
            <a:avLst>
              <a:gd name="adj" fmla="val 10810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38679" y="5513069"/>
            <a:ext cx="228594" cy="194309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181570" y="5457825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Insight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81570" y="5800725"/>
            <a:ext cx="5181470" cy="7429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Auto in requires clause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deduces types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from expressions, enabling complex expression validity checks. std::declval allows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tricky type deduction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without constructing objects. 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3962300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Constrained Templates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178367"/>
            <a:ext cx="228594" cy="1771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019299"/>
            <a:ext cx="200019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Template Constraints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286000"/>
            <a:ext cx="200019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Requires Clause in Templates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8193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408924" y="30772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2965356"/>
            <a:ext cx="190495" cy="16528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822" y="2895600"/>
            <a:ext cx="179065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Requires in Template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22" y="3162299"/>
            <a:ext cx="179065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template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requires Concept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5433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408924" y="38011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701863"/>
            <a:ext cx="190495" cy="14007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5822" y="3619499"/>
            <a:ext cx="203829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Function Declaration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22" y="3886200"/>
            <a:ext cx="203829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void func(T) requires Concept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671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408924" y="45250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417358"/>
            <a:ext cx="190495" cy="15688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85822" y="4343400"/>
            <a:ext cx="171445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Tricky Negation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5822" y="4610099"/>
            <a:ext cx="171445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requires !std::is_pointer_v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49911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408924" y="52489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5158067"/>
            <a:ext cx="190495" cy="12326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85822" y="5067299"/>
            <a:ext cx="215259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Multiple Constraints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5822" y="5334000"/>
            <a:ext cx="215259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requires Concept1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&amp;&amp; Concept2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1156335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1085850"/>
            <a:ext cx="276218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Constrained Template Examples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1523999"/>
            <a:ext cx="5848203" cy="1228725"/>
          </a:xfrm>
          <a:prstGeom prst="roundRect">
            <a:avLst>
              <a:gd name="adj" fmla="val 12403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38679" y="1704975"/>
            <a:ext cx="291457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Simple constrained template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8679" y="2066924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template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typename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requires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Integral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38679" y="232410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void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func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76758" y="2867025"/>
            <a:ext cx="5848203" cy="1228725"/>
          </a:xfrm>
          <a:prstGeom prst="roundRect">
            <a:avLst>
              <a:gd name="adj" fmla="val 12403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38679" y="3047999"/>
            <a:ext cx="340033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Constrained with Addable concept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38679" y="340995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template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typename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requires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Addable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38679" y="3667124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void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add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a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b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76758" y="4210049"/>
            <a:ext cx="5848203" cy="1228725"/>
          </a:xfrm>
          <a:prstGeom prst="roundRect">
            <a:avLst>
              <a:gd name="adj" fmla="val 12403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38679" y="4391025"/>
            <a:ext cx="3105072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Tricky negation (no pointers)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38679" y="4752974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template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typename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requires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!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std::is_pointer_v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38679" y="5010149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void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process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76758" y="5438774"/>
            <a:ext cx="5848203" cy="1162050"/>
          </a:xfrm>
          <a:prstGeom prst="roundRect">
            <a:avLst>
              <a:gd name="adj" fmla="val 13114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38679" y="5655944"/>
            <a:ext cx="228594" cy="194309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181570" y="5600700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Benefit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81570" y="5943600"/>
            <a:ext cx="5181470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Constrained templates provide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compile-time type checking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with requires clause - clearer than SFINAE and better error messages 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4429014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Concept-based Overloads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184082"/>
            <a:ext cx="228594" cy="16573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019299"/>
            <a:ext cx="182875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Function Overloading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286000"/>
            <a:ext cx="182875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Concept-Based Selection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8193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408924" y="30772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2966757"/>
            <a:ext cx="190495" cy="16248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822" y="2895600"/>
            <a:ext cx="205734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Compiler Selection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22" y="3162299"/>
            <a:ext cx="205734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Based on concept satisfaction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5433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408924" y="38011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710267"/>
            <a:ext cx="190495" cy="1232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5822" y="3619499"/>
            <a:ext cx="16001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Cleaner than SFINAE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22" y="3886200"/>
            <a:ext cx="160015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Better error messages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671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408924" y="45250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425763"/>
            <a:ext cx="190495" cy="14007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85822" y="4343400"/>
            <a:ext cx="181922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Multiple Overloads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5822" y="4610099"/>
            <a:ext cx="181922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Integral vs Floating version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49911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408924" y="52489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5141258"/>
            <a:ext cx="190495" cy="15688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85822" y="5067299"/>
            <a:ext cx="185732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Tricky Partial Ordering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5822" y="5334000"/>
            <a:ext cx="185732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Concept specificity matters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622935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552450"/>
            <a:ext cx="300982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Concept-Based Overload Examples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990599"/>
            <a:ext cx="5848203" cy="1790700"/>
          </a:xfrm>
          <a:prstGeom prst="roundRect">
            <a:avLst>
              <a:gd name="adj" fmla="val 851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38679" y="1171575"/>
            <a:ext cx="3981350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Overload based on integral vs floating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8679" y="148590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template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typename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requires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Integral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38679" y="1752599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void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func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 { </a:t>
            </a: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/* integral version */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38679" y="2095499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template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typename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requires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Floating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38679" y="235267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void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func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 { </a:t>
            </a: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/* floating version */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}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76758" y="2895600"/>
            <a:ext cx="5848203" cy="1190625"/>
          </a:xfrm>
          <a:prstGeom prst="roundRect">
            <a:avLst>
              <a:gd name="adj" fmla="val 1280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38679" y="3076574"/>
            <a:ext cx="2524061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Constrained return type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38679" y="3390899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template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typename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requires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Addable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38679" y="365760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add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a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b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 {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return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a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+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b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 }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76758" y="4200525"/>
            <a:ext cx="5848203" cy="1533525"/>
          </a:xfrm>
          <a:prstGeom prst="roundRect">
            <a:avLst>
              <a:gd name="adj" fmla="val 9937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38679" y="4381499"/>
            <a:ext cx="2524061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Tricky partial ordering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38679" y="4695824"/>
            <a:ext cx="5524361" cy="5238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template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typename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requires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std::is_same_v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&gt;&gt;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void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func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38679" y="530542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template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typename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requires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Integral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void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func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676758" y="5724524"/>
            <a:ext cx="5848203" cy="1409699"/>
          </a:xfrm>
          <a:prstGeom prst="roundRect">
            <a:avLst>
              <a:gd name="adj" fmla="val 10810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38679" y="5941694"/>
            <a:ext cx="228594" cy="194309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181570" y="5886450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Insight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81570" y="6229350"/>
            <a:ext cx="5181470" cy="7429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Concept-based overloads enable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cleaner type dispatch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than SFINAE - compiler selects overload based on concept satisfaction, providing better error messages and clearer code 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4867153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Tricky Concept Examples #1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204085"/>
            <a:ext cx="228594" cy="1257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019299"/>
            <a:ext cx="175255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SFINAE vs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286000"/>
            <a:ext cx="175255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Tricky Comparison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8193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408924" y="30772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2972360"/>
            <a:ext cx="190495" cy="1512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822" y="2895600"/>
            <a:ext cx="185732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Old SFINAE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22" y="3162299"/>
            <a:ext cx="185732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enable_if default parameter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5433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408924" y="38011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682252"/>
            <a:ext cx="190495" cy="17929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5822" y="3619499"/>
            <a:ext cx="151443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New Concepts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22" y="3886200"/>
            <a:ext cx="151443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requires clause syntax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671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408924" y="45250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406152"/>
            <a:ext cx="190495" cy="17929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85822" y="4343400"/>
            <a:ext cx="160968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Placement Matters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5822" y="4610099"/>
            <a:ext cx="160968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requires clause position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49911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408924" y="52489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5149663"/>
            <a:ext cx="190495" cy="14007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85822" y="5067299"/>
            <a:ext cx="177160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Function Constraints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5822" y="5334000"/>
            <a:ext cx="177160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trailing requires vs leading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594359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523874"/>
            <a:ext cx="175255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SFINAE vs Concepts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962024"/>
            <a:ext cx="5848203" cy="6210299"/>
          </a:xfrm>
          <a:prstGeom prst="roundRect">
            <a:avLst>
              <a:gd name="adj" fmla="val 2605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38679" y="1143000"/>
            <a:ext cx="291457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Old SFINAE - complex syntax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8679" y="1495424"/>
            <a:ext cx="5524361" cy="10572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template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typename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typename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typename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std::enable_if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std::is_integral_v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&gt;&gt;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::type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void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func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838679" y="2552700"/>
            <a:ext cx="5524361" cy="1228725"/>
          </a:xfrm>
          <a:prstGeom prst="roundRect">
            <a:avLst>
              <a:gd name="adj" fmla="val 12403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00599" y="2733674"/>
            <a:ext cx="291457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New Concepts - clean syntax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00599" y="3086100"/>
            <a:ext cx="520051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template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typename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&gt;&gt;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requires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Integral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00599" y="3352800"/>
            <a:ext cx="520051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void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func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838679" y="3781424"/>
            <a:ext cx="5524361" cy="1571625"/>
          </a:xfrm>
          <a:prstGeom prst="roundRect">
            <a:avLst>
              <a:gd name="adj" fmla="val 9696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00599" y="3962399"/>
            <a:ext cx="3981350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Tricky placement - function constraint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00599" y="4314825"/>
            <a:ext cx="520051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template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typename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00599" y="4581524"/>
            <a:ext cx="520051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void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func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requires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Integral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&gt;;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00599" y="4924424"/>
            <a:ext cx="520051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// Different from leading requires!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838679" y="5343525"/>
            <a:ext cx="5524361" cy="1657350"/>
          </a:xfrm>
          <a:prstGeom prst="roundRect">
            <a:avLst>
              <a:gd name="adj" fmla="val 9195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000599" y="5560694"/>
            <a:ext cx="228594" cy="194309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343491" y="5505450"/>
            <a:ext cx="485762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 Mono"/>
                <a:rFonts ascii="Roboto Mono" hAnsi="Roboto Mono" eastAsia="Roboto Mono" cs="Roboto Mono"/>
              </a:rPr>
              <a:t>Key Insight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43491" y="5848350"/>
            <a:ext cx="4857628" cy="9905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 Mono"/>
                <a:rFonts ascii="Roboto Mono" hAnsi="Roboto Mono" eastAsia="Roboto Mono" cs="Roboto Mono"/>
              </a:rPr>
              <a:t> Concepts provide </a:t>
            </a:r>
            <a:r>
              <a:rPr sz="956" b="1">
                <a:solidFill>
                  <a:srgbClr val="FFFFFF"/>
                </a:solidFill>
                <a:latin typeface="Roboto Mono"/>
                <a:rFonts ascii="Roboto Mono" hAnsi="Roboto Mono" eastAsia="Roboto Mono" cs="Roboto Mono"/>
              </a:rPr>
              <a:t>cleaner syntax</a:t>
            </a:r>
            <a:r>
              <a:rPr sz="956" b="0">
                <a:solidFill>
                  <a:srgbClr val="CBD5E1"/>
                </a:solidFill>
                <a:latin typeface="Roboto Mono"/>
                <a:rFonts ascii="Roboto Mono" hAnsi="Roboto Mono" eastAsia="Roboto Mono" cs="Roboto Mono"/>
              </a:rPr>
              <a:t> than SFINAE. Tricky: </a:t>
            </a:r>
            <a:r>
              <a:rPr sz="956" b="1">
                <a:solidFill>
                  <a:srgbClr val="FFFFFF"/>
                </a:solidFill>
                <a:latin typeface="Roboto Mono"/>
                <a:rFonts ascii="Roboto Mono" hAnsi="Roboto Mono" eastAsia="Roboto Mono" cs="Roboto Mono"/>
              </a:rPr>
              <a:t>requires clause placement</a:t>
            </a:r>
            <a:r>
              <a:rPr sz="956" b="0">
                <a:solidFill>
                  <a:srgbClr val="CBD5E1"/>
                </a:solidFill>
                <a:latin typeface="Roboto Mono"/>
                <a:rFonts ascii="Roboto Mono" hAnsi="Roboto Mono" eastAsia="Roboto Mono" cs="Roboto Mono"/>
              </a:rPr>
              <a:t> - after signature is function constraint (affects overload resolution differently) 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4867153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Tricky Concept Examples #2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172652"/>
            <a:ext cx="228594" cy="18859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019299"/>
            <a:ext cx="219069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Concept Composition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286000"/>
            <a:ext cx="219069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Nested and Combined Concepts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8193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408924" y="30772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2972360"/>
            <a:ext cx="190495" cy="1512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822" y="2895600"/>
            <a:ext cx="210497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Nested Concepts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22" y="3162299"/>
            <a:ext cx="210497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Concepts using other concepts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5433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408924" y="38011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686455"/>
            <a:ext cx="190495" cy="17088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5822" y="3619499"/>
            <a:ext cx="166683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Concept Composition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22" y="3886200"/>
            <a:ext cx="166683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Combined with &amp;&amp; and ||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671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408924" y="45250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434167"/>
            <a:ext cx="190495" cy="12326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85822" y="4343400"/>
            <a:ext cx="237166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Logical Operators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5822" y="4610099"/>
            <a:ext cx="237166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Concept1 &amp;&amp; Concept2 || Concept3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49911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408924" y="52489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5141258"/>
            <a:ext cx="190495" cy="15688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85822" y="5067299"/>
            <a:ext cx="260978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Order Matters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5822" y="5334000"/>
            <a:ext cx="260978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Composition order affects satisfaction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794385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723900"/>
            <a:ext cx="216212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Tricky Concept Examples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1162050"/>
            <a:ext cx="5848203" cy="1638299"/>
          </a:xfrm>
          <a:prstGeom prst="roundRect">
            <a:avLst>
              <a:gd name="adj" fmla="val 9302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38679" y="1333500"/>
            <a:ext cx="2838379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Nested concept with requires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8679" y="1638299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template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typename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38679" y="188595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concept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Addable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requires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a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b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 {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38679" y="2133599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{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a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+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b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 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38679" y="238125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};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76758" y="2914650"/>
            <a:ext cx="5848203" cy="1143000"/>
          </a:xfrm>
          <a:prstGeom prst="roundRect">
            <a:avLst>
              <a:gd name="adj" fmla="val 13333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38679" y="3086100"/>
            <a:ext cx="2647883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Nested concept composition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38679" y="3390899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template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typename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38679" y="363855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concept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Numeric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Integral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 ||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Floating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&gt;;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76758" y="4171950"/>
            <a:ext cx="5848203" cy="1390650"/>
          </a:xfrm>
          <a:prstGeom prst="roundRect">
            <a:avLst>
              <a:gd name="adj" fmla="val 10958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38679" y="4343400"/>
            <a:ext cx="2743131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Complex concept composition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38679" y="464820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template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typename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38679" y="4895849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concept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Addable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AddableWith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 ||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38679" y="514350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std::is_arithmetic_v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&gt;;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76758" y="5562600"/>
            <a:ext cx="5848203" cy="1409699"/>
          </a:xfrm>
          <a:prstGeom prst="roundRect">
            <a:avLst>
              <a:gd name="adj" fmla="val 10810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38679" y="5770244"/>
            <a:ext cx="228594" cy="194309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181570" y="5715000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Insight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81570" y="6057900"/>
            <a:ext cx="5181470" cy="7429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Concepts can be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nested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using other concepts and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composed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with &amp;&amp; and || operators. The order of composition matters and affects concept satisfaction. 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4867153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Tricky Concept Examples #3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204085"/>
            <a:ext cx="228594" cy="1257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019299"/>
            <a:ext cx="264788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Member Functions &amp; Qualifiers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286000"/>
            <a:ext cx="264788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Tricky Concept Checks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8193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408924" y="30772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2977963"/>
            <a:ext cx="190495" cy="1400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822" y="2895600"/>
            <a:ext cx="144776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Member Functions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22" y="3162299"/>
            <a:ext cx="144776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t.begin(), t.size()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5433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408924" y="38011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657039"/>
            <a:ext cx="190495" cy="2297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5822" y="3619499"/>
            <a:ext cx="164778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Const Reference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22" y="3886200"/>
            <a:ext cx="164778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is_reference &amp;&amp; is_const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671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408924" y="45250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420160"/>
            <a:ext cx="190495" cy="15127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85822" y="4343400"/>
            <a:ext cx="162873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Pointer Checks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5822" y="4610099"/>
            <a:ext cx="162873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!is_pointer &amp;&amp; is_pointer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49911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408924" y="52489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5134255"/>
            <a:ext cx="190495" cy="17088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85822" y="5067299"/>
            <a:ext cx="210497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Decay Type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5822" y="5334000"/>
            <a:ext cx="210497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remove_reference &amp; remove_cv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289560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219074"/>
            <a:ext cx="216212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Tricky Concept Examples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657225"/>
            <a:ext cx="5848203" cy="1714500"/>
          </a:xfrm>
          <a:prstGeom prst="roundRect">
            <a:avLst>
              <a:gd name="adj" fmla="val 8888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38679" y="838200"/>
            <a:ext cx="2428814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Member function checks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8679" y="116205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template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typename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38679" y="142875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concept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HasBegin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requires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 {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38679" y="168592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.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begin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38679" y="1952624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};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76758" y="2486025"/>
            <a:ext cx="5848203" cy="1714500"/>
          </a:xfrm>
          <a:prstGeom prst="roundRect">
            <a:avLst>
              <a:gd name="adj" fmla="val 8888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38679" y="2667000"/>
            <a:ext cx="2333566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Const reference check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38679" y="2990849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template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typename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38679" y="325755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concept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ConstReference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38679" y="351472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std::is_reference_v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 &amp;&amp;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38679" y="3781424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std::is_const_v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std::remove_reference_t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&gt;&gt;;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76758" y="4324349"/>
            <a:ext cx="5848203" cy="1714500"/>
          </a:xfrm>
          <a:prstGeom prst="roundRect">
            <a:avLst>
              <a:gd name="adj" fmla="val 8888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38679" y="4505325"/>
            <a:ext cx="2524061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Tricky pointer vs value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38679" y="481965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template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typename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38679" y="508635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concept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NotPointer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38679" y="534352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!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std::is_pointer_v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 &amp;&amp;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38679" y="5610224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std::is_pointer_v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std::decay_t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&gt;&gt;;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676758" y="6038849"/>
            <a:ext cx="5848203" cy="1428750"/>
          </a:xfrm>
          <a:prstGeom prst="roundRect">
            <a:avLst>
              <a:gd name="adj" fmla="val 10666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38679" y="6256019"/>
            <a:ext cx="228594" cy="194309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181570" y="6200775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Insight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81570" y="6543675"/>
            <a:ext cx="5181470" cy="761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Concepts can check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member functions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,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reference qualifiers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(const/volatile), and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pointer traits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. Use type transformations like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std::decay_t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and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std::remove_reference_t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for tricky cases. 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4552836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Standard Library Concepts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207895"/>
            <a:ext cx="228594" cy="19430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057400"/>
            <a:ext cx="208592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Built-in C++20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324100"/>
            <a:ext cx="208592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Standard Library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857500"/>
            <a:ext cx="4629034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551798" y="2972435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42931" y="2978866"/>
            <a:ext cx="171445" cy="13826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90575" y="2895600"/>
            <a:ext cx="144776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Integral, Signed, Floating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33" y="3257550"/>
            <a:ext cx="4629034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551798" y="3372485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42931" y="3367855"/>
            <a:ext cx="171445" cy="1603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90575" y="3295650"/>
            <a:ext cx="118107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Copyable, Moveable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6733" y="3657600"/>
            <a:ext cx="4629034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 rot="16200000">
            <a:off x="551798" y="3772535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42931" y="3765140"/>
            <a:ext cx="171445" cy="16591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90575" y="3695699"/>
            <a:ext cx="206687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Constructible, DefaultConstructible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6733" y="4057650"/>
            <a:ext cx="4629034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551798" y="4172585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42931" y="4167955"/>
            <a:ext cx="171445" cy="16038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90575" y="4095749"/>
            <a:ext cx="254311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EqualityComparable, LessThanComparable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6733" y="4457700"/>
            <a:ext cx="4629034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 rot="16200000">
            <a:off x="551798" y="4572635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742931" y="4584597"/>
            <a:ext cx="171445" cy="12720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90575" y="4495799"/>
            <a:ext cx="155253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Range, Sortable, Predicate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6733" y="4857750"/>
            <a:ext cx="4629034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 Same Side Corner Rectangle 26"/>
          <p:cNvSpPr/>
          <p:nvPr/>
        </p:nvSpPr>
        <p:spPr>
          <a:xfrm rot="16200000">
            <a:off x="551798" y="4972685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742931" y="4992943"/>
            <a:ext cx="171445" cy="11061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90575" y="4895849"/>
            <a:ext cx="128584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Swappable, Invocable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6733" y="5257800"/>
            <a:ext cx="4629034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 Same Side Corner Rectangle 30"/>
          <p:cNvSpPr/>
          <p:nvPr/>
        </p:nvSpPr>
        <p:spPr>
          <a:xfrm rot="16200000">
            <a:off x="551798" y="5372735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742931" y="5368105"/>
            <a:ext cx="171445" cy="16038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90575" y="5295899"/>
            <a:ext cx="121916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Semiregular, Regular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5676758" y="632460"/>
            <a:ext cx="228594" cy="125729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981550" y="561974"/>
            <a:ext cx="212402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Standard Concept Usage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76758" y="1000125"/>
            <a:ext cx="5848203" cy="1495424"/>
          </a:xfrm>
          <a:prstGeom prst="roundRect">
            <a:avLst>
              <a:gd name="adj" fmla="val 10191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38679" y="1181099"/>
            <a:ext cx="3009824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Using standard Range concept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38679" y="154305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template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typename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&gt;&gt;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38679" y="180022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requires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std::ranges::range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38679" y="2066924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void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process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&amp;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76758" y="2600325"/>
            <a:ext cx="5848203" cy="1228725"/>
          </a:xfrm>
          <a:prstGeom prst="roundRect">
            <a:avLst>
              <a:gd name="adj" fmla="val 12403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838679" y="2781300"/>
            <a:ext cx="2428814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Using Sortable concept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38679" y="314325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template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typename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&gt;&gt;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requires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std::sortable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38679" y="340995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void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sort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std::vector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&gt;&amp;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v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676758" y="3943350"/>
            <a:ext cx="5848203" cy="2019299"/>
          </a:xfrm>
          <a:prstGeom prst="roundRect">
            <a:avLst>
              <a:gd name="adj" fmla="val 7547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838679" y="4124324"/>
            <a:ext cx="359083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Range-based for with Range concept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38679" y="448627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template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std::ranges::range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38679" y="4752974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void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print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 {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38679" y="5010149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for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elem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: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 {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38679" y="527685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std::cout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&lt;&lt;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elem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&lt;&lt; </a:t>
            </a:r>
            <a:r>
              <a:rPr sz="101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" "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38679" y="553402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}}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676758" y="5962650"/>
            <a:ext cx="5848203" cy="1162050"/>
          </a:xfrm>
          <a:prstGeom prst="roundRect">
            <a:avLst>
              <a:gd name="adj" fmla="val 13114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5838679" y="6179820"/>
            <a:ext cx="228594" cy="194309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6181570" y="6124574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Insight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81570" y="6467474"/>
            <a:ext cx="5181470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Standard concepts provide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common type requirements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- replace type traits, clean syntax, better error messages 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580057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Concept Constraints in Templates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169795"/>
            <a:ext cx="228594" cy="19430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019299"/>
            <a:ext cx="183827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Template Constraints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286000"/>
            <a:ext cx="183827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Concept-Based Classes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8193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408924" y="30772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2966757"/>
            <a:ext cx="190495" cy="16248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822" y="2895600"/>
            <a:ext cx="158111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Class Constraints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22" y="3162299"/>
            <a:ext cx="158111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requires clause in class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5433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408924" y="38011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754096"/>
            <a:ext cx="190495" cy="3560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5822" y="3619499"/>
            <a:ext cx="181922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Convertible Constraints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22" y="3886200"/>
            <a:ext cx="181922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requires Convertible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671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408924" y="45250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442572"/>
            <a:ext cx="190495" cy="10645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85822" y="4343400"/>
            <a:ext cx="157158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Template Parameter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5822" y="4610099"/>
            <a:ext cx="157158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template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class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49911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408924" y="52489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5141258"/>
            <a:ext cx="190495" cy="15688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85822" y="5067299"/>
            <a:ext cx="217164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Tricky Cases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5822" y="5334000"/>
            <a:ext cx="217164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Complex constraint expressions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327659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257175"/>
            <a:ext cx="276218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Constrained Template Examples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695325"/>
            <a:ext cx="5848203" cy="2019299"/>
          </a:xfrm>
          <a:prstGeom prst="roundRect">
            <a:avLst>
              <a:gd name="adj" fmla="val 7547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38679" y="876299"/>
            <a:ext cx="281932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Constrained class template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8679" y="122872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template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typename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38679" y="1495424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requires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std::convertible_to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38679" y="176212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class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MyClass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{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38679" y="2019299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value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38679" y="228600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};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76758" y="2828925"/>
            <a:ext cx="5848203" cy="1752599"/>
          </a:xfrm>
          <a:prstGeom prst="roundRect">
            <a:avLst>
              <a:gd name="adj" fmla="val 8695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38679" y="3009900"/>
            <a:ext cx="2724081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Tricky constraint with 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38679" y="3362324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template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typename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38679" y="362902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requires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std::is_same_v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void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 ||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38679" y="388620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Integral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38679" y="4152899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void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process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76758" y="4695824"/>
            <a:ext cx="5848203" cy="1571625"/>
          </a:xfrm>
          <a:prstGeom prst="roundRect">
            <a:avLst>
              <a:gd name="adj" fmla="val 9696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838679" y="4876800"/>
            <a:ext cx="3105072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Short-hand template parameter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38679" y="522922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template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Integral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38679" y="5495924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void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func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38679" y="5838824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// Same as: template</a:t>
            </a:r>
            <a:r>
              <a:rPr sz="1016" b="0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 requires Integral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676758" y="6257925"/>
            <a:ext cx="5848203" cy="1171575"/>
          </a:xfrm>
          <a:prstGeom prst="roundRect">
            <a:avLst>
              <a:gd name="adj" fmla="val 13008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38679" y="6475094"/>
            <a:ext cx="228594" cy="194309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181570" y="6419850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Insight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81570" y="6762750"/>
            <a:ext cx="5181470" cy="50482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Concept constraints apply to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entire template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and can be specified with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requires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clause or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short-hand template parameter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syntax 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5181470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Requires Expressions in Detail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204085"/>
            <a:ext cx="228594" cy="1257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019299"/>
            <a:ext cx="206687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Three Forms of requires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286000"/>
            <a:ext cx="206687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Expression Validity Checks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8193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408924" y="30772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2994772"/>
            <a:ext cx="190495" cy="10645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822" y="2895600"/>
            <a:ext cx="179065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requires { expr 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22" y="3162299"/>
            <a:ext cx="179065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Checks expression validity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5433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408924" y="38011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741174"/>
            <a:ext cx="190495" cy="6145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5822" y="3619499"/>
            <a:ext cx="134299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requires 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22" y="3886200"/>
            <a:ext cx="134299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Checks type validity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671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408924" y="45250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425763"/>
            <a:ext cx="190495" cy="14007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85822" y="4343400"/>
            <a:ext cx="185732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requires (expr)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5822" y="4610099"/>
            <a:ext cx="185732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Checks boolean expression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49911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408924" y="52489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5141258"/>
            <a:ext cx="190495" cy="15688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85822" y="5067299"/>
            <a:ext cx="162873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Tricky Nesting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5822" y="5334000"/>
            <a:ext cx="162873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Nested requires clauses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651510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581025"/>
            <a:ext cx="262883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Requires Expression Examples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1019174"/>
            <a:ext cx="5848203" cy="1647825"/>
          </a:xfrm>
          <a:prstGeom prst="roundRect">
            <a:avLst>
              <a:gd name="adj" fmla="val 9248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38679" y="1200150"/>
            <a:ext cx="2524061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Three forms of requires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8679" y="1552574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requires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{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.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size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(); } </a:t>
            </a: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Expression validity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38679" y="1895474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requires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std::integral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 </a:t>
            </a: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Type validity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38679" y="222885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requires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std::is_integral_v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&gt;) </a:t>
            </a: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Boolean expression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76758" y="2771775"/>
            <a:ext cx="5848203" cy="1495424"/>
          </a:xfrm>
          <a:prstGeom prst="roundRect">
            <a:avLst>
              <a:gd name="adj" fmla="val 10191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38679" y="2952750"/>
            <a:ext cx="2428814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Tricky nested requires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38679" y="331470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template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typename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38679" y="3571875"/>
            <a:ext cx="5524361" cy="5238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concept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Valid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requires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 </a:t>
            </a: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requires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Integral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decltype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)&gt;&gt; {};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76758" y="4381499"/>
            <a:ext cx="5848203" cy="1304925"/>
          </a:xfrm>
          <a:prstGeom prst="roundRect">
            <a:avLst>
              <a:gd name="adj" fmla="val 11678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38679" y="4562475"/>
            <a:ext cx="4562360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Tricky: requires (Type) vs requires { Type 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38679" y="491490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requires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 </a:t>
            </a: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Checks if T is valid type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38679" y="525780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requires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{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{} } </a:t>
            </a: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Checks if T{} is valid expression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76758" y="5676900"/>
            <a:ext cx="5848203" cy="1428750"/>
          </a:xfrm>
          <a:prstGeom prst="roundRect">
            <a:avLst>
              <a:gd name="adj" fmla="val 10666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38679" y="5894070"/>
            <a:ext cx="228594" cy="194309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181570" y="5838824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Insight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81570" y="6181724"/>
            <a:ext cx="5181470" cy="761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requires has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three forms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: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requires { expr }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checks expression validity,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requires Type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checks type validity,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requires (expr)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checks boolean expression. Nested requires can be tricky. 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7553136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Concept Composition and Logical Operators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172652"/>
            <a:ext cx="228594" cy="18859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019299"/>
            <a:ext cx="151443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Logical Operators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286000"/>
            <a:ext cx="151443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Concept Composition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8193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408924" y="30772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2986367"/>
            <a:ext cx="190495" cy="1232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822" y="2895600"/>
            <a:ext cx="157158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Concept 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22" y="3162299"/>
            <a:ext cx="157158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Concept1 &amp;&amp; Concept2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5433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408924" y="38011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710267"/>
            <a:ext cx="190495" cy="1232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5822" y="3619499"/>
            <a:ext cx="145728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Concept 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22" y="3886200"/>
            <a:ext cx="145728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Concept1 || Concept2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671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408924" y="45250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414557"/>
            <a:ext cx="190495" cy="16248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85822" y="4343400"/>
            <a:ext cx="102867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Concept NOT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5822" y="4610099"/>
            <a:ext cx="102867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!Concept1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49911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408924" y="52489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5141258"/>
            <a:ext cx="190495" cy="15688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85822" y="5067299"/>
            <a:ext cx="162873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Operator Precedence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5822" y="5334000"/>
            <a:ext cx="162873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Parentheses matter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32385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-38100"/>
            <a:ext cx="272408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Concept Composition Examples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400050"/>
            <a:ext cx="5848203" cy="1457325"/>
          </a:xfrm>
          <a:prstGeom prst="roundRect">
            <a:avLst>
              <a:gd name="adj" fmla="val 10457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38679" y="590549"/>
            <a:ext cx="379085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AND: both concepts must be satisfied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8679" y="904874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template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typename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38679" y="1171575"/>
            <a:ext cx="5524361" cy="5238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concept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AddableAndCopyable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Addable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 &amp;&amp;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Copyable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&gt;;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76758" y="1971675"/>
            <a:ext cx="5848203" cy="1457325"/>
          </a:xfrm>
          <a:prstGeom prst="roundRect">
            <a:avLst>
              <a:gd name="adj" fmla="val 10457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38679" y="2152650"/>
            <a:ext cx="369560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OR: either concept can be satisfied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38679" y="2476499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template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typename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38679" y="2733674"/>
            <a:ext cx="5524361" cy="5238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concept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IntegralOrFloating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Integral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 ||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Floating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&gt;;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76758" y="3543300"/>
            <a:ext cx="5848203" cy="1190625"/>
          </a:xfrm>
          <a:prstGeom prst="roundRect">
            <a:avLst>
              <a:gd name="adj" fmla="val 1280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38679" y="3714750"/>
            <a:ext cx="359083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NOT: concept must not be satisfied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38679" y="4038599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template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typename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38679" y="430530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concept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NotPointer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!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std::is_pointer_v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&gt;;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76758" y="4838699"/>
            <a:ext cx="5848203" cy="1714500"/>
          </a:xfrm>
          <a:prstGeom prst="roundRect">
            <a:avLst>
              <a:gd name="adj" fmla="val 8888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38679" y="5019675"/>
            <a:ext cx="359083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Tricky: parentheses for precedence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38679" y="5343525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template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typename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38679" y="5610224"/>
            <a:ext cx="5524361" cy="5238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concept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Valid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Integral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 &amp;&amp; !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std::is_same_v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bool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&gt;) ||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38679" y="6134100"/>
            <a:ext cx="55243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Floating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&gt;;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676758" y="6553199"/>
            <a:ext cx="5848203" cy="1162050"/>
          </a:xfrm>
          <a:prstGeom prst="roundRect">
            <a:avLst>
              <a:gd name="adj" fmla="val 13114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38679" y="6779895"/>
            <a:ext cx="228594" cy="194309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181570" y="6724649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Insight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81570" y="7067549"/>
            <a:ext cx="5181470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Concepts can be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composed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with &amp;&amp;, ||, !. Operator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precedence matters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- use parentheses for complex expressions to ensure correct evaluation order 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4095647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Concepts vs Type Traits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195512"/>
            <a:ext cx="228594" cy="1428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019299"/>
            <a:ext cx="160968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286000"/>
            <a:ext cx="160968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Concepts vs Type Traits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8193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408924" y="30772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2972360"/>
            <a:ext cx="190495" cy="1512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822" y="2895600"/>
            <a:ext cx="159063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Old SFINAE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22" y="3162299"/>
            <a:ext cx="159063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enable_if default param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5433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408924" y="38011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682252"/>
            <a:ext cx="190495" cy="17929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5822" y="3619499"/>
            <a:ext cx="151443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New Concepts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22" y="3886200"/>
            <a:ext cx="151443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requires clause syntax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67199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408924" y="4525008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431366"/>
            <a:ext cx="190495" cy="12886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85822" y="4343400"/>
            <a:ext cx="150491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Clearer Syntax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5822" y="4610099"/>
            <a:ext cx="150491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Better error messages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4991100"/>
            <a:ext cx="4629034" cy="647699"/>
          </a:xfrm>
          <a:prstGeom prst="roundRect">
            <a:avLst>
              <a:gd name="adj" fmla="val 235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408924" y="5248909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5144060"/>
            <a:ext cx="190495" cy="15127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85822" y="5067299"/>
            <a:ext cx="16382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Can Mix Together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5822" y="5334000"/>
            <a:ext cx="163825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Concepts use type traits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746760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676274"/>
            <a:ext cx="204782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Concepts vs Type Traits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1114425"/>
            <a:ext cx="5848203" cy="4619625"/>
          </a:xfrm>
          <a:prstGeom prst="roundRect">
            <a:avLst>
              <a:gd name="adj" fmla="val 3298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38679" y="1295399"/>
            <a:ext cx="291457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Old SFINAE with type traits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8679" y="1619250"/>
            <a:ext cx="5524361" cy="10572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template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typename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typename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typename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std::enable_if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std::is_integral_v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&gt;&gt;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::type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void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func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838679" y="2667000"/>
            <a:ext cx="5524361" cy="1190625"/>
          </a:xfrm>
          <a:prstGeom prst="roundRect">
            <a:avLst>
              <a:gd name="adj" fmla="val 1280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00599" y="2847974"/>
            <a:ext cx="281932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New Concepts with requires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00599" y="3171825"/>
            <a:ext cx="520051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template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typename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&gt;&gt;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requires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Integral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00599" y="3429000"/>
            <a:ext cx="520051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void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func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838679" y="3857625"/>
            <a:ext cx="5524361" cy="1714500"/>
          </a:xfrm>
          <a:prstGeom prst="roundRect">
            <a:avLst>
              <a:gd name="adj" fmla="val 8888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00599" y="4038599"/>
            <a:ext cx="359083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Tricky: Mix concepts &amp; type traits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00599" y="4362450"/>
            <a:ext cx="5200519" cy="5238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1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template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typename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&gt;&gt;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requires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!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std::is_pointer_v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 &amp;&amp;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00599" y="4886325"/>
            <a:ext cx="520051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std::is_integral_v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std::remove_pointer_t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&gt;&gt;&gt;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00599" y="5143500"/>
            <a:ext cx="520051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void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func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101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101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76758" y="5848350"/>
            <a:ext cx="5848203" cy="1162050"/>
          </a:xfrm>
          <a:prstGeom prst="roundRect">
            <a:avLst>
              <a:gd name="adj" fmla="val 13114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38679" y="6065520"/>
            <a:ext cx="228594" cy="194309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181570" y="6010274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Insight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81570" y="6353174"/>
            <a:ext cx="5181470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Concepts provide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cleaner syntax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than type traits SFINAE. They can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mix with type traits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for complex constraints. Much better error messages! 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6162520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Best Practices and Common Pitfalls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818447"/>
            <a:ext cx="228594" cy="1543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647949"/>
            <a:ext cx="131441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Best Practices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914650"/>
            <a:ext cx="131441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Concept Guidelines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3448049"/>
            <a:ext cx="4629034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551798" y="3562984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42931" y="3563886"/>
            <a:ext cx="171445" cy="14932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90575" y="3486150"/>
            <a:ext cx="136204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Use standard concepts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33" y="3848099"/>
            <a:ext cx="4629034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551798" y="3963034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42931" y="3969466"/>
            <a:ext cx="171445" cy="13826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90575" y="3886200"/>
            <a:ext cx="133346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Make concepts simple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6733" y="4248150"/>
            <a:ext cx="4629034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 rot="16200000">
            <a:off x="551798" y="4363085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42931" y="4363986"/>
            <a:ext cx="171445" cy="14932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90575" y="4286250"/>
            <a:ext cx="142871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Document requirements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6733" y="4648200"/>
            <a:ext cx="4629034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551798" y="4763135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42931" y="4788924"/>
            <a:ext cx="171445" cy="9955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90575" y="4686300"/>
            <a:ext cx="132394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Use short-hand syntax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1783556"/>
            <a:ext cx="228594" cy="18573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981550" y="1743075"/>
            <a:ext cx="142871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Common Pitfalls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76758" y="2181225"/>
            <a:ext cx="5848203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5561823" y="2296160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752956" y="2297061"/>
            <a:ext cx="171445" cy="14932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000599" y="2219324"/>
            <a:ext cx="154301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Forgetting requires clause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2581275"/>
            <a:ext cx="5848203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 Same Side Corner Rectangle 28"/>
          <p:cNvSpPr/>
          <p:nvPr/>
        </p:nvSpPr>
        <p:spPr>
          <a:xfrm rot="16200000">
            <a:off x="5561823" y="2696210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5752956" y="2708172"/>
            <a:ext cx="171445" cy="12720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000599" y="2619374"/>
            <a:ext cx="174303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Mixing SFINAE with concepts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76758" y="2981325"/>
            <a:ext cx="5848203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 rot="16200000">
            <a:off x="5561823" y="3096260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5752956" y="3098543"/>
            <a:ext cx="171445" cy="14656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000599" y="3019424"/>
            <a:ext cx="165730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Overly complex expressions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76758" y="3381375"/>
            <a:ext cx="5848203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 rot="16200000">
            <a:off x="5561823" y="3496310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5752956" y="3508272"/>
            <a:ext cx="171445" cy="12720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000599" y="3419474"/>
            <a:ext cx="182875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Circular concept dependencies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76758" y="3857625"/>
            <a:ext cx="5848203" cy="1095374"/>
          </a:xfrm>
          <a:prstGeom prst="roundRect">
            <a:avLst>
              <a:gd name="adj" fmla="val 13913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00579" y="4000500"/>
            <a:ext cx="257168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F87171"/>
                </a:solidFill>
                <a:latin typeface="Roboto Mono"/>
                <a:rFonts ascii="Roboto Mono" hAnsi="Roboto Mono" eastAsia="Roboto Mono" cs="Roboto Mono"/>
              </a:rPr>
              <a:t>// Tricky: Circular dependency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00579" y="4295774"/>
            <a:ext cx="560055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template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897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typename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897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&gt;&gt; </a:t>
            </a:r>
            <a:r>
              <a:rPr sz="897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requires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897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HasMethod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897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T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 {}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00579" y="4619625"/>
            <a:ext cx="411469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F87171"/>
                </a:solidFill>
                <a:latin typeface="Roboto Mono"/>
                <a:rFonts ascii="Roboto Mono" hAnsi="Roboto Mono" eastAsia="Roboto Mono" cs="Roboto Mono"/>
              </a:rPr>
              <a:t>// Compilation failure if T depends on HasMethod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76758" y="4952999"/>
            <a:ext cx="5848203" cy="990599"/>
          </a:xfrm>
          <a:prstGeom prst="roundRect">
            <a:avLst>
              <a:gd name="adj" fmla="val 15384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5800579" y="5132069"/>
            <a:ext cx="228594" cy="194309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143471" y="5076825"/>
            <a:ext cx="525766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Recommendation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43471" y="5381624"/>
            <a:ext cx="5257668" cy="4381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Use </a:t>
            </a:r>
            <a:r>
              <a:rPr sz="837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standard concepts</a:t>
            </a: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, keep them </a:t>
            </a:r>
            <a:r>
              <a:rPr sz="837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simple</a:t>
            </a: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, document requirements, and avoid </a:t>
            </a:r>
            <a:r>
              <a:rPr sz="837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circular dependencies</a:t>
            </a: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4381390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Summary and Conclusion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998345"/>
            <a:ext cx="228594" cy="19430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1847849"/>
            <a:ext cx="199067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C++20 Concepts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114550"/>
            <a:ext cx="199067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Complete Feature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647949"/>
            <a:ext cx="4629034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551798" y="2762884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42931" y="2769316"/>
            <a:ext cx="171445" cy="13826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90575" y="2686050"/>
            <a:ext cx="189542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Concepts - named requirements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33" y="3047999"/>
            <a:ext cx="4629034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551798" y="3162934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42931" y="3188724"/>
            <a:ext cx="171445" cy="9955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90575" y="3086100"/>
            <a:ext cx="134299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Basic Concepts syntax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6733" y="3448049"/>
            <a:ext cx="4629034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 rot="16200000">
            <a:off x="551798" y="3562984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42931" y="3565268"/>
            <a:ext cx="171445" cy="14656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90575" y="3486150"/>
            <a:ext cx="174303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Multiple template parameters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6733" y="3848099"/>
            <a:ext cx="4629034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551798" y="3963034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42931" y="3958405"/>
            <a:ext cx="171445" cy="16038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90575" y="3886200"/>
            <a:ext cx="142871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Auto and requires cases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6733" y="4248150"/>
            <a:ext cx="4629034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 rot="16200000">
            <a:off x="551798" y="4363085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742931" y="4363986"/>
            <a:ext cx="171445" cy="149327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90575" y="4286250"/>
            <a:ext cx="134299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Constrained templates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6733" y="4648200"/>
            <a:ext cx="4629034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 Same Side Corner Rectangle 26"/>
          <p:cNvSpPr/>
          <p:nvPr/>
        </p:nvSpPr>
        <p:spPr>
          <a:xfrm rot="16200000">
            <a:off x="551798" y="4763135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742931" y="4775097"/>
            <a:ext cx="171445" cy="12720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90575" y="4686300"/>
            <a:ext cx="150491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Concept-based overloads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6733" y="5048250"/>
            <a:ext cx="4629034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 Same Side Corner Rectangle 30"/>
          <p:cNvSpPr/>
          <p:nvPr/>
        </p:nvSpPr>
        <p:spPr>
          <a:xfrm rot="16200000">
            <a:off x="551798" y="5163185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742931" y="5166851"/>
            <a:ext cx="171445" cy="14379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90575" y="5086350"/>
            <a:ext cx="151443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Tricky examples &amp; pitfalls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6733" y="5448300"/>
            <a:ext cx="4629034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 rot="16200000">
            <a:off x="551798" y="5563235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742931" y="5564136"/>
            <a:ext cx="171445" cy="149327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990575" y="5486400"/>
            <a:ext cx="151443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Standard library concepts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5676758" y="1447323"/>
            <a:ext cx="228594" cy="191452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981550" y="1409699"/>
            <a:ext cx="107629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Benefits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76758" y="1962149"/>
            <a:ext cx="5848203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 rot="16200000">
            <a:off x="5561823" y="2077084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5752956" y="2077986"/>
            <a:ext cx="171445" cy="149327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000599" y="2000250"/>
            <a:ext cx="183827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Type-safe template constraints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76758" y="2362199"/>
            <a:ext cx="5848203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 rot="16200000">
            <a:off x="5561823" y="2477134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5752956" y="2472505"/>
            <a:ext cx="171445" cy="160388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000599" y="2400300"/>
            <a:ext cx="122869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Cleaner than SFINAE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676758" y="2762249"/>
            <a:ext cx="5848203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 Same Side Corner Rectangle 48"/>
          <p:cNvSpPr/>
          <p:nvPr/>
        </p:nvSpPr>
        <p:spPr>
          <a:xfrm rot="16200000">
            <a:off x="5561823" y="2877184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5752956" y="2878086"/>
            <a:ext cx="171445" cy="149327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6000599" y="2800350"/>
            <a:ext cx="131441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Better error messages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676758" y="3162299"/>
            <a:ext cx="5848203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 Same Side Corner Rectangle 52"/>
          <p:cNvSpPr/>
          <p:nvPr/>
        </p:nvSpPr>
        <p:spPr>
          <a:xfrm rot="16200000">
            <a:off x="5561823" y="3277234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5752956" y="3280901"/>
            <a:ext cx="171445" cy="143796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6000599" y="3200400"/>
            <a:ext cx="126679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Concept composition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676758" y="3562349"/>
            <a:ext cx="5848203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 Same Side Corner Rectangle 56"/>
          <p:cNvSpPr/>
          <p:nvPr/>
        </p:nvSpPr>
        <p:spPr>
          <a:xfrm rot="16200000">
            <a:off x="5561823" y="3677284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16">
            <a:alphaModFix amt="100000"/>
          </a:blip>
          <a:stretch>
            <a:fillRect/>
          </a:stretch>
        </p:blipFill>
        <p:spPr>
          <a:xfrm>
            <a:off x="5752956" y="3689247"/>
            <a:ext cx="171445" cy="127204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6000599" y="3600450"/>
            <a:ext cx="126679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Requires expressions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676758" y="3962399"/>
            <a:ext cx="5848203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 Same Side Corner Rectangle 60"/>
          <p:cNvSpPr/>
          <p:nvPr/>
        </p:nvSpPr>
        <p:spPr>
          <a:xfrm rot="16200000">
            <a:off x="5561823" y="4077334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17">
            <a:alphaModFix amt="100000"/>
          </a:blip>
          <a:stretch>
            <a:fillRect/>
          </a:stretch>
        </p:blipFill>
        <p:spPr>
          <a:xfrm>
            <a:off x="5752956" y="4097593"/>
            <a:ext cx="171445" cy="110612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6000599" y="4000500"/>
            <a:ext cx="148586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Logical operators (&amp;&amp; || !)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676758" y="4362450"/>
            <a:ext cx="5848203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 Same Side Corner Rectangle 64"/>
          <p:cNvSpPr/>
          <p:nvPr/>
        </p:nvSpPr>
        <p:spPr>
          <a:xfrm rot="16200000">
            <a:off x="5561823" y="4477385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18">
            <a:alphaModFix amt="100000"/>
          </a:blip>
          <a:stretch>
            <a:fillRect/>
          </a:stretch>
        </p:blipFill>
        <p:spPr>
          <a:xfrm>
            <a:off x="5752956" y="4472755"/>
            <a:ext cx="171445" cy="160388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6000599" y="4400550"/>
            <a:ext cx="135251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Concepts vs type traits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676758" y="4762500"/>
            <a:ext cx="5848203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 Same Side Corner Rectangle 68"/>
          <p:cNvSpPr/>
          <p:nvPr/>
        </p:nvSpPr>
        <p:spPr>
          <a:xfrm rot="16200000">
            <a:off x="5561823" y="4877435"/>
            <a:ext cx="361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image.png"/>
          <p:cNvPicPr>
            <a:picLocks noChangeAspect="1"/>
          </p:cNvPicPr>
          <p:nvPr/>
        </p:nvPicPr>
        <p:blipFill>
          <a:blip r:embed="rId19">
            <a:alphaModFix amt="100000"/>
          </a:blip>
          <a:stretch>
            <a:fillRect/>
          </a:stretch>
        </p:blipFill>
        <p:spPr>
          <a:xfrm>
            <a:off x="5752956" y="4893545"/>
            <a:ext cx="171445" cy="118908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6000599" y="4800600"/>
            <a:ext cx="14001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Best practices &amp; pitfalls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676758" y="5124449"/>
            <a:ext cx="5848203" cy="1152524"/>
          </a:xfrm>
          <a:prstGeom prst="roundRect">
            <a:avLst>
              <a:gd name="adj" fmla="val 13223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3" name="Picture 72" descr="image.png"/>
          <p:cNvPicPr>
            <a:picLocks noChangeAspect="1"/>
          </p:cNvPicPr>
          <p:nvPr/>
        </p:nvPicPr>
        <p:blipFill>
          <a:blip r:embed="rId20">
            <a:alphaModFix amt="100000"/>
          </a:blip>
          <a:stretch>
            <a:fillRect/>
          </a:stretch>
        </p:blipFill>
        <p:spPr>
          <a:xfrm>
            <a:off x="5800579" y="5303519"/>
            <a:ext cx="228594" cy="194309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6143471" y="5248275"/>
            <a:ext cx="525766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Final Recommendation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143471" y="5591175"/>
            <a:ext cx="5257668" cy="5619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 Use C++20 </a:t>
            </a:r>
            <a:r>
              <a:rPr sz="107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concepts</a:t>
            </a:r>
            <a:r>
              <a:rPr sz="107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 for clean, type-safe template constraints with </a:t>
            </a: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better error messages</a:t>
            </a:r>
            <a:r>
              <a:rPr sz="107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 and clearer code! 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