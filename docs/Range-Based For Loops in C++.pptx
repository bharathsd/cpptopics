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70" r:id="rId15"/>
    <p:sldId id="271" r:id="rId16"/>
    <p:sldId id="272" r:id="rId17"/>
    <p:sldId id="273" r:id="rId18"/>
  </p:sldIdLst>
  <p:sldSz cx="12192000" cy="6858000"/>
  <p:notesSz cx="6858000" cy="9144000"/>
  <p:custDataLst>
    <p:tags r:id="rId19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7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tags" Target="tags/tag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12/27/2025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12/27/2025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12/27/2025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F8A0D6A-66D6-03AB-F989-272834BF84BE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933250" y="6672580"/>
            <a:ext cx="347662" cy="12192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IN" sz="800">
                <a:solidFill>
                  <a:srgbClr val="000000">
                    <a:alpha val="50000"/>
                  </a:srgb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Internal</a:t>
            </a:r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8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14.png"/><Relationship Id="rId4" Type="http://schemas.openxmlformats.org/officeDocument/2006/relationships/image" Target="../media/image1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5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14.png"/><Relationship Id="rId4" Type="http://schemas.openxmlformats.org/officeDocument/2006/relationships/image" Target="../media/image2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1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33.png"/><Relationship Id="rId7" Type="http://schemas.openxmlformats.org/officeDocument/2006/relationships/image" Target="../media/image8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Relationship Id="rId9" Type="http://schemas.openxmlformats.org/officeDocument/2006/relationships/image" Target="../media/image3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7" Type="http://schemas.openxmlformats.org/officeDocument/2006/relationships/image" Target="../media/image3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7" Type="http://schemas.openxmlformats.org/officeDocument/2006/relationships/image" Target="../media/image48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.png"/><Relationship Id="rId3" Type="http://schemas.openxmlformats.org/officeDocument/2006/relationships/image" Target="../media/image50.png"/><Relationship Id="rId7" Type="http://schemas.openxmlformats.org/officeDocument/2006/relationships/image" Target="../media/image53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2.png"/><Relationship Id="rId11" Type="http://schemas.openxmlformats.org/officeDocument/2006/relationships/image" Target="../media/image57.png"/><Relationship Id="rId5" Type="http://schemas.openxmlformats.org/officeDocument/2006/relationships/image" Target="../media/image51.png"/><Relationship Id="rId10" Type="http://schemas.openxmlformats.org/officeDocument/2006/relationships/image" Target="../media/image56.png"/><Relationship Id="rId4" Type="http://schemas.openxmlformats.org/officeDocument/2006/relationships/image" Target="../media/image3.png"/><Relationship Id="rId9" Type="http://schemas.openxmlformats.org/officeDocument/2006/relationships/image" Target="../media/image55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4.png"/><Relationship Id="rId3" Type="http://schemas.openxmlformats.org/officeDocument/2006/relationships/image" Target="../media/image59.png"/><Relationship Id="rId7" Type="http://schemas.openxmlformats.org/officeDocument/2006/relationships/image" Target="../media/image63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2.png"/><Relationship Id="rId5" Type="http://schemas.openxmlformats.org/officeDocument/2006/relationships/image" Target="../media/image61.png"/><Relationship Id="rId4" Type="http://schemas.openxmlformats.org/officeDocument/2006/relationships/image" Target="../media/image60.png"/><Relationship Id="rId9" Type="http://schemas.openxmlformats.org/officeDocument/2006/relationships/image" Target="../media/image3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7" Type="http://schemas.openxmlformats.org/officeDocument/2006/relationships/image" Target="../media/image69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8.png"/><Relationship Id="rId5" Type="http://schemas.openxmlformats.org/officeDocument/2006/relationships/image" Target="../media/image67.png"/><Relationship Id="rId4" Type="http://schemas.openxmlformats.org/officeDocument/2006/relationships/image" Target="../media/image48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71.png"/><Relationship Id="rId7" Type="http://schemas.openxmlformats.org/officeDocument/2006/relationships/image" Target="../media/image75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4.png"/><Relationship Id="rId5" Type="http://schemas.openxmlformats.org/officeDocument/2006/relationships/image" Target="../media/image73.png"/><Relationship Id="rId10" Type="http://schemas.openxmlformats.org/officeDocument/2006/relationships/image" Target="../media/image31.png"/><Relationship Id="rId4" Type="http://schemas.openxmlformats.org/officeDocument/2006/relationships/image" Target="../media/image72.png"/><Relationship Id="rId9" Type="http://schemas.openxmlformats.org/officeDocument/2006/relationships/image" Target="../media/image76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9.png"/><Relationship Id="rId3" Type="http://schemas.openxmlformats.org/officeDocument/2006/relationships/image" Target="../media/image78.png"/><Relationship Id="rId7" Type="http://schemas.openxmlformats.org/officeDocument/2006/relationships/image" Target="../media/image82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1.png"/><Relationship Id="rId5" Type="http://schemas.openxmlformats.org/officeDocument/2006/relationships/image" Target="../media/image80.png"/><Relationship Id="rId4" Type="http://schemas.openxmlformats.org/officeDocument/2006/relationships/image" Target="../media/image79.png"/><Relationship Id="rId9" Type="http://schemas.openxmlformats.org/officeDocument/2006/relationships/image" Target="../media/image6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F172A"/>
            </a:gs>
            <a:gs pos="50000">
              <a:srgbClr val="1E293B"/>
            </a:gs>
            <a:gs pos="100000">
              <a:srgbClr val="0F172A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010224" y="761999"/>
            <a:ext cx="3657508" cy="3657600"/>
          </a:xfrm>
          <a:prstGeom prst="roundRect">
            <a:avLst>
              <a:gd name="adj" fmla="val 5207812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523961" y="3047999"/>
            <a:ext cx="3047923" cy="3047999"/>
          </a:xfrm>
          <a:prstGeom prst="roundRect">
            <a:avLst>
              <a:gd name="adj" fmla="val 6249375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5562460" y="914400"/>
            <a:ext cx="1066773" cy="1066799"/>
          </a:xfrm>
          <a:prstGeom prst="roundRect">
            <a:avLst>
              <a:gd name="adj" fmla="val 28571"/>
            </a:avLst>
          </a:prstGeom>
          <a:gradFill rotWithShape="1">
            <a:gsLst>
              <a:gs pos="0">
                <a:srgbClr val="3B82F6"/>
              </a:gs>
              <a:gs pos="100000">
                <a:srgbClr val="2563EB"/>
              </a:gs>
            </a:gsLst>
            <a:lin ang="81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5810104" y="1183329"/>
            <a:ext cx="571485" cy="52894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819329" y="2286000"/>
            <a:ext cx="6553036" cy="7619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5200"/>
              </a:lnSpc>
              <a:spcBef>
                <a:spcPts val="0"/>
              </a:spcBef>
              <a:spcAft>
                <a:spcPts val="1560"/>
              </a:spcAft>
            </a:pPr>
            <a:r>
              <a:rPr sz="3827" b="1">
                <a:solidFill>
                  <a:srgbClr val="FFFFFF"/>
                </a:solidFill>
                <a:latin typeface="Roboto"/>
              </a:rPr>
              <a:t>Range-Based For Loops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43391" y="3276599"/>
            <a:ext cx="1504912" cy="66675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4550"/>
              </a:lnSpc>
              <a:spcBef>
                <a:spcPts val="0"/>
              </a:spcBef>
              <a:spcAft>
                <a:spcPts val="2080"/>
              </a:spcAft>
            </a:pPr>
            <a:r>
              <a:rPr sz="3348" b="1">
                <a:solidFill>
                  <a:srgbClr val="3B82F6"/>
                </a:solidFill>
                <a:latin typeface="Roboto"/>
              </a:rPr>
              <a:t>in C++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262" y="4248150"/>
            <a:ext cx="1219169" cy="5715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3B82F6"/>
              </a:gs>
              <a:gs pos="100000">
                <a:srgbClr val="000000">
                  <a:alpha val="0"/>
                </a:srgbClr>
              </a:gs>
            </a:gsLst>
            <a:lin ang="108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838479" y="4610099"/>
            <a:ext cx="4514737" cy="3714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2535"/>
              </a:lnSpc>
              <a:spcBef>
                <a:spcPts val="0"/>
              </a:spcBef>
              <a:spcAft>
                <a:spcPts val="0"/>
              </a:spcAft>
            </a:pPr>
            <a:r>
              <a:rPr sz="1435" b="0">
                <a:solidFill>
                  <a:srgbClr val="CBD5E1"/>
                </a:solidFill>
                <a:latin typeface="Roboto"/>
              </a:rPr>
              <a:t>Clean, Efficient Iteration Introduced in C++11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62340" y="5429250"/>
            <a:ext cx="971525" cy="514350"/>
          </a:xfrm>
          <a:prstGeom prst="roundRect">
            <a:avLst>
              <a:gd name="adj" fmla="val 29629"/>
            </a:avLst>
          </a:prstGeom>
          <a:solidFill>
            <a:srgbClr val="1E293B">
              <a:alpha val="50000"/>
            </a:srgbClr>
          </a:solidFill>
          <a:ln w="825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600459" y="5581649"/>
            <a:ext cx="495287" cy="2000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076" b="1">
                <a:solidFill>
                  <a:srgbClr val="60A5FA"/>
                </a:solidFill>
                <a:latin typeface="Roboto"/>
              </a:rPr>
              <a:t>C++11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262" y="5429250"/>
            <a:ext cx="1409664" cy="514350"/>
          </a:xfrm>
          <a:prstGeom prst="roundRect">
            <a:avLst>
              <a:gd name="adj" fmla="val 29629"/>
            </a:avLst>
          </a:prstGeom>
          <a:solidFill>
            <a:srgbClr val="1E293B">
              <a:alpha val="50000"/>
            </a:srgbClr>
          </a:solidFill>
          <a:ln w="825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724381" y="5581649"/>
            <a:ext cx="933426" cy="2000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076" b="1">
                <a:solidFill>
                  <a:srgbClr val="FBBF24"/>
                </a:solidFill>
                <a:latin typeface="Roboto"/>
              </a:rPr>
              <a:t>Modern C++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048323" y="5429250"/>
            <a:ext cx="781030" cy="514350"/>
          </a:xfrm>
          <a:prstGeom prst="roundRect">
            <a:avLst>
              <a:gd name="adj" fmla="val 29629"/>
            </a:avLst>
          </a:prstGeom>
          <a:solidFill>
            <a:srgbClr val="1E293B">
              <a:alpha val="50000"/>
            </a:srgbClr>
          </a:solidFill>
          <a:ln w="825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286442" y="5581649"/>
            <a:ext cx="304792" cy="2000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076" b="1">
                <a:solidFill>
                  <a:srgbClr val="34D399"/>
                </a:solidFill>
                <a:latin typeface="Roboto"/>
              </a:rPr>
              <a:t>STL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781799"/>
            <a:ext cx="12191695" cy="76200"/>
          </a:xfrm>
          <a:prstGeom prst="rect">
            <a:avLst/>
          </a:prstGeom>
          <a:gradFill rotWithShape="1">
            <a:gsLst>
              <a:gs pos="0">
                <a:srgbClr val="3B82F6"/>
              </a:gs>
              <a:gs pos="50000">
                <a:srgbClr val="F59E0B"/>
              </a:gs>
              <a:gs pos="100000">
                <a:srgbClr val="3B82F6"/>
              </a:gs>
            </a:gsLst>
            <a:lin ang="108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F172A"/>
            </a:gs>
            <a:gs pos="50000">
              <a:srgbClr val="1E293B"/>
            </a:gs>
            <a:gs pos="100000">
              <a:srgbClr val="0F172A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66733" y="114300"/>
            <a:ext cx="5762480" cy="5715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  <a:spcAft>
                <a:spcPts val="0"/>
              </a:spcAft>
            </a:pPr>
            <a:r>
              <a:rPr sz="2392" b="1">
                <a:solidFill>
                  <a:srgbClr val="FFFFFF"/>
                </a:solidFill>
                <a:latin typeface="Roboto"/>
              </a:rPr>
              <a:t>What Are Range-Based For Loops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666733" y="1553935"/>
            <a:ext cx="285742" cy="24492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66773" y="1390650"/>
            <a:ext cx="1790655" cy="3048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435" b="1">
                <a:solidFill>
                  <a:srgbClr val="FFFFFF"/>
                </a:solidFill>
                <a:latin typeface="Roboto"/>
              </a:rPr>
              <a:t>C++11 Feature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6773" y="1695449"/>
            <a:ext cx="1790655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076" b="0">
                <a:solidFill>
                  <a:srgbClr val="94A3B8"/>
                </a:solidFill>
                <a:latin typeface="Roboto"/>
              </a:rPr>
              <a:t>Cleaner iteration syntax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6733" y="2343150"/>
            <a:ext cx="4629034" cy="838200"/>
          </a:xfrm>
          <a:prstGeom prst="roundRect">
            <a:avLst>
              <a:gd name="adj" fmla="val 18181"/>
            </a:avLst>
          </a:prstGeom>
          <a:solidFill>
            <a:srgbClr val="1E293B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 Same Side Corner Rectangle 6"/>
          <p:cNvSpPr/>
          <p:nvPr/>
        </p:nvSpPr>
        <p:spPr>
          <a:xfrm rot="16200000">
            <a:off x="313673" y="2696210"/>
            <a:ext cx="838200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7228" y="2604135"/>
            <a:ext cx="228594" cy="12572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200119" y="2495550"/>
            <a:ext cx="2771705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260"/>
              </a:spcAft>
            </a:pPr>
            <a:r>
              <a:rPr sz="1076" b="1">
                <a:solidFill>
                  <a:srgbClr val="FFFFFF"/>
                </a:solidFill>
                <a:latin typeface="Roboto"/>
              </a:rPr>
              <a:t>Less Boilerplate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19" y="2800350"/>
            <a:ext cx="2771705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CBD5E1"/>
                </a:solidFill>
                <a:latin typeface="Roboto"/>
              </a:rPr>
              <a:t>No manual index or iterator management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6733" y="3295650"/>
            <a:ext cx="4629034" cy="838200"/>
          </a:xfrm>
          <a:prstGeom prst="roundRect">
            <a:avLst>
              <a:gd name="adj" fmla="val 18181"/>
            </a:avLst>
          </a:prstGeom>
          <a:solidFill>
            <a:srgbClr val="1E293B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 Same Side Corner Rectangle 11"/>
          <p:cNvSpPr/>
          <p:nvPr/>
        </p:nvSpPr>
        <p:spPr>
          <a:xfrm rot="16200000">
            <a:off x="313673" y="3648710"/>
            <a:ext cx="838200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57228" y="3516630"/>
            <a:ext cx="228594" cy="20573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200119" y="3448049"/>
            <a:ext cx="2886002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260"/>
              </a:spcAft>
            </a:pPr>
            <a:r>
              <a:rPr sz="1076" b="1">
                <a:solidFill>
                  <a:srgbClr val="FFFFFF"/>
                </a:solidFill>
                <a:latin typeface="Roboto"/>
              </a:rPr>
              <a:t>Less Error-Prone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00119" y="3752849"/>
            <a:ext cx="2886002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CBD5E1"/>
                </a:solidFill>
                <a:latin typeface="Roboto"/>
              </a:rPr>
              <a:t>Eliminates off-by-one and other loop errors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6733" y="4248150"/>
            <a:ext cx="4629034" cy="838200"/>
          </a:xfrm>
          <a:prstGeom prst="roundRect">
            <a:avLst>
              <a:gd name="adj" fmla="val 18181"/>
            </a:avLst>
          </a:prstGeom>
          <a:solidFill>
            <a:srgbClr val="1E293B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 Same Side Corner Rectangle 16"/>
          <p:cNvSpPr/>
          <p:nvPr/>
        </p:nvSpPr>
        <p:spPr>
          <a:xfrm rot="16200000">
            <a:off x="313673" y="4601210"/>
            <a:ext cx="838200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57228" y="4470558"/>
            <a:ext cx="228594" cy="20288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200119" y="4400550"/>
            <a:ext cx="2705032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260"/>
              </a:spcAft>
            </a:pPr>
            <a:r>
              <a:rPr sz="1076" b="1">
                <a:solidFill>
                  <a:srgbClr val="FFFFFF"/>
                </a:solidFill>
                <a:latin typeface="Roboto"/>
              </a:rPr>
              <a:t>More Readable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0119" y="4705350"/>
            <a:ext cx="2705032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CBD5E1"/>
                </a:solidFill>
                <a:latin typeface="Roboto"/>
              </a:rPr>
              <a:t>Clear intent: iterate over entire container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6733" y="5200650"/>
            <a:ext cx="4629034" cy="838200"/>
          </a:xfrm>
          <a:prstGeom prst="roundRect">
            <a:avLst>
              <a:gd name="adj" fmla="val 18181"/>
            </a:avLst>
          </a:prstGeom>
          <a:solidFill>
            <a:srgbClr val="1E293B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 Same Side Corner Rectangle 21"/>
          <p:cNvSpPr/>
          <p:nvPr/>
        </p:nvSpPr>
        <p:spPr>
          <a:xfrm rot="16200000">
            <a:off x="313673" y="5553710"/>
            <a:ext cx="838200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857228" y="5421630"/>
            <a:ext cx="228594" cy="205739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200119" y="5353049"/>
            <a:ext cx="2952676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260"/>
              </a:spcAft>
            </a:pPr>
            <a:r>
              <a:rPr sz="1076" b="1">
                <a:solidFill>
                  <a:srgbClr val="FFFFFF"/>
                </a:solidFill>
                <a:latin typeface="Roboto"/>
              </a:rPr>
              <a:t>Generic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00119" y="5657850"/>
            <a:ext cx="2952676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CBD5E1"/>
                </a:solidFill>
                <a:latin typeface="Roboto"/>
              </a:rPr>
              <a:t>Works with any type providing begin()/end()</a:t>
            </a:r>
          </a:p>
        </p:txBody>
      </p:sp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5676758" y="1452842"/>
            <a:ext cx="190495" cy="123264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943451" y="1381124"/>
            <a:ext cx="1543011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076" b="1">
                <a:solidFill>
                  <a:srgbClr val="FFFFFF"/>
                </a:solidFill>
                <a:latin typeface="Roboto"/>
              </a:rPr>
              <a:t>Traditional For Loop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76758" y="1762125"/>
            <a:ext cx="5848203" cy="1438274"/>
          </a:xfrm>
          <a:prstGeom prst="roundRect">
            <a:avLst>
              <a:gd name="adj" fmla="val 10596"/>
            </a:avLst>
          </a:prstGeom>
          <a:solidFill>
            <a:srgbClr val="1E293B">
              <a:alpha val="60000"/>
            </a:srgbClr>
          </a:solidFill>
          <a:ln w="825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838679" y="1924049"/>
            <a:ext cx="5524361" cy="2762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85"/>
              </a:lnSpc>
              <a:spcBef>
                <a:spcPts val="0"/>
              </a:spcBef>
              <a:spcAft>
                <a:spcPts val="0"/>
              </a:spcAft>
            </a:pPr>
            <a:r>
              <a:rPr sz="1076" b="0">
                <a:solidFill>
                  <a:srgbClr val="F472B6"/>
                </a:solidFill>
                <a:latin typeface="Roboto Mono"/>
              </a:rPr>
              <a:t>for</a:t>
            </a:r>
            <a:r>
              <a:rPr sz="1076" b="0">
                <a:solidFill>
                  <a:srgbClr val="E2E8F0"/>
                </a:solidFill>
                <a:latin typeface="Roboto Mono"/>
              </a:rPr>
              <a:t> (</a:t>
            </a:r>
            <a:r>
              <a:rPr sz="1076" b="0">
                <a:solidFill>
                  <a:srgbClr val="F472B6"/>
                </a:solidFill>
                <a:latin typeface="Roboto Mono"/>
              </a:rPr>
              <a:t>auto</a:t>
            </a:r>
            <a:r>
              <a:rPr sz="1076" b="0">
                <a:solidFill>
                  <a:srgbClr val="E2E8F0"/>
                </a:solidFill>
                <a:latin typeface="Roboto Mono"/>
              </a:rPr>
              <a:t> it = vec.</a:t>
            </a:r>
            <a:r>
              <a:rPr sz="1076" b="0">
                <a:solidFill>
                  <a:srgbClr val="FDE047"/>
                </a:solidFill>
                <a:latin typeface="Roboto Mono"/>
              </a:rPr>
              <a:t>begin</a:t>
            </a:r>
            <a:r>
              <a:rPr sz="1076" b="0">
                <a:solidFill>
                  <a:srgbClr val="E2E8F0"/>
                </a:solidFill>
                <a:latin typeface="Roboto Mono"/>
              </a:rPr>
              <a:t>(); it != vec.</a:t>
            </a:r>
            <a:r>
              <a:rPr sz="1076" b="0">
                <a:solidFill>
                  <a:srgbClr val="FDE047"/>
                </a:solidFill>
                <a:latin typeface="Roboto Mono"/>
              </a:rPr>
              <a:t>end</a:t>
            </a:r>
            <a:r>
              <a:rPr sz="1076" b="0">
                <a:solidFill>
                  <a:srgbClr val="E2E8F0"/>
                </a:solidFill>
                <a:latin typeface="Roboto Mono"/>
              </a:rPr>
              <a:t>(); ++it) {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38679" y="2200275"/>
            <a:ext cx="5524361" cy="2762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85"/>
              </a:lnSpc>
              <a:spcBef>
                <a:spcPts val="0"/>
              </a:spcBef>
              <a:spcAft>
                <a:spcPts val="0"/>
              </a:spcAft>
            </a:pPr>
            <a:r>
              <a:rPr sz="1076" b="0">
                <a:solidFill>
                  <a:srgbClr val="F472B6"/>
                </a:solidFill>
                <a:latin typeface="Roboto Mono"/>
              </a:rPr>
              <a:t>auto</a:t>
            </a:r>
            <a:r>
              <a:rPr sz="1076" b="0">
                <a:solidFill>
                  <a:srgbClr val="E2E8F0"/>
                </a:solidFill>
                <a:latin typeface="Roboto Mono"/>
              </a:rPr>
              <a:t>&amp; elem = *it;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67273" y="2505074"/>
            <a:ext cx="1847803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85"/>
              </a:lnSpc>
              <a:spcBef>
                <a:spcPts val="0"/>
              </a:spcBef>
              <a:spcAft>
                <a:spcPts val="0"/>
              </a:spcAft>
            </a:pPr>
            <a:r>
              <a:rPr sz="1076" b="0">
                <a:solidFill>
                  <a:srgbClr val="94A3B8"/>
                </a:solidFill>
                <a:latin typeface="Roboto Mono"/>
              </a:rPr>
              <a:t>// process element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38679" y="2762249"/>
            <a:ext cx="5524361" cy="2762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85"/>
              </a:lnSpc>
              <a:spcBef>
                <a:spcPts val="0"/>
              </a:spcBef>
              <a:spcAft>
                <a:spcPts val="0"/>
              </a:spcAft>
            </a:pPr>
            <a:r>
              <a:rPr sz="1076" b="0">
                <a:solidFill>
                  <a:srgbClr val="E2E8F0"/>
                </a:solidFill>
                <a:latin typeface="Roboto Mono"/>
              </a:rPr>
              <a:t>}</a:t>
            </a:r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5676758" y="3481107"/>
            <a:ext cx="190495" cy="162485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5943451" y="3429000"/>
            <a:ext cx="1752556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076" b="1">
                <a:solidFill>
                  <a:srgbClr val="FFFFFF"/>
                </a:solidFill>
                <a:latin typeface="Roboto"/>
              </a:rPr>
              <a:t>Range-Based For Loop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676758" y="3809999"/>
            <a:ext cx="5848203" cy="1162050"/>
          </a:xfrm>
          <a:prstGeom prst="roundRect">
            <a:avLst>
              <a:gd name="adj" fmla="val 13114"/>
            </a:avLst>
          </a:prstGeom>
          <a:solidFill>
            <a:srgbClr val="1E293B">
              <a:alpha val="60000"/>
            </a:srgbClr>
          </a:solidFill>
          <a:ln w="825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838679" y="3971925"/>
            <a:ext cx="5524361" cy="2762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85"/>
              </a:lnSpc>
              <a:spcBef>
                <a:spcPts val="0"/>
              </a:spcBef>
              <a:spcAft>
                <a:spcPts val="0"/>
              </a:spcAft>
            </a:pPr>
            <a:r>
              <a:rPr sz="1076" b="0">
                <a:solidFill>
                  <a:srgbClr val="F472B6"/>
                </a:solidFill>
                <a:latin typeface="Roboto Mono"/>
              </a:rPr>
              <a:t>for</a:t>
            </a:r>
            <a:r>
              <a:rPr sz="1076" b="0">
                <a:solidFill>
                  <a:srgbClr val="E2E8F0"/>
                </a:solidFill>
                <a:latin typeface="Roboto Mono"/>
              </a:rPr>
              <a:t> (</a:t>
            </a:r>
            <a:r>
              <a:rPr sz="1076" b="0">
                <a:solidFill>
                  <a:srgbClr val="F472B6"/>
                </a:solidFill>
                <a:latin typeface="Roboto Mono"/>
              </a:rPr>
              <a:t>auto</a:t>
            </a:r>
            <a:r>
              <a:rPr sz="1076" b="0">
                <a:solidFill>
                  <a:srgbClr val="E2E8F0"/>
                </a:solidFill>
                <a:latin typeface="Roboto Mono"/>
              </a:rPr>
              <a:t>&amp; elem : vec) {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67273" y="4267199"/>
            <a:ext cx="1847803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85"/>
              </a:lnSpc>
              <a:spcBef>
                <a:spcPts val="0"/>
              </a:spcBef>
              <a:spcAft>
                <a:spcPts val="0"/>
              </a:spcAft>
            </a:pPr>
            <a:r>
              <a:rPr sz="1076" b="0">
                <a:solidFill>
                  <a:srgbClr val="94A3B8"/>
                </a:solidFill>
                <a:latin typeface="Roboto Mono"/>
              </a:rPr>
              <a:t>// process element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38679" y="4533900"/>
            <a:ext cx="5524361" cy="2762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85"/>
              </a:lnSpc>
              <a:spcBef>
                <a:spcPts val="0"/>
              </a:spcBef>
              <a:spcAft>
                <a:spcPts val="0"/>
              </a:spcAft>
            </a:pPr>
            <a:r>
              <a:rPr sz="1076" b="0">
                <a:solidFill>
                  <a:srgbClr val="E2E8F0"/>
                </a:solidFill>
                <a:latin typeface="Roboto Mono"/>
              </a:rPr>
              <a:t>}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676758" y="5200650"/>
            <a:ext cx="5848203" cy="1085850"/>
          </a:xfrm>
          <a:prstGeom prst="roundRect">
            <a:avLst>
              <a:gd name="adj" fmla="val 14035"/>
            </a:avLst>
          </a:prstGeom>
          <a:gradFill rotWithShape="1">
            <a:gsLst>
              <a:gs pos="0">
                <a:srgbClr val="3B82F6">
                  <a:alpha val="10000"/>
                </a:srgbClr>
              </a:gs>
              <a:gs pos="100000">
                <a:srgbClr val="F59E0B">
                  <a:alpha val="10000"/>
                </a:srgbClr>
              </a:gs>
            </a:gsLst>
            <a:lin ang="10800000" scaled="0"/>
          </a:gradFill>
          <a:ln w="8255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5838679" y="5409247"/>
            <a:ext cx="228594" cy="211454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6181570" y="5362575"/>
            <a:ext cx="5181470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260"/>
              </a:spcAft>
            </a:pPr>
            <a:r>
              <a:rPr sz="1076" b="1">
                <a:solidFill>
                  <a:srgbClr val="FFFFFF"/>
                </a:solidFill>
                <a:latin typeface="Roboto"/>
              </a:rPr>
              <a:t>Key Difference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181570" y="5667374"/>
            <a:ext cx="5181470" cy="45720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CBD5E1"/>
                </a:solidFill>
                <a:latin typeface="Roboto"/>
              </a:rPr>
              <a:t>Range-based loops automatically handle iterator lifecycle, bounds checking, and element access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781799"/>
            <a:ext cx="12191695" cy="76200"/>
          </a:xfrm>
          <a:prstGeom prst="rect">
            <a:avLst/>
          </a:prstGeom>
          <a:gradFill rotWithShape="1">
            <a:gsLst>
              <a:gs pos="0">
                <a:srgbClr val="3B82F6"/>
              </a:gs>
              <a:gs pos="50000">
                <a:srgbClr val="F59E0B"/>
              </a:gs>
              <a:gs pos="100000">
                <a:srgbClr val="3B82F6"/>
              </a:gs>
            </a:gsLst>
            <a:lin ang="108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F172A"/>
            </a:gs>
            <a:gs pos="50000">
              <a:srgbClr val="1E293B"/>
            </a:gs>
            <a:gs pos="100000">
              <a:srgbClr val="0F172A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66733" y="114300"/>
            <a:ext cx="2200219" cy="5715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  <a:spcAft>
                <a:spcPts val="0"/>
              </a:spcAft>
            </a:pPr>
            <a:r>
              <a:rPr sz="2392" b="1">
                <a:solidFill>
                  <a:srgbClr val="FFFFFF"/>
                </a:solidFill>
                <a:latin typeface="Roboto"/>
              </a:rPr>
              <a:t>Basic Syntax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666733" y="1692922"/>
            <a:ext cx="285742" cy="15745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66773" y="1619250"/>
            <a:ext cx="704832" cy="3048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435" b="1">
                <a:solidFill>
                  <a:srgbClr val="FFFFFF"/>
                </a:solidFill>
                <a:latin typeface="Roboto"/>
              </a:rPr>
              <a:t>Syntax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6733" y="2095499"/>
            <a:ext cx="4629034" cy="1924049"/>
          </a:xfrm>
          <a:prstGeom prst="roundRect">
            <a:avLst>
              <a:gd name="adj" fmla="val 7920"/>
            </a:avLst>
          </a:prstGeom>
          <a:solidFill>
            <a:srgbClr val="1E293B">
              <a:alpha val="60000"/>
            </a:srgbClr>
          </a:solidFill>
          <a:ln w="825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6753" y="2295525"/>
            <a:ext cx="4228994" cy="809625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2730"/>
              </a:lnSpc>
              <a:spcBef>
                <a:spcPts val="0"/>
              </a:spcBef>
              <a:spcAft>
                <a:spcPts val="0"/>
              </a:spcAft>
            </a:pPr>
            <a:r>
              <a:rPr sz="1554" b="0">
                <a:solidFill>
                  <a:srgbClr val="E2E8F0"/>
                </a:solidFill>
                <a:latin typeface="Roboto Mono"/>
              </a:rPr>
              <a:t> </a:t>
            </a:r>
            <a:r>
              <a:rPr sz="1554" b="0">
                <a:solidFill>
                  <a:srgbClr val="F472B6"/>
                </a:solidFill>
                <a:latin typeface="Roboto Mono"/>
              </a:rPr>
              <a:t>for</a:t>
            </a:r>
            <a:r>
              <a:rPr sz="1554" b="0">
                <a:solidFill>
                  <a:srgbClr val="E2E8F0"/>
                </a:solidFill>
                <a:latin typeface="Roboto Mono"/>
              </a:rPr>
              <a:t> (</a:t>
            </a:r>
            <a:r>
              <a:rPr sz="1554" b="0">
                <a:solidFill>
                  <a:srgbClr val="60A5FA"/>
                </a:solidFill>
                <a:latin typeface="Roboto Mono"/>
              </a:rPr>
              <a:t>range_declaration</a:t>
            </a:r>
            <a:r>
              <a:rPr sz="1554" b="0">
                <a:solidFill>
                  <a:srgbClr val="E2E8F0"/>
                </a:solidFill>
                <a:latin typeface="Roboto Mono"/>
              </a:rPr>
              <a:t> : </a:t>
            </a:r>
            <a:r>
              <a:rPr sz="1554" b="0">
                <a:solidFill>
                  <a:srgbClr val="FBBF24"/>
                </a:solidFill>
                <a:latin typeface="Roboto Mono"/>
              </a:rPr>
              <a:t>range_expression</a:t>
            </a:r>
            <a:r>
              <a:rPr sz="1554" b="0">
                <a:solidFill>
                  <a:srgbClr val="E2E8F0"/>
                </a:solidFill>
                <a:latin typeface="Roboto Mono"/>
              </a:rPr>
              <a:t>) {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1545" y="3114675"/>
            <a:ext cx="1647783" cy="3048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</a:pPr>
            <a:r>
              <a:rPr sz="1435" b="0">
                <a:solidFill>
                  <a:srgbClr val="94A3B8"/>
                </a:solidFill>
                <a:latin typeface="Roboto Mono"/>
              </a:rPr>
              <a:t>// loop body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6753" y="3438525"/>
            <a:ext cx="4228994" cy="37147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535"/>
              </a:lnSpc>
              <a:spcBef>
                <a:spcPts val="0"/>
              </a:spcBef>
              <a:spcAft>
                <a:spcPts val="0"/>
              </a:spcAft>
            </a:pPr>
            <a:r>
              <a:rPr sz="1554" b="0">
                <a:solidFill>
                  <a:srgbClr val="E2E8F0"/>
                </a:solidFill>
                <a:latin typeface="Roboto Mono"/>
              </a:rPr>
              <a:t>}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6733" y="4238624"/>
            <a:ext cx="4629034" cy="838200"/>
          </a:xfrm>
          <a:prstGeom prst="roundRect">
            <a:avLst>
              <a:gd name="adj" fmla="val 18181"/>
            </a:avLst>
          </a:prstGeom>
          <a:solidFill>
            <a:srgbClr val="1E293B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 Same Side Corner Rectangle 9"/>
          <p:cNvSpPr/>
          <p:nvPr/>
        </p:nvSpPr>
        <p:spPr>
          <a:xfrm rot="16200000">
            <a:off x="313673" y="4591684"/>
            <a:ext cx="838200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7228" y="4473892"/>
            <a:ext cx="228594" cy="17716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200119" y="4391025"/>
            <a:ext cx="2390715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260"/>
              </a:spcAft>
            </a:pPr>
            <a:r>
              <a:rPr sz="1076" b="1">
                <a:solidFill>
                  <a:srgbClr val="FFFFFF"/>
                </a:solidFill>
                <a:latin typeface="Roboto"/>
              </a:rPr>
              <a:t>range_declaration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0119" y="4695824"/>
            <a:ext cx="2390715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CBD5E1"/>
                </a:solidFill>
                <a:latin typeface="Roboto"/>
              </a:rPr>
              <a:t>Variable representing each element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6733" y="5229225"/>
            <a:ext cx="4629034" cy="838200"/>
          </a:xfrm>
          <a:prstGeom prst="roundRect">
            <a:avLst>
              <a:gd name="adj" fmla="val 18181"/>
            </a:avLst>
          </a:prstGeom>
          <a:solidFill>
            <a:srgbClr val="1E293B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 Same Side Corner Rectangle 14"/>
          <p:cNvSpPr/>
          <p:nvPr/>
        </p:nvSpPr>
        <p:spPr>
          <a:xfrm rot="16200000">
            <a:off x="313673" y="5582285"/>
            <a:ext cx="838200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57228" y="5464492"/>
            <a:ext cx="228594" cy="17716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200119" y="5381624"/>
            <a:ext cx="2219269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260"/>
              </a:spcAft>
            </a:pPr>
            <a:r>
              <a:rPr sz="1076" b="1">
                <a:solidFill>
                  <a:srgbClr val="FFFFFF"/>
                </a:solidFill>
                <a:latin typeface="Roboto"/>
              </a:rPr>
              <a:t>range_expression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0119" y="5686425"/>
            <a:ext cx="2219269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CBD5E1"/>
                </a:solidFill>
                <a:latin typeface="Roboto"/>
              </a:rPr>
              <a:t>Container or range to iterate over</a:t>
            </a:r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676758" y="1595157"/>
            <a:ext cx="190495" cy="162485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943451" y="1543050"/>
            <a:ext cx="1371565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196" b="1">
                <a:solidFill>
                  <a:srgbClr val="FFFFFF"/>
                </a:solidFill>
                <a:latin typeface="Roboto"/>
              </a:rPr>
              <a:t>Simple Example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76758" y="1924049"/>
            <a:ext cx="5848203" cy="2181225"/>
          </a:xfrm>
          <a:prstGeom prst="roundRect">
            <a:avLst>
              <a:gd name="adj" fmla="val 6986"/>
            </a:avLst>
          </a:prstGeom>
          <a:solidFill>
            <a:srgbClr val="1E293B">
              <a:alpha val="60000"/>
            </a:srgbClr>
          </a:solidFill>
          <a:ln w="825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876778" y="2124075"/>
            <a:ext cx="5448163" cy="3143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196" b="0">
                <a:solidFill>
                  <a:srgbClr val="F472B6"/>
                </a:solidFill>
                <a:latin typeface="Roboto Mono"/>
              </a:rPr>
              <a:t>std::vector</a:t>
            </a:r>
            <a:r>
              <a:rPr sz="1196" b="0">
                <a:solidFill>
                  <a:srgbClr val="E2E8F0"/>
                </a:solidFill>
                <a:latin typeface="Roboto Mono"/>
              </a:rPr>
              <a:t>&lt;</a:t>
            </a:r>
            <a:r>
              <a:rPr sz="1196" b="0">
                <a:solidFill>
                  <a:srgbClr val="60A5FA"/>
                </a:solidFill>
                <a:latin typeface="Roboto Mono"/>
              </a:rPr>
              <a:t>int</a:t>
            </a:r>
            <a:r>
              <a:rPr sz="1196" b="0">
                <a:solidFill>
                  <a:srgbClr val="E2E8F0"/>
                </a:solidFill>
                <a:latin typeface="Roboto Mono"/>
              </a:rPr>
              <a:t>&gt; numbers = {</a:t>
            </a:r>
            <a:r>
              <a:rPr sz="1196" b="0">
                <a:solidFill>
                  <a:srgbClr val="FBBF24"/>
                </a:solidFill>
                <a:latin typeface="Roboto Mono"/>
              </a:rPr>
              <a:t>1, 2, 3, 4, 5</a:t>
            </a:r>
            <a:r>
              <a:rPr sz="1196" b="0">
                <a:solidFill>
                  <a:srgbClr val="E2E8F0"/>
                </a:solidFill>
                <a:latin typeface="Roboto Mono"/>
              </a:rPr>
              <a:t>};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76778" y="2552700"/>
            <a:ext cx="5448163" cy="3143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196" b="0">
                <a:solidFill>
                  <a:srgbClr val="F472B6"/>
                </a:solidFill>
                <a:latin typeface="Roboto Mono"/>
              </a:rPr>
              <a:t>for</a:t>
            </a:r>
            <a:r>
              <a:rPr sz="1196" b="0">
                <a:solidFill>
                  <a:srgbClr val="E2E8F0"/>
                </a:solidFill>
                <a:latin typeface="Roboto Mono"/>
              </a:rPr>
              <a:t> (</a:t>
            </a:r>
            <a:r>
              <a:rPr sz="1196" b="0">
                <a:solidFill>
                  <a:srgbClr val="60A5FA"/>
                </a:solidFill>
                <a:latin typeface="Roboto Mono"/>
              </a:rPr>
              <a:t>int</a:t>
            </a:r>
            <a:r>
              <a:rPr sz="1196" b="0">
                <a:solidFill>
                  <a:srgbClr val="E2E8F0"/>
                </a:solidFill>
                <a:latin typeface="Roboto Mono"/>
              </a:rPr>
              <a:t> x : numbers) {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76778" y="2857500"/>
            <a:ext cx="5448163" cy="3143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196" b="0">
                <a:solidFill>
                  <a:srgbClr val="F472B6"/>
                </a:solidFill>
                <a:latin typeface="Roboto Mono"/>
              </a:rPr>
              <a:t>std::cout</a:t>
            </a:r>
            <a:r>
              <a:rPr sz="1196" b="0">
                <a:solidFill>
                  <a:srgbClr val="E2E8F0"/>
                </a:solidFill>
                <a:latin typeface="Roboto Mono"/>
              </a:rPr>
              <a:t> &lt;&lt; x &lt;&lt; </a:t>
            </a:r>
            <a:r>
              <a:rPr sz="1196" b="0">
                <a:solidFill>
                  <a:srgbClr val="FBBF24"/>
                </a:solidFill>
                <a:latin typeface="Roboto Mono"/>
              </a:rPr>
              <a:t>' '</a:t>
            </a:r>
            <a:r>
              <a:rPr sz="1196" b="0">
                <a:solidFill>
                  <a:srgbClr val="E2E8F0"/>
                </a:solidFill>
                <a:latin typeface="Roboto Mono"/>
              </a:rPr>
              <a:t>;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76778" y="3171825"/>
            <a:ext cx="5448163" cy="3143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</a:pPr>
            <a:r>
              <a:rPr sz="1196" b="0">
                <a:solidFill>
                  <a:srgbClr val="E2E8F0"/>
                </a:solidFill>
                <a:latin typeface="Roboto Mono"/>
              </a:rPr>
              <a:t>}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76778" y="3590924"/>
            <a:ext cx="5448163" cy="3143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2080"/>
              </a:lnSpc>
              <a:spcBef>
                <a:spcPts val="780"/>
              </a:spcBef>
              <a:spcAft>
                <a:spcPts val="0"/>
              </a:spcAft>
            </a:pPr>
            <a:r>
              <a:rPr sz="1196" b="0">
                <a:solidFill>
                  <a:srgbClr val="94A3B8"/>
                </a:solidFill>
                <a:latin typeface="Roboto Mono"/>
              </a:rPr>
              <a:t>// Output: 1 2 3 4 5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76758" y="4295774"/>
            <a:ext cx="5848203" cy="533399"/>
          </a:xfrm>
          <a:prstGeom prst="roundRect">
            <a:avLst>
              <a:gd name="adj" fmla="val 28571"/>
            </a:avLst>
          </a:prstGeom>
          <a:solidFill>
            <a:srgbClr val="1E293B">
              <a:alpha val="30000"/>
            </a:srgbClr>
          </a:solidFill>
          <a:ln w="825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800579" y="4490757"/>
            <a:ext cx="190495" cy="162485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105372" y="4419600"/>
            <a:ext cx="2362140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076" b="0">
                <a:solidFill>
                  <a:srgbClr val="CBD5E1"/>
                </a:solidFill>
                <a:latin typeface="Roboto"/>
              </a:rPr>
              <a:t>Automatically handles iteration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76758" y="4943475"/>
            <a:ext cx="5848203" cy="533399"/>
          </a:xfrm>
          <a:prstGeom prst="roundRect">
            <a:avLst>
              <a:gd name="adj" fmla="val 28571"/>
            </a:avLst>
          </a:prstGeom>
          <a:solidFill>
            <a:srgbClr val="1E293B">
              <a:alpha val="30000"/>
            </a:srgbClr>
          </a:solidFill>
          <a:ln w="825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5800579" y="5138457"/>
            <a:ext cx="190495" cy="162485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105372" y="5067299"/>
            <a:ext cx="2638359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076" b="0">
                <a:solidFill>
                  <a:srgbClr val="CBD5E1"/>
                </a:solidFill>
                <a:latin typeface="Roboto"/>
              </a:rPr>
              <a:t>Works with any standard container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676758" y="5591175"/>
            <a:ext cx="5848203" cy="533399"/>
          </a:xfrm>
          <a:prstGeom prst="roundRect">
            <a:avLst>
              <a:gd name="adj" fmla="val 28571"/>
            </a:avLst>
          </a:prstGeom>
          <a:solidFill>
            <a:srgbClr val="1E293B">
              <a:alpha val="30000"/>
            </a:srgbClr>
          </a:solidFill>
          <a:ln w="825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4" name="Picture 33" descr="image.png"/>
          <p:cNvPicPr>
            <a:picLocks noChangeAspect="1"/>
          </p:cNvPicPr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800579" y="5786157"/>
            <a:ext cx="190495" cy="162485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6105372" y="5715000"/>
            <a:ext cx="2152596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076" b="0">
                <a:solidFill>
                  <a:srgbClr val="CBD5E1"/>
                </a:solidFill>
                <a:latin typeface="Roboto"/>
              </a:rPr>
              <a:t>Clean and expressive syntax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781799"/>
            <a:ext cx="12191695" cy="76200"/>
          </a:xfrm>
          <a:prstGeom prst="rect">
            <a:avLst/>
          </a:prstGeom>
          <a:gradFill rotWithShape="1">
            <a:gsLst>
              <a:gs pos="0">
                <a:srgbClr val="3B82F6"/>
              </a:gs>
              <a:gs pos="50000">
                <a:srgbClr val="F59E0B"/>
              </a:gs>
              <a:gs pos="100000">
                <a:srgbClr val="3B82F6"/>
              </a:gs>
            </a:gsLst>
            <a:lin ang="108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F172A"/>
            </a:gs>
            <a:gs pos="50000">
              <a:srgbClr val="1E293B"/>
            </a:gs>
            <a:gs pos="100000">
              <a:srgbClr val="0F172A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66733" y="114300"/>
            <a:ext cx="5943451" cy="5715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  <a:spcAft>
                <a:spcPts val="0"/>
              </a:spcAft>
            </a:pPr>
            <a:r>
              <a:rPr sz="2392" b="1">
                <a:solidFill>
                  <a:srgbClr val="FFFFFF"/>
                </a:solidFill>
                <a:latin typeface="Roboto"/>
              </a:rPr>
              <a:t>Iterating Over Standard Containers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666733" y="1890712"/>
            <a:ext cx="228594" cy="14287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71525" y="1828800"/>
            <a:ext cx="914377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196" b="1">
                <a:solidFill>
                  <a:srgbClr val="FFFFFF"/>
                </a:solidFill>
                <a:latin typeface="Roboto"/>
              </a:rPr>
              <a:t>std::vector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6733" y="2228850"/>
            <a:ext cx="5238619" cy="1514475"/>
          </a:xfrm>
          <a:prstGeom prst="roundRect">
            <a:avLst>
              <a:gd name="adj" fmla="val 10062"/>
            </a:avLst>
          </a:prstGeom>
          <a:solidFill>
            <a:srgbClr val="1E293B">
              <a:alpha val="60000"/>
            </a:srgbClr>
          </a:solidFill>
          <a:ln w="825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8654" y="2381250"/>
            <a:ext cx="4914777" cy="2762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85"/>
              </a:lnSpc>
              <a:spcBef>
                <a:spcPts val="0"/>
              </a:spcBef>
              <a:spcAft>
                <a:spcPts val="0"/>
              </a:spcAft>
            </a:pPr>
            <a:r>
              <a:rPr sz="1076" b="0">
                <a:solidFill>
                  <a:srgbClr val="F472B6"/>
                </a:solidFill>
                <a:latin typeface="Roboto Mono"/>
              </a:rPr>
              <a:t>std::vector</a:t>
            </a:r>
            <a:r>
              <a:rPr sz="1076" b="0">
                <a:solidFill>
                  <a:srgbClr val="E2E8F0"/>
                </a:solidFill>
                <a:latin typeface="Roboto Mono"/>
              </a:rPr>
              <a:t>&lt;</a:t>
            </a:r>
            <a:r>
              <a:rPr sz="1076" b="0">
                <a:solidFill>
                  <a:srgbClr val="60A5FA"/>
                </a:solidFill>
                <a:latin typeface="Roboto Mono"/>
              </a:rPr>
              <a:t>int</a:t>
            </a:r>
            <a:r>
              <a:rPr sz="1076" b="0">
                <a:solidFill>
                  <a:srgbClr val="E2E8F0"/>
                </a:solidFill>
                <a:latin typeface="Roboto Mono"/>
              </a:rPr>
              <a:t>&gt; vec = {</a:t>
            </a:r>
            <a:r>
              <a:rPr sz="1076" b="0">
                <a:solidFill>
                  <a:srgbClr val="FBBF24"/>
                </a:solidFill>
                <a:latin typeface="Roboto Mono"/>
              </a:rPr>
              <a:t>1, 2, 3, 4, 5</a:t>
            </a:r>
            <a:r>
              <a:rPr sz="1076" b="0">
                <a:solidFill>
                  <a:srgbClr val="E2E8F0"/>
                </a:solidFill>
                <a:latin typeface="Roboto Mono"/>
              </a:rPr>
              <a:t>};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8654" y="2743200"/>
            <a:ext cx="4914777" cy="2762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85"/>
              </a:lnSpc>
              <a:spcBef>
                <a:spcPts val="520"/>
              </a:spcBef>
              <a:spcAft>
                <a:spcPts val="0"/>
              </a:spcAft>
            </a:pPr>
            <a:r>
              <a:rPr sz="1076" b="0">
                <a:solidFill>
                  <a:srgbClr val="F472B6"/>
                </a:solidFill>
                <a:latin typeface="Roboto Mono"/>
              </a:rPr>
              <a:t>for</a:t>
            </a:r>
            <a:r>
              <a:rPr sz="1076" b="0">
                <a:solidFill>
                  <a:srgbClr val="E2E8F0"/>
                </a:solidFill>
                <a:latin typeface="Roboto Mono"/>
              </a:rPr>
              <a:t> (</a:t>
            </a:r>
            <a:r>
              <a:rPr sz="1076" b="0">
                <a:solidFill>
                  <a:srgbClr val="60A5FA"/>
                </a:solidFill>
                <a:latin typeface="Roboto Mono"/>
              </a:rPr>
              <a:t>int</a:t>
            </a:r>
            <a:r>
              <a:rPr sz="1076" b="0">
                <a:solidFill>
                  <a:srgbClr val="E2E8F0"/>
                </a:solidFill>
                <a:latin typeface="Roboto Mono"/>
              </a:rPr>
              <a:t> x : vec) {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8654" y="3019424"/>
            <a:ext cx="4914777" cy="2762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85"/>
              </a:lnSpc>
              <a:spcBef>
                <a:spcPts val="0"/>
              </a:spcBef>
              <a:spcAft>
                <a:spcPts val="0"/>
              </a:spcAft>
            </a:pPr>
            <a:r>
              <a:rPr sz="1076" b="0">
                <a:solidFill>
                  <a:srgbClr val="F472B6"/>
                </a:solidFill>
                <a:latin typeface="Roboto Mono"/>
              </a:rPr>
              <a:t>std::cout</a:t>
            </a:r>
            <a:r>
              <a:rPr sz="1076" b="0">
                <a:solidFill>
                  <a:srgbClr val="E2E8F0"/>
                </a:solidFill>
                <a:latin typeface="Roboto Mono"/>
              </a:rPr>
              <a:t> &lt;&lt; x &lt;&lt; </a:t>
            </a:r>
            <a:r>
              <a:rPr sz="1076" b="0">
                <a:solidFill>
                  <a:srgbClr val="FBBF24"/>
                </a:solidFill>
                <a:latin typeface="Roboto Mono"/>
              </a:rPr>
              <a:t>' '</a:t>
            </a:r>
            <a:r>
              <a:rPr sz="1076" b="0">
                <a:solidFill>
                  <a:srgbClr val="E2E8F0"/>
                </a:solidFill>
                <a:latin typeface="Roboto Mono"/>
              </a:rPr>
              <a:t>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8654" y="3295650"/>
            <a:ext cx="4914777" cy="2762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85"/>
              </a:lnSpc>
              <a:spcBef>
                <a:spcPts val="0"/>
              </a:spcBef>
              <a:spcAft>
                <a:spcPts val="0"/>
              </a:spcAft>
            </a:pPr>
            <a:r>
              <a:rPr sz="1076" b="0">
                <a:solidFill>
                  <a:srgbClr val="E2E8F0"/>
                </a:solidFill>
                <a:latin typeface="Roboto Mono"/>
              </a:rPr>
              <a:t>}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66733" y="4019549"/>
            <a:ext cx="228594" cy="1143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71525" y="3943350"/>
            <a:ext cx="638159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196" b="1">
                <a:solidFill>
                  <a:srgbClr val="FFFFFF"/>
                </a:solidFill>
                <a:latin typeface="Roboto"/>
              </a:rPr>
              <a:t>std::list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6733" y="4343400"/>
            <a:ext cx="5238619" cy="1514475"/>
          </a:xfrm>
          <a:prstGeom prst="roundRect">
            <a:avLst>
              <a:gd name="adj" fmla="val 10062"/>
            </a:avLst>
          </a:prstGeom>
          <a:solidFill>
            <a:srgbClr val="1E293B">
              <a:alpha val="60000"/>
            </a:srgbClr>
          </a:solidFill>
          <a:ln w="825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8654" y="4514850"/>
            <a:ext cx="4914777" cy="2762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85"/>
              </a:lnSpc>
              <a:spcBef>
                <a:spcPts val="0"/>
              </a:spcBef>
              <a:spcAft>
                <a:spcPts val="0"/>
              </a:spcAft>
            </a:pPr>
            <a:r>
              <a:rPr sz="1076" b="0">
                <a:solidFill>
                  <a:srgbClr val="F472B6"/>
                </a:solidFill>
                <a:latin typeface="Roboto Mono"/>
              </a:rPr>
              <a:t>std::list</a:t>
            </a:r>
            <a:r>
              <a:rPr sz="1076" b="0">
                <a:solidFill>
                  <a:srgbClr val="E2E8F0"/>
                </a:solidFill>
                <a:latin typeface="Roboto Mono"/>
              </a:rPr>
              <a:t>&lt;</a:t>
            </a:r>
            <a:r>
              <a:rPr sz="1076" b="0">
                <a:solidFill>
                  <a:srgbClr val="F472B6"/>
                </a:solidFill>
                <a:latin typeface="Roboto Mono"/>
              </a:rPr>
              <a:t>std::string</a:t>
            </a:r>
            <a:r>
              <a:rPr sz="1076" b="0">
                <a:solidFill>
                  <a:srgbClr val="E2E8F0"/>
                </a:solidFill>
                <a:latin typeface="Roboto Mono"/>
              </a:rPr>
              <a:t>&gt; list = {</a:t>
            </a:r>
            <a:r>
              <a:rPr sz="1076" b="0">
                <a:solidFill>
                  <a:srgbClr val="FBBF24"/>
                </a:solidFill>
                <a:latin typeface="Roboto Mono"/>
              </a:rPr>
              <a:t>"a", "b", "c"</a:t>
            </a:r>
            <a:r>
              <a:rPr sz="1076" b="0">
                <a:solidFill>
                  <a:srgbClr val="E2E8F0"/>
                </a:solidFill>
                <a:latin typeface="Roboto Mono"/>
              </a:rPr>
              <a:t>};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8654" y="4867274"/>
            <a:ext cx="4914777" cy="2762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85"/>
              </a:lnSpc>
              <a:spcBef>
                <a:spcPts val="520"/>
              </a:spcBef>
              <a:spcAft>
                <a:spcPts val="0"/>
              </a:spcAft>
            </a:pPr>
            <a:r>
              <a:rPr sz="1076" b="0">
                <a:solidFill>
                  <a:srgbClr val="F472B6"/>
                </a:solidFill>
                <a:latin typeface="Roboto Mono"/>
              </a:rPr>
              <a:t>for</a:t>
            </a:r>
            <a:r>
              <a:rPr sz="1076" b="0">
                <a:solidFill>
                  <a:srgbClr val="E2E8F0"/>
                </a:solidFill>
                <a:latin typeface="Roboto Mono"/>
              </a:rPr>
              <a:t> (</a:t>
            </a:r>
            <a:r>
              <a:rPr sz="1076" b="0">
                <a:solidFill>
                  <a:srgbClr val="F472B6"/>
                </a:solidFill>
                <a:latin typeface="Roboto Mono"/>
              </a:rPr>
              <a:t>const</a:t>
            </a:r>
            <a:r>
              <a:rPr sz="1076" b="0">
                <a:solidFill>
                  <a:srgbClr val="E2E8F0"/>
                </a:solidFill>
                <a:latin typeface="Roboto Mono"/>
              </a:rPr>
              <a:t> </a:t>
            </a:r>
            <a:r>
              <a:rPr sz="1076" b="0">
                <a:solidFill>
                  <a:srgbClr val="F472B6"/>
                </a:solidFill>
                <a:latin typeface="Roboto Mono"/>
              </a:rPr>
              <a:t>auto</a:t>
            </a:r>
            <a:r>
              <a:rPr sz="1076" b="0">
                <a:solidFill>
                  <a:srgbClr val="E2E8F0"/>
                </a:solidFill>
                <a:latin typeface="Roboto Mono"/>
              </a:rPr>
              <a:t>&amp; s : list) {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8654" y="5143500"/>
            <a:ext cx="4914777" cy="2762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85"/>
              </a:lnSpc>
              <a:spcBef>
                <a:spcPts val="0"/>
              </a:spcBef>
              <a:spcAft>
                <a:spcPts val="0"/>
              </a:spcAft>
            </a:pPr>
            <a:r>
              <a:rPr sz="1076" b="0">
                <a:solidFill>
                  <a:srgbClr val="F472B6"/>
                </a:solidFill>
                <a:latin typeface="Roboto Mono"/>
              </a:rPr>
              <a:t>std::cout</a:t>
            </a:r>
            <a:r>
              <a:rPr sz="1076" b="0">
                <a:solidFill>
                  <a:srgbClr val="E2E8F0"/>
                </a:solidFill>
                <a:latin typeface="Roboto Mono"/>
              </a:rPr>
              <a:t> &lt;&lt; s &lt;&lt; </a:t>
            </a:r>
            <a:r>
              <a:rPr sz="1076" b="0">
                <a:solidFill>
                  <a:srgbClr val="FBBF24"/>
                </a:solidFill>
                <a:latin typeface="Roboto Mono"/>
              </a:rPr>
              <a:t>' '</a:t>
            </a:r>
            <a:r>
              <a:rPr sz="1076" b="0">
                <a:solidFill>
                  <a:srgbClr val="E2E8F0"/>
                </a:solidFill>
                <a:latin typeface="Roboto Mono"/>
              </a:rPr>
              <a:t>;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8654" y="5419725"/>
            <a:ext cx="4914777" cy="2762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85"/>
              </a:lnSpc>
              <a:spcBef>
                <a:spcPts val="0"/>
              </a:spcBef>
              <a:spcAft>
                <a:spcPts val="0"/>
              </a:spcAft>
            </a:pPr>
            <a:r>
              <a:rPr sz="1076" b="0">
                <a:solidFill>
                  <a:srgbClr val="E2E8F0"/>
                </a:solidFill>
                <a:latin typeface="Roboto Mono"/>
              </a:rPr>
              <a:t>}</a:t>
            </a:r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86342" y="1704022"/>
            <a:ext cx="228594" cy="40005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591135" y="1590675"/>
            <a:ext cx="904852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196" b="1">
                <a:solidFill>
                  <a:srgbClr val="FFFFFF"/>
                </a:solidFill>
                <a:latin typeface="Roboto"/>
              </a:rPr>
              <a:t>std::deque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86342" y="1990724"/>
            <a:ext cx="5238619" cy="1514475"/>
          </a:xfrm>
          <a:prstGeom prst="roundRect">
            <a:avLst>
              <a:gd name="adj" fmla="val 10062"/>
            </a:avLst>
          </a:prstGeom>
          <a:solidFill>
            <a:srgbClr val="1E293B">
              <a:alpha val="60000"/>
            </a:srgbClr>
          </a:solidFill>
          <a:ln w="825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48263" y="2152650"/>
            <a:ext cx="4914777" cy="2762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85"/>
              </a:lnSpc>
              <a:spcBef>
                <a:spcPts val="0"/>
              </a:spcBef>
              <a:spcAft>
                <a:spcPts val="0"/>
              </a:spcAft>
            </a:pPr>
            <a:r>
              <a:rPr sz="1076" b="0">
                <a:solidFill>
                  <a:srgbClr val="F472B6"/>
                </a:solidFill>
                <a:latin typeface="Roboto Mono"/>
              </a:rPr>
              <a:t>std::deque</a:t>
            </a:r>
            <a:r>
              <a:rPr sz="1076" b="0">
                <a:solidFill>
                  <a:srgbClr val="E2E8F0"/>
                </a:solidFill>
                <a:latin typeface="Roboto Mono"/>
              </a:rPr>
              <a:t>&lt;</a:t>
            </a:r>
            <a:r>
              <a:rPr sz="1076" b="0">
                <a:solidFill>
                  <a:srgbClr val="60A5FA"/>
                </a:solidFill>
                <a:latin typeface="Roboto Mono"/>
              </a:rPr>
              <a:t>double</a:t>
            </a:r>
            <a:r>
              <a:rPr sz="1076" b="0">
                <a:solidFill>
                  <a:srgbClr val="E2E8F0"/>
                </a:solidFill>
                <a:latin typeface="Roboto Mono"/>
              </a:rPr>
              <a:t>&gt; deq = {</a:t>
            </a:r>
            <a:r>
              <a:rPr sz="1076" b="0">
                <a:solidFill>
                  <a:srgbClr val="FBBF24"/>
                </a:solidFill>
                <a:latin typeface="Roboto Mono"/>
              </a:rPr>
              <a:t>1.1, 2.2, 3.3</a:t>
            </a:r>
            <a:r>
              <a:rPr sz="1076" b="0">
                <a:solidFill>
                  <a:srgbClr val="E2E8F0"/>
                </a:solidFill>
                <a:latin typeface="Roboto Mono"/>
              </a:rPr>
              <a:t>};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8263" y="2505074"/>
            <a:ext cx="4914777" cy="2762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85"/>
              </a:lnSpc>
              <a:spcBef>
                <a:spcPts val="520"/>
              </a:spcBef>
              <a:spcAft>
                <a:spcPts val="0"/>
              </a:spcAft>
            </a:pPr>
            <a:r>
              <a:rPr sz="1076" b="0">
                <a:solidFill>
                  <a:srgbClr val="F472B6"/>
                </a:solidFill>
                <a:latin typeface="Roboto Mono"/>
              </a:rPr>
              <a:t>for</a:t>
            </a:r>
            <a:r>
              <a:rPr sz="1076" b="0">
                <a:solidFill>
                  <a:srgbClr val="E2E8F0"/>
                </a:solidFill>
                <a:latin typeface="Roboto Mono"/>
              </a:rPr>
              <a:t> (</a:t>
            </a:r>
            <a:r>
              <a:rPr sz="1076" b="0">
                <a:solidFill>
                  <a:srgbClr val="F472B6"/>
                </a:solidFill>
                <a:latin typeface="Roboto Mono"/>
              </a:rPr>
              <a:t>const</a:t>
            </a:r>
            <a:r>
              <a:rPr sz="1076" b="0">
                <a:solidFill>
                  <a:srgbClr val="E2E8F0"/>
                </a:solidFill>
                <a:latin typeface="Roboto Mono"/>
              </a:rPr>
              <a:t> </a:t>
            </a:r>
            <a:r>
              <a:rPr sz="1076" b="0">
                <a:solidFill>
                  <a:srgbClr val="F472B6"/>
                </a:solidFill>
                <a:latin typeface="Roboto Mono"/>
              </a:rPr>
              <a:t>auto</a:t>
            </a:r>
            <a:r>
              <a:rPr sz="1076" b="0">
                <a:solidFill>
                  <a:srgbClr val="E2E8F0"/>
                </a:solidFill>
                <a:latin typeface="Roboto Mono"/>
              </a:rPr>
              <a:t>&amp; d : deq) {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8263" y="2781300"/>
            <a:ext cx="4914777" cy="2762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85"/>
              </a:lnSpc>
              <a:spcBef>
                <a:spcPts val="0"/>
              </a:spcBef>
              <a:spcAft>
                <a:spcPts val="0"/>
              </a:spcAft>
            </a:pPr>
            <a:r>
              <a:rPr sz="1076" b="0">
                <a:solidFill>
                  <a:srgbClr val="F472B6"/>
                </a:solidFill>
                <a:latin typeface="Roboto Mono"/>
              </a:rPr>
              <a:t>std::cout</a:t>
            </a:r>
            <a:r>
              <a:rPr sz="1076" b="0">
                <a:solidFill>
                  <a:srgbClr val="E2E8F0"/>
                </a:solidFill>
                <a:latin typeface="Roboto Mono"/>
              </a:rPr>
              <a:t> &lt;&lt; d &lt;&lt; </a:t>
            </a:r>
            <a:r>
              <a:rPr sz="1076" b="0">
                <a:solidFill>
                  <a:srgbClr val="FBBF24"/>
                </a:solidFill>
                <a:latin typeface="Roboto Mono"/>
              </a:rPr>
              <a:t>' '</a:t>
            </a:r>
            <a:r>
              <a:rPr sz="1076" b="0">
                <a:solidFill>
                  <a:srgbClr val="E2E8F0"/>
                </a:solidFill>
                <a:latin typeface="Roboto Mono"/>
              </a:rPr>
              <a:t>;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8263" y="3067050"/>
            <a:ext cx="4914777" cy="2762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85"/>
              </a:lnSpc>
              <a:spcBef>
                <a:spcPts val="0"/>
              </a:spcBef>
              <a:spcAft>
                <a:spcPts val="0"/>
              </a:spcAft>
            </a:pPr>
            <a:r>
              <a:rPr sz="1076" b="0">
                <a:solidFill>
                  <a:srgbClr val="E2E8F0"/>
                </a:solidFill>
                <a:latin typeface="Roboto Mono"/>
              </a:rPr>
              <a:t>}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86342" y="3695699"/>
            <a:ext cx="5238619" cy="514350"/>
          </a:xfrm>
          <a:prstGeom prst="roundRect">
            <a:avLst>
              <a:gd name="adj" fmla="val 29629"/>
            </a:avLst>
          </a:prstGeom>
          <a:solidFill>
            <a:srgbClr val="1E293B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 Same Side Corner Rectangle 24"/>
          <p:cNvSpPr/>
          <p:nvPr/>
        </p:nvSpPr>
        <p:spPr>
          <a:xfrm rot="16200000">
            <a:off x="6095207" y="3886834"/>
            <a:ext cx="514350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438739" y="3881157"/>
            <a:ext cx="190495" cy="162485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743531" y="3809999"/>
            <a:ext cx="1962100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CBD5E1"/>
                </a:solidFill>
                <a:latin typeface="Roboto"/>
              </a:rPr>
              <a:t>All STL containers supported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86342" y="4324349"/>
            <a:ext cx="5238619" cy="514350"/>
          </a:xfrm>
          <a:prstGeom prst="roundRect">
            <a:avLst>
              <a:gd name="adj" fmla="val 29629"/>
            </a:avLst>
          </a:prstGeom>
          <a:solidFill>
            <a:srgbClr val="1E293B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 Same Side Corner Rectangle 28"/>
          <p:cNvSpPr/>
          <p:nvPr/>
        </p:nvSpPr>
        <p:spPr>
          <a:xfrm rot="16200000">
            <a:off x="6095207" y="4515484"/>
            <a:ext cx="514350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Picture 29" descr="image.png"/>
          <p:cNvPicPr>
            <a:picLocks noChangeAspect="1"/>
          </p:cNvPicPr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438739" y="4509807"/>
            <a:ext cx="190495" cy="162485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743531" y="4438649"/>
            <a:ext cx="2028774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CBD5E1"/>
                </a:solidFill>
                <a:latin typeface="Roboto"/>
              </a:rPr>
              <a:t>Works with user-defined types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86342" y="4952999"/>
            <a:ext cx="5238619" cy="514350"/>
          </a:xfrm>
          <a:prstGeom prst="roundRect">
            <a:avLst>
              <a:gd name="adj" fmla="val 29629"/>
            </a:avLst>
          </a:prstGeom>
          <a:solidFill>
            <a:srgbClr val="1E293B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 Same Side Corner Rectangle 32"/>
          <p:cNvSpPr/>
          <p:nvPr/>
        </p:nvSpPr>
        <p:spPr>
          <a:xfrm rot="16200000">
            <a:off x="6095207" y="5144134"/>
            <a:ext cx="514350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4" name="Picture 33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438739" y="5138457"/>
            <a:ext cx="190495" cy="162485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6743531" y="5067299"/>
            <a:ext cx="1914477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CBD5E1"/>
                </a:solidFill>
                <a:latin typeface="Roboto"/>
              </a:rPr>
              <a:t>Uses begin()/end() methods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86342" y="5581649"/>
            <a:ext cx="5238619" cy="514350"/>
          </a:xfrm>
          <a:prstGeom prst="roundRect">
            <a:avLst>
              <a:gd name="adj" fmla="val 29629"/>
            </a:avLst>
          </a:prstGeom>
          <a:solidFill>
            <a:srgbClr val="1E293B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 Same Side Corner Rectangle 36"/>
          <p:cNvSpPr/>
          <p:nvPr/>
        </p:nvSpPr>
        <p:spPr>
          <a:xfrm rot="16200000">
            <a:off x="6095207" y="5772784"/>
            <a:ext cx="514350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438739" y="5767107"/>
            <a:ext cx="190495" cy="162485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6743531" y="5695949"/>
            <a:ext cx="1523961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CBD5E1"/>
                </a:solidFill>
                <a:latin typeface="Roboto"/>
              </a:rPr>
              <a:t>Clean, readable syntax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781799"/>
            <a:ext cx="12191695" cy="76200"/>
          </a:xfrm>
          <a:prstGeom prst="rect">
            <a:avLst/>
          </a:prstGeom>
          <a:gradFill rotWithShape="1">
            <a:gsLst>
              <a:gs pos="0">
                <a:srgbClr val="3B82F6"/>
              </a:gs>
              <a:gs pos="50000">
                <a:srgbClr val="F59E0B"/>
              </a:gs>
              <a:gs pos="100000">
                <a:srgbClr val="3B82F6"/>
              </a:gs>
            </a:gsLst>
            <a:lin ang="108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F172A"/>
            </a:gs>
            <a:gs pos="50000">
              <a:srgbClr val="1E293B"/>
            </a:gs>
            <a:gs pos="100000">
              <a:srgbClr val="0F172A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66733" y="114300"/>
            <a:ext cx="6381590" cy="5715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  <a:spcAft>
                <a:spcPts val="0"/>
              </a:spcAft>
            </a:pPr>
            <a:r>
              <a:rPr sz="2392" b="1">
                <a:solidFill>
                  <a:srgbClr val="FFFFFF"/>
                </a:solidFill>
                <a:latin typeface="Roboto"/>
              </a:rPr>
              <a:t>Iterating Over Associative Containers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666733" y="1502092"/>
            <a:ext cx="228594" cy="1771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71525" y="1457325"/>
            <a:ext cx="752456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196" b="1">
                <a:solidFill>
                  <a:srgbClr val="FFFFFF"/>
                </a:solidFill>
                <a:latin typeface="Roboto"/>
              </a:rPr>
              <a:t>std::map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6733" y="1857375"/>
            <a:ext cx="5238619" cy="1981199"/>
          </a:xfrm>
          <a:prstGeom prst="roundRect">
            <a:avLst>
              <a:gd name="adj" fmla="val 7692"/>
            </a:avLst>
          </a:prstGeom>
          <a:solidFill>
            <a:srgbClr val="1E293B">
              <a:alpha val="60000"/>
            </a:srgbClr>
          </a:solidFill>
          <a:ln w="825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8654" y="2019299"/>
            <a:ext cx="4914777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016" b="0">
                <a:solidFill>
                  <a:srgbClr val="F472B6"/>
                </a:solidFill>
                <a:latin typeface="Roboto Mono"/>
              </a:rPr>
              <a:t>std::map</a:t>
            </a:r>
            <a:r>
              <a:rPr sz="1016" b="0">
                <a:solidFill>
                  <a:srgbClr val="E2E8F0"/>
                </a:solidFill>
                <a:latin typeface="Roboto Mono"/>
              </a:rPr>
              <a:t>&lt;</a:t>
            </a:r>
            <a:r>
              <a:rPr sz="1016" b="0">
                <a:solidFill>
                  <a:srgbClr val="60A5FA"/>
                </a:solidFill>
                <a:latin typeface="Roboto Mono"/>
              </a:rPr>
              <a:t>std::string</a:t>
            </a:r>
            <a:r>
              <a:rPr sz="1016" b="0">
                <a:solidFill>
                  <a:srgbClr val="E2E8F0"/>
                </a:solidFill>
                <a:latin typeface="Roboto Mono"/>
              </a:rPr>
              <a:t>, </a:t>
            </a:r>
            <a:r>
              <a:rPr sz="1016" b="0">
                <a:solidFill>
                  <a:srgbClr val="60A5FA"/>
                </a:solidFill>
                <a:latin typeface="Roboto Mono"/>
              </a:rPr>
              <a:t>int</a:t>
            </a:r>
            <a:r>
              <a:rPr sz="1016" b="0">
                <a:solidFill>
                  <a:srgbClr val="E2E8F0"/>
                </a:solidFill>
                <a:latin typeface="Roboto Mono"/>
              </a:rPr>
              <a:t>&gt; ages = {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8654" y="2276474"/>
            <a:ext cx="4914777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016" b="0">
                <a:solidFill>
                  <a:srgbClr val="E2E8F0"/>
                </a:solidFill>
                <a:latin typeface="Roboto Mono"/>
              </a:rPr>
              <a:t>{</a:t>
            </a:r>
            <a:r>
              <a:rPr sz="1016" b="0">
                <a:solidFill>
                  <a:srgbClr val="FBBF24"/>
                </a:solidFill>
                <a:latin typeface="Roboto Mono"/>
              </a:rPr>
              <a:t>"Alice"</a:t>
            </a:r>
            <a:r>
              <a:rPr sz="1016" b="0">
                <a:solidFill>
                  <a:srgbClr val="E2E8F0"/>
                </a:solidFill>
                <a:latin typeface="Roboto Mono"/>
              </a:rPr>
              <a:t>, </a:t>
            </a:r>
            <a:r>
              <a:rPr sz="1016" b="0">
                <a:solidFill>
                  <a:srgbClr val="60A5FA"/>
                </a:solidFill>
                <a:latin typeface="Roboto Mono"/>
              </a:rPr>
              <a:t>30</a:t>
            </a:r>
            <a:r>
              <a:rPr sz="1016" b="0">
                <a:solidFill>
                  <a:srgbClr val="E2E8F0"/>
                </a:solidFill>
                <a:latin typeface="Roboto Mono"/>
              </a:rPr>
              <a:t>}, {</a:t>
            </a:r>
            <a:r>
              <a:rPr sz="1016" b="0">
                <a:solidFill>
                  <a:srgbClr val="FBBF24"/>
                </a:solidFill>
                <a:latin typeface="Roboto Mono"/>
              </a:rPr>
              <a:t>"Bob"</a:t>
            </a:r>
            <a:r>
              <a:rPr sz="1016" b="0">
                <a:solidFill>
                  <a:srgbClr val="E2E8F0"/>
                </a:solidFill>
                <a:latin typeface="Roboto Mono"/>
              </a:rPr>
              <a:t>, </a:t>
            </a:r>
            <a:r>
              <a:rPr sz="1016" b="0">
                <a:solidFill>
                  <a:srgbClr val="60A5FA"/>
                </a:solidFill>
                <a:latin typeface="Roboto Mono"/>
              </a:rPr>
              <a:t>25</a:t>
            </a:r>
            <a:r>
              <a:rPr sz="1016" b="0">
                <a:solidFill>
                  <a:srgbClr val="E2E8F0"/>
                </a:solidFill>
                <a:latin typeface="Roboto Mono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8654" y="2543175"/>
            <a:ext cx="4914777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016" b="0">
                <a:solidFill>
                  <a:srgbClr val="E2E8F0"/>
                </a:solidFill>
                <a:latin typeface="Roboto Mono"/>
              </a:rPr>
              <a:t>};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8654" y="2876549"/>
            <a:ext cx="4914777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755"/>
              </a:lnSpc>
              <a:spcBef>
                <a:spcPts val="520"/>
              </a:spcBef>
              <a:spcAft>
                <a:spcPts val="0"/>
              </a:spcAft>
            </a:pPr>
            <a:r>
              <a:rPr sz="1016" b="0">
                <a:solidFill>
                  <a:srgbClr val="F472B6"/>
                </a:solidFill>
                <a:latin typeface="Roboto Mono"/>
              </a:rPr>
              <a:t>for</a:t>
            </a:r>
            <a:r>
              <a:rPr sz="1016" b="0">
                <a:solidFill>
                  <a:srgbClr val="E2E8F0"/>
                </a:solidFill>
                <a:latin typeface="Roboto Mono"/>
              </a:rPr>
              <a:t> (</a:t>
            </a:r>
            <a:r>
              <a:rPr sz="1016" b="0">
                <a:solidFill>
                  <a:srgbClr val="F472B6"/>
                </a:solidFill>
                <a:latin typeface="Roboto Mono"/>
              </a:rPr>
              <a:t>const</a:t>
            </a:r>
            <a:r>
              <a:rPr sz="1016" b="0">
                <a:solidFill>
                  <a:srgbClr val="E2E8F0"/>
                </a:solidFill>
                <a:latin typeface="Roboto Mono"/>
              </a:rPr>
              <a:t> </a:t>
            </a:r>
            <a:r>
              <a:rPr sz="1016" b="0">
                <a:solidFill>
                  <a:srgbClr val="F472B6"/>
                </a:solidFill>
                <a:latin typeface="Roboto Mono"/>
              </a:rPr>
              <a:t>auto</a:t>
            </a:r>
            <a:r>
              <a:rPr sz="1016" b="0">
                <a:solidFill>
                  <a:srgbClr val="E2E8F0"/>
                </a:solidFill>
                <a:latin typeface="Roboto Mono"/>
              </a:rPr>
              <a:t>&amp; [</a:t>
            </a:r>
            <a:r>
              <a:rPr sz="1016" b="0">
                <a:solidFill>
                  <a:srgbClr val="60A5FA"/>
                </a:solidFill>
                <a:latin typeface="Roboto Mono"/>
              </a:rPr>
              <a:t>name</a:t>
            </a:r>
            <a:r>
              <a:rPr sz="1016" b="0">
                <a:solidFill>
                  <a:srgbClr val="E2E8F0"/>
                </a:solidFill>
                <a:latin typeface="Roboto Mono"/>
              </a:rPr>
              <a:t>, </a:t>
            </a:r>
            <a:r>
              <a:rPr sz="1016" b="0">
                <a:solidFill>
                  <a:srgbClr val="60A5FA"/>
                </a:solidFill>
                <a:latin typeface="Roboto Mono"/>
              </a:rPr>
              <a:t>age</a:t>
            </a:r>
            <a:r>
              <a:rPr sz="1016" b="0">
                <a:solidFill>
                  <a:srgbClr val="E2E8F0"/>
                </a:solidFill>
                <a:latin typeface="Roboto Mono"/>
              </a:rPr>
              <a:t>] : ages) {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8654" y="3143250"/>
            <a:ext cx="4914777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016" b="0">
                <a:solidFill>
                  <a:srgbClr val="F472B6"/>
                </a:solidFill>
                <a:latin typeface="Roboto Mono"/>
              </a:rPr>
              <a:t>std::cout</a:t>
            </a:r>
            <a:r>
              <a:rPr sz="1016" b="0">
                <a:solidFill>
                  <a:srgbClr val="E2E8F0"/>
                </a:solidFill>
                <a:latin typeface="Roboto Mono"/>
              </a:rPr>
              <a:t> &lt;&lt; name &lt;&lt; </a:t>
            </a:r>
            <a:r>
              <a:rPr sz="1016" b="0">
                <a:solidFill>
                  <a:srgbClr val="FBBF24"/>
                </a:solidFill>
                <a:latin typeface="Roboto Mono"/>
              </a:rPr>
              <a:t>": "</a:t>
            </a:r>
            <a:r>
              <a:rPr sz="1016" b="0">
                <a:solidFill>
                  <a:srgbClr val="E2E8F0"/>
                </a:solidFill>
                <a:latin typeface="Roboto Mono"/>
              </a:rPr>
              <a:t> &lt;&lt; age &lt;&lt; </a:t>
            </a:r>
            <a:r>
              <a:rPr sz="1016" b="0">
                <a:solidFill>
                  <a:srgbClr val="FBBF24"/>
                </a:solidFill>
                <a:latin typeface="Roboto Mono"/>
              </a:rPr>
              <a:t>'\n'</a:t>
            </a:r>
            <a:r>
              <a:rPr sz="1016" b="0">
                <a:solidFill>
                  <a:srgbClr val="E2E8F0"/>
                </a:solidFill>
                <a:latin typeface="Roboto Mono"/>
              </a:rPr>
              <a:t>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8654" y="3409950"/>
            <a:ext cx="4914777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016" b="0">
                <a:solidFill>
                  <a:srgbClr val="E2E8F0"/>
                </a:solidFill>
                <a:latin typeface="Roboto Mono"/>
              </a:rPr>
              <a:t>}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66733" y="4109084"/>
            <a:ext cx="228594" cy="12572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71525" y="4038599"/>
            <a:ext cx="638159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196" b="1">
                <a:solidFill>
                  <a:srgbClr val="FFFFFF"/>
                </a:solidFill>
                <a:latin typeface="Roboto"/>
              </a:rPr>
              <a:t>std::set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6733" y="4438649"/>
            <a:ext cx="5238619" cy="1790700"/>
          </a:xfrm>
          <a:prstGeom prst="roundRect">
            <a:avLst>
              <a:gd name="adj" fmla="val 8510"/>
            </a:avLst>
          </a:prstGeom>
          <a:solidFill>
            <a:srgbClr val="1E293B">
              <a:alpha val="60000"/>
            </a:srgbClr>
          </a:solidFill>
          <a:ln w="825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8654" y="4600575"/>
            <a:ext cx="4914777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016" b="0">
                <a:solidFill>
                  <a:srgbClr val="F472B6"/>
                </a:solidFill>
                <a:latin typeface="Roboto Mono"/>
              </a:rPr>
              <a:t>std::set</a:t>
            </a:r>
            <a:r>
              <a:rPr sz="1016" b="0">
                <a:solidFill>
                  <a:srgbClr val="E2E8F0"/>
                </a:solidFill>
                <a:latin typeface="Roboto Mono"/>
              </a:rPr>
              <a:t>&lt;</a:t>
            </a:r>
            <a:r>
              <a:rPr sz="1016" b="0">
                <a:solidFill>
                  <a:srgbClr val="60A5FA"/>
                </a:solidFill>
                <a:latin typeface="Roboto Mono"/>
              </a:rPr>
              <a:t>int</a:t>
            </a:r>
            <a:r>
              <a:rPr sz="1016" b="0">
                <a:solidFill>
                  <a:srgbClr val="E2E8F0"/>
                </a:solidFill>
                <a:latin typeface="Roboto Mono"/>
              </a:rPr>
              <a:t>&gt; unique = {</a:t>
            </a:r>
            <a:r>
              <a:rPr sz="1016" b="0">
                <a:solidFill>
                  <a:srgbClr val="FBBF24"/>
                </a:solidFill>
                <a:latin typeface="Roboto Mono"/>
              </a:rPr>
              <a:t>5, 3, 5, 1, 2</a:t>
            </a:r>
            <a:r>
              <a:rPr sz="1016" b="0">
                <a:solidFill>
                  <a:srgbClr val="E2E8F0"/>
                </a:solidFill>
                <a:latin typeface="Roboto Mono"/>
              </a:rPr>
              <a:t>};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8654" y="4943475"/>
            <a:ext cx="4914777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755"/>
              </a:lnSpc>
              <a:spcBef>
                <a:spcPts val="520"/>
              </a:spcBef>
              <a:spcAft>
                <a:spcPts val="0"/>
              </a:spcAft>
            </a:pPr>
            <a:r>
              <a:rPr sz="1016" b="0">
                <a:solidFill>
                  <a:srgbClr val="F472B6"/>
                </a:solidFill>
                <a:latin typeface="Roboto Mono"/>
              </a:rPr>
              <a:t>for</a:t>
            </a:r>
            <a:r>
              <a:rPr sz="1016" b="0">
                <a:solidFill>
                  <a:srgbClr val="E2E8F0"/>
                </a:solidFill>
                <a:latin typeface="Roboto Mono"/>
              </a:rPr>
              <a:t> (</a:t>
            </a:r>
            <a:r>
              <a:rPr sz="1016" b="0">
                <a:solidFill>
                  <a:srgbClr val="60A5FA"/>
                </a:solidFill>
                <a:latin typeface="Roboto Mono"/>
              </a:rPr>
              <a:t>int</a:t>
            </a:r>
            <a:r>
              <a:rPr sz="1016" b="0">
                <a:solidFill>
                  <a:srgbClr val="E2E8F0"/>
                </a:solidFill>
                <a:latin typeface="Roboto Mono"/>
              </a:rPr>
              <a:t> x : unique) {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8654" y="5210174"/>
            <a:ext cx="4914777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016" b="0">
                <a:solidFill>
                  <a:srgbClr val="F472B6"/>
                </a:solidFill>
                <a:latin typeface="Roboto Mono"/>
              </a:rPr>
              <a:t>std::cout</a:t>
            </a:r>
            <a:r>
              <a:rPr sz="1016" b="0">
                <a:solidFill>
                  <a:srgbClr val="E2E8F0"/>
                </a:solidFill>
                <a:latin typeface="Roboto Mono"/>
              </a:rPr>
              <a:t> &lt;&lt; x &lt;&lt; </a:t>
            </a:r>
            <a:r>
              <a:rPr sz="1016" b="0">
                <a:solidFill>
                  <a:srgbClr val="FBBF24"/>
                </a:solidFill>
                <a:latin typeface="Roboto Mono"/>
              </a:rPr>
              <a:t>' '</a:t>
            </a:r>
            <a:r>
              <a:rPr sz="1016" b="0">
                <a:solidFill>
                  <a:srgbClr val="E2E8F0"/>
                </a:solidFill>
                <a:latin typeface="Roboto Mono"/>
              </a:rPr>
              <a:t>;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8654" y="5467349"/>
            <a:ext cx="4914777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016" b="0">
                <a:solidFill>
                  <a:srgbClr val="E2E8F0"/>
                </a:solidFill>
                <a:latin typeface="Roboto Mono"/>
              </a:rPr>
              <a:t>}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8654" y="5810249"/>
            <a:ext cx="4914777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755"/>
              </a:lnSpc>
              <a:spcBef>
                <a:spcPts val="520"/>
              </a:spcBef>
              <a:spcAft>
                <a:spcPts val="0"/>
              </a:spcAft>
            </a:pPr>
            <a:r>
              <a:rPr sz="1016" b="0">
                <a:solidFill>
                  <a:srgbClr val="94A3B8"/>
                </a:solidFill>
                <a:latin typeface="Roboto Mono"/>
              </a:rPr>
              <a:t>// Output: 1 2 3 5 (sorted)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86342" y="1600200"/>
            <a:ext cx="5238619" cy="838200"/>
          </a:xfrm>
          <a:prstGeom prst="roundRect">
            <a:avLst>
              <a:gd name="adj" fmla="val 18181"/>
            </a:avLst>
          </a:prstGeom>
          <a:solidFill>
            <a:srgbClr val="1E293B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 Same Side Corner Rectangle 20"/>
          <p:cNvSpPr/>
          <p:nvPr/>
        </p:nvSpPr>
        <p:spPr>
          <a:xfrm rot="16200000">
            <a:off x="5933282" y="1953260"/>
            <a:ext cx="838200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476838" y="1826895"/>
            <a:ext cx="228594" cy="194309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819729" y="1752599"/>
            <a:ext cx="2647883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260"/>
              </a:spcAft>
            </a:pPr>
            <a:r>
              <a:rPr sz="1076" b="1">
                <a:solidFill>
                  <a:srgbClr val="FFFFFF"/>
                </a:solidFill>
                <a:latin typeface="Roboto"/>
              </a:rPr>
              <a:t>Ordered Containers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19729" y="2057400"/>
            <a:ext cx="2647883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CBD5E1"/>
                </a:solidFill>
                <a:latin typeface="Roboto"/>
              </a:rPr>
              <a:t>std::map, std::set iterate in sorted order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86342" y="2590799"/>
            <a:ext cx="5238619" cy="838200"/>
          </a:xfrm>
          <a:prstGeom prst="roundRect">
            <a:avLst>
              <a:gd name="adj" fmla="val 18181"/>
            </a:avLst>
          </a:prstGeom>
          <a:solidFill>
            <a:srgbClr val="1E293B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 Same Side Corner Rectangle 25"/>
          <p:cNvSpPr/>
          <p:nvPr/>
        </p:nvSpPr>
        <p:spPr>
          <a:xfrm rot="16200000">
            <a:off x="5933282" y="2943859"/>
            <a:ext cx="838200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476838" y="2817495"/>
            <a:ext cx="228594" cy="194309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819729" y="2743200"/>
            <a:ext cx="3086022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260"/>
              </a:spcAft>
            </a:pPr>
            <a:r>
              <a:rPr sz="1076" b="1">
                <a:solidFill>
                  <a:srgbClr val="FFFFFF"/>
                </a:solidFill>
                <a:latin typeface="Roboto"/>
              </a:rPr>
              <a:t>Unordered Containers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19729" y="3047999"/>
            <a:ext cx="3086022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CBD5E1"/>
                </a:solidFill>
                <a:latin typeface="Roboto"/>
              </a:rPr>
              <a:t>std::unordered_map: undefined iteration order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86342" y="3581400"/>
            <a:ext cx="5238619" cy="838200"/>
          </a:xfrm>
          <a:prstGeom prst="roundRect">
            <a:avLst>
              <a:gd name="adj" fmla="val 18181"/>
            </a:avLst>
          </a:prstGeom>
          <a:solidFill>
            <a:srgbClr val="1E293B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 Same Side Corner Rectangle 30"/>
          <p:cNvSpPr/>
          <p:nvPr/>
        </p:nvSpPr>
        <p:spPr>
          <a:xfrm rot="16200000">
            <a:off x="5933282" y="3934460"/>
            <a:ext cx="838200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476838" y="3808094"/>
            <a:ext cx="228594" cy="194309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819729" y="3733799"/>
            <a:ext cx="2190695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260"/>
              </a:spcAft>
            </a:pPr>
            <a:r>
              <a:rPr sz="1076" b="1">
                <a:solidFill>
                  <a:srgbClr val="FFFFFF"/>
                </a:solidFill>
                <a:latin typeface="Roboto"/>
              </a:rPr>
              <a:t>Structured Bindings (C++17)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9729" y="4038599"/>
            <a:ext cx="2190695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CBD5E1"/>
                </a:solidFill>
                <a:latin typeface="Roboto"/>
              </a:rPr>
              <a:t>[key, value] syntax for map pairs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86342" y="4610099"/>
            <a:ext cx="5238619" cy="1447800"/>
          </a:xfrm>
          <a:prstGeom prst="roundRect">
            <a:avLst>
              <a:gd name="adj" fmla="val 10526"/>
            </a:avLst>
          </a:prstGeom>
          <a:solidFill>
            <a:srgbClr val="1E293B">
              <a:alpha val="60000"/>
            </a:srgbClr>
          </a:solidFill>
          <a:ln w="825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448263" y="4844863"/>
            <a:ext cx="190495" cy="140073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6714957" y="4781549"/>
            <a:ext cx="1543011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076" b="1">
                <a:solidFill>
                  <a:srgbClr val="FFFFFF"/>
                </a:solidFill>
                <a:latin typeface="Roboto"/>
              </a:rPr>
              <a:t>std::unordered_map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48263" y="5162550"/>
            <a:ext cx="4914777" cy="24764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F472B6"/>
                </a:solidFill>
                <a:latin typeface="Roboto Mono"/>
              </a:rPr>
              <a:t>for</a:t>
            </a:r>
            <a:r>
              <a:rPr sz="956" b="0">
                <a:solidFill>
                  <a:srgbClr val="E2E8F0"/>
                </a:solidFill>
                <a:latin typeface="Roboto Mono"/>
              </a:rPr>
              <a:t> (</a:t>
            </a:r>
            <a:r>
              <a:rPr sz="956" b="0">
                <a:solidFill>
                  <a:srgbClr val="F472B6"/>
                </a:solidFill>
                <a:latin typeface="Roboto Mono"/>
              </a:rPr>
              <a:t>const</a:t>
            </a:r>
            <a:r>
              <a:rPr sz="956" b="0">
                <a:solidFill>
                  <a:srgbClr val="E2E8F0"/>
                </a:solidFill>
                <a:latin typeface="Roboto Mono"/>
              </a:rPr>
              <a:t> </a:t>
            </a:r>
            <a:r>
              <a:rPr sz="956" b="0">
                <a:solidFill>
                  <a:srgbClr val="F472B6"/>
                </a:solidFill>
                <a:latin typeface="Roboto Mono"/>
              </a:rPr>
              <a:t>auto</a:t>
            </a:r>
            <a:r>
              <a:rPr sz="956" b="0">
                <a:solidFill>
                  <a:srgbClr val="E2E8F0"/>
                </a:solidFill>
                <a:latin typeface="Roboto Mono"/>
              </a:rPr>
              <a:t>&amp; [k, v] : umap) {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753056" y="5429250"/>
            <a:ext cx="2285942" cy="2000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94A3B8"/>
                </a:solidFill>
                <a:latin typeface="Roboto Mono"/>
              </a:rPr>
              <a:t>// Process key-value pair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48263" y="5657850"/>
            <a:ext cx="4914777" cy="24764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E2E8F0"/>
                </a:solidFill>
                <a:latin typeface="Roboto Mono"/>
              </a:rPr>
              <a:t>}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781799"/>
            <a:ext cx="12191695" cy="76200"/>
          </a:xfrm>
          <a:prstGeom prst="rect">
            <a:avLst/>
          </a:prstGeom>
          <a:gradFill rotWithShape="1">
            <a:gsLst>
              <a:gs pos="0">
                <a:srgbClr val="3B82F6"/>
              </a:gs>
              <a:gs pos="50000">
                <a:srgbClr val="F59E0B"/>
              </a:gs>
              <a:gs pos="100000">
                <a:srgbClr val="3B82F6"/>
              </a:gs>
            </a:gsLst>
            <a:lin ang="108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F172A"/>
            </a:gs>
            <a:gs pos="50000">
              <a:srgbClr val="1E293B"/>
            </a:gs>
            <a:gs pos="100000">
              <a:srgbClr val="0F172A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66733" y="114300"/>
            <a:ext cx="3552736" cy="5715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  <a:spcAft>
                <a:spcPts val="0"/>
              </a:spcAft>
            </a:pPr>
            <a:r>
              <a:rPr sz="2392" b="1">
                <a:solidFill>
                  <a:srgbClr val="FFFFFF"/>
                </a:solidFill>
                <a:latin typeface="Roboto"/>
              </a:rPr>
              <a:t>Iterating Over Arrays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666733" y="1711642"/>
            <a:ext cx="228594" cy="1771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71525" y="1666874"/>
            <a:ext cx="1142971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196" b="1">
                <a:solidFill>
                  <a:srgbClr val="FFFFFF"/>
                </a:solidFill>
                <a:latin typeface="Roboto"/>
              </a:rPr>
              <a:t>C-Style Array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6733" y="2066924"/>
            <a:ext cx="4629034" cy="1514475"/>
          </a:xfrm>
          <a:prstGeom prst="roundRect">
            <a:avLst>
              <a:gd name="adj" fmla="val 10062"/>
            </a:avLst>
          </a:prstGeom>
          <a:solidFill>
            <a:srgbClr val="1E293B">
              <a:alpha val="60000"/>
            </a:srgbClr>
          </a:solidFill>
          <a:ln w="825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8654" y="2228850"/>
            <a:ext cx="4305192" cy="2762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85"/>
              </a:lnSpc>
              <a:spcBef>
                <a:spcPts val="0"/>
              </a:spcBef>
              <a:spcAft>
                <a:spcPts val="0"/>
              </a:spcAft>
            </a:pPr>
            <a:r>
              <a:rPr sz="1076" b="0">
                <a:solidFill>
                  <a:srgbClr val="60A5FA"/>
                </a:solidFill>
                <a:latin typeface="Roboto Mono"/>
              </a:rPr>
              <a:t>int</a:t>
            </a:r>
            <a:r>
              <a:rPr sz="1076" b="0">
                <a:solidFill>
                  <a:srgbClr val="E2E8F0"/>
                </a:solidFill>
                <a:latin typeface="Roboto Mono"/>
              </a:rPr>
              <a:t> arr[] = {</a:t>
            </a:r>
            <a:r>
              <a:rPr sz="1076" b="0">
                <a:solidFill>
                  <a:srgbClr val="FBBF24"/>
                </a:solidFill>
                <a:latin typeface="Roboto Mono"/>
              </a:rPr>
              <a:t>1, 2, 3, 4, 5</a:t>
            </a:r>
            <a:r>
              <a:rPr sz="1076" b="0">
                <a:solidFill>
                  <a:srgbClr val="E2E8F0"/>
                </a:solidFill>
                <a:latin typeface="Roboto Mono"/>
              </a:rPr>
              <a:t>};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8654" y="2581275"/>
            <a:ext cx="4305192" cy="2762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85"/>
              </a:lnSpc>
              <a:spcBef>
                <a:spcPts val="0"/>
              </a:spcBef>
              <a:spcAft>
                <a:spcPts val="0"/>
              </a:spcAft>
            </a:pPr>
            <a:r>
              <a:rPr sz="1076" b="0">
                <a:solidFill>
                  <a:srgbClr val="F472B6"/>
                </a:solidFill>
                <a:latin typeface="Roboto Mono"/>
              </a:rPr>
              <a:t>for</a:t>
            </a:r>
            <a:r>
              <a:rPr sz="1076" b="0">
                <a:solidFill>
                  <a:srgbClr val="E2E8F0"/>
                </a:solidFill>
                <a:latin typeface="Roboto Mono"/>
              </a:rPr>
              <a:t> (</a:t>
            </a:r>
            <a:r>
              <a:rPr sz="1076" b="0">
                <a:solidFill>
                  <a:srgbClr val="60A5FA"/>
                </a:solidFill>
                <a:latin typeface="Roboto Mono"/>
              </a:rPr>
              <a:t>int</a:t>
            </a:r>
            <a:r>
              <a:rPr sz="1076" b="0">
                <a:solidFill>
                  <a:srgbClr val="E2E8F0"/>
                </a:solidFill>
                <a:latin typeface="Roboto Mono"/>
              </a:rPr>
              <a:t> x : arr) {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8654" y="2857500"/>
            <a:ext cx="4305192" cy="2762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85"/>
              </a:lnSpc>
              <a:spcBef>
                <a:spcPts val="0"/>
              </a:spcBef>
              <a:spcAft>
                <a:spcPts val="0"/>
              </a:spcAft>
            </a:pPr>
            <a:r>
              <a:rPr sz="1076" b="0">
                <a:solidFill>
                  <a:srgbClr val="F472B6"/>
                </a:solidFill>
                <a:latin typeface="Roboto Mono"/>
              </a:rPr>
              <a:t>std::cout</a:t>
            </a:r>
            <a:r>
              <a:rPr sz="1076" b="0">
                <a:solidFill>
                  <a:srgbClr val="E2E8F0"/>
                </a:solidFill>
                <a:latin typeface="Roboto Mono"/>
              </a:rPr>
              <a:t> &lt;&lt; x &lt;&lt; </a:t>
            </a:r>
            <a:r>
              <a:rPr sz="1076" b="0">
                <a:solidFill>
                  <a:srgbClr val="FBBF24"/>
                </a:solidFill>
                <a:latin typeface="Roboto Mono"/>
              </a:rPr>
              <a:t>' '</a:t>
            </a:r>
            <a:r>
              <a:rPr sz="1076" b="0">
                <a:solidFill>
                  <a:srgbClr val="E2E8F0"/>
                </a:solidFill>
                <a:latin typeface="Roboto Mono"/>
              </a:rPr>
              <a:t>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8654" y="3143250"/>
            <a:ext cx="4305192" cy="2762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85"/>
              </a:lnSpc>
              <a:spcBef>
                <a:spcPts val="0"/>
              </a:spcBef>
              <a:spcAft>
                <a:spcPts val="0"/>
              </a:spcAft>
            </a:pPr>
            <a:r>
              <a:rPr sz="1076" b="0">
                <a:solidFill>
                  <a:srgbClr val="E2E8F0"/>
                </a:solidFill>
                <a:latin typeface="Roboto Mono"/>
              </a:rPr>
              <a:t>}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66733" y="3879532"/>
            <a:ext cx="228594" cy="16573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71525" y="3829050"/>
            <a:ext cx="809604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196" b="1">
                <a:solidFill>
                  <a:srgbClr val="FFFFFF"/>
                </a:solidFill>
                <a:latin typeface="Roboto"/>
              </a:rPr>
              <a:t>std::array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6733" y="4229100"/>
            <a:ext cx="4629034" cy="1790700"/>
          </a:xfrm>
          <a:prstGeom prst="roundRect">
            <a:avLst>
              <a:gd name="adj" fmla="val 8510"/>
            </a:avLst>
          </a:prstGeom>
          <a:solidFill>
            <a:srgbClr val="1E293B">
              <a:alpha val="60000"/>
            </a:srgbClr>
          </a:solidFill>
          <a:ln w="825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8654" y="4391025"/>
            <a:ext cx="4305192" cy="561974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885"/>
              </a:lnSpc>
              <a:spcBef>
                <a:spcPts val="0"/>
              </a:spcBef>
              <a:spcAft>
                <a:spcPts val="0"/>
              </a:spcAft>
            </a:pPr>
            <a:r>
              <a:rPr sz="1076" b="0">
                <a:solidFill>
                  <a:srgbClr val="F472B6"/>
                </a:solidFill>
                <a:latin typeface="Roboto Mono"/>
              </a:rPr>
              <a:t>std::array</a:t>
            </a:r>
            <a:r>
              <a:rPr sz="1076" b="0">
                <a:solidFill>
                  <a:srgbClr val="E2E8F0"/>
                </a:solidFill>
                <a:latin typeface="Roboto Mono"/>
              </a:rPr>
              <a:t>&lt;</a:t>
            </a:r>
            <a:r>
              <a:rPr sz="1076" b="0">
                <a:solidFill>
                  <a:srgbClr val="60A5FA"/>
                </a:solidFill>
                <a:latin typeface="Roboto Mono"/>
              </a:rPr>
              <a:t>int</a:t>
            </a:r>
            <a:r>
              <a:rPr sz="1076" b="0">
                <a:solidFill>
                  <a:srgbClr val="E2E8F0"/>
                </a:solidFill>
                <a:latin typeface="Roboto Mono"/>
              </a:rPr>
              <a:t>, </a:t>
            </a:r>
            <a:r>
              <a:rPr sz="1076" b="0">
                <a:solidFill>
                  <a:srgbClr val="FBBF24"/>
                </a:solidFill>
                <a:latin typeface="Roboto Mono"/>
              </a:rPr>
              <a:t>3</a:t>
            </a:r>
            <a:r>
              <a:rPr sz="1076" b="0">
                <a:solidFill>
                  <a:srgbClr val="E2E8F0"/>
                </a:solidFill>
                <a:latin typeface="Roboto Mono"/>
              </a:rPr>
              <a:t>&gt; std_arr = {</a:t>
            </a:r>
            <a:r>
              <a:rPr sz="1076" b="0">
                <a:solidFill>
                  <a:srgbClr val="FBBF24"/>
                </a:solidFill>
                <a:latin typeface="Roboto Mono"/>
              </a:rPr>
              <a:t>10, 20, 30</a:t>
            </a:r>
            <a:r>
              <a:rPr sz="1076" b="0">
                <a:solidFill>
                  <a:srgbClr val="E2E8F0"/>
                </a:solidFill>
                <a:latin typeface="Roboto Mono"/>
              </a:rPr>
              <a:t>};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8654" y="5019675"/>
            <a:ext cx="4305192" cy="2762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85"/>
              </a:lnSpc>
              <a:spcBef>
                <a:spcPts val="520"/>
              </a:spcBef>
              <a:spcAft>
                <a:spcPts val="0"/>
              </a:spcAft>
            </a:pPr>
            <a:r>
              <a:rPr sz="1076" b="0">
                <a:solidFill>
                  <a:srgbClr val="F472B6"/>
                </a:solidFill>
                <a:latin typeface="Roboto Mono"/>
              </a:rPr>
              <a:t>for</a:t>
            </a:r>
            <a:r>
              <a:rPr sz="1076" b="0">
                <a:solidFill>
                  <a:srgbClr val="E2E8F0"/>
                </a:solidFill>
                <a:latin typeface="Roboto Mono"/>
              </a:rPr>
              <a:t> (</a:t>
            </a:r>
            <a:r>
              <a:rPr sz="1076" b="0">
                <a:solidFill>
                  <a:srgbClr val="F472B6"/>
                </a:solidFill>
                <a:latin typeface="Roboto Mono"/>
              </a:rPr>
              <a:t>const</a:t>
            </a:r>
            <a:r>
              <a:rPr sz="1076" b="0">
                <a:solidFill>
                  <a:srgbClr val="E2E8F0"/>
                </a:solidFill>
                <a:latin typeface="Roboto Mono"/>
              </a:rPr>
              <a:t> </a:t>
            </a:r>
            <a:r>
              <a:rPr sz="1076" b="0">
                <a:solidFill>
                  <a:srgbClr val="F472B6"/>
                </a:solidFill>
                <a:latin typeface="Roboto Mono"/>
              </a:rPr>
              <a:t>auto</a:t>
            </a:r>
            <a:r>
              <a:rPr sz="1076" b="0">
                <a:solidFill>
                  <a:srgbClr val="E2E8F0"/>
                </a:solidFill>
                <a:latin typeface="Roboto Mono"/>
              </a:rPr>
              <a:t>&amp; x : std_arr) {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8654" y="5305425"/>
            <a:ext cx="4305192" cy="2762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85"/>
              </a:lnSpc>
              <a:spcBef>
                <a:spcPts val="0"/>
              </a:spcBef>
              <a:spcAft>
                <a:spcPts val="0"/>
              </a:spcAft>
            </a:pPr>
            <a:r>
              <a:rPr sz="1076" b="0">
                <a:solidFill>
                  <a:srgbClr val="F472B6"/>
                </a:solidFill>
                <a:latin typeface="Roboto Mono"/>
              </a:rPr>
              <a:t>std::cout</a:t>
            </a:r>
            <a:r>
              <a:rPr sz="1076" b="0">
                <a:solidFill>
                  <a:srgbClr val="E2E8F0"/>
                </a:solidFill>
                <a:latin typeface="Roboto Mono"/>
              </a:rPr>
              <a:t> &lt;&lt; x &lt;&lt; </a:t>
            </a:r>
            <a:r>
              <a:rPr sz="1076" b="0">
                <a:solidFill>
                  <a:srgbClr val="FBBF24"/>
                </a:solidFill>
                <a:latin typeface="Roboto Mono"/>
              </a:rPr>
              <a:t>' '</a:t>
            </a:r>
            <a:r>
              <a:rPr sz="1076" b="0">
                <a:solidFill>
                  <a:srgbClr val="E2E8F0"/>
                </a:solidFill>
                <a:latin typeface="Roboto Mono"/>
              </a:rPr>
              <a:t>;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8654" y="5581649"/>
            <a:ext cx="4305192" cy="2762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85"/>
              </a:lnSpc>
              <a:spcBef>
                <a:spcPts val="0"/>
              </a:spcBef>
              <a:spcAft>
                <a:spcPts val="0"/>
              </a:spcAft>
            </a:pPr>
            <a:r>
              <a:rPr sz="1076" b="0">
                <a:solidFill>
                  <a:srgbClr val="E2E8F0"/>
                </a:solidFill>
                <a:latin typeface="Roboto Mono"/>
              </a:rPr>
              <a:t>}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76758" y="1276350"/>
            <a:ext cx="5848203" cy="838200"/>
          </a:xfrm>
          <a:prstGeom prst="roundRect">
            <a:avLst>
              <a:gd name="adj" fmla="val 18181"/>
            </a:avLst>
          </a:prstGeom>
          <a:solidFill>
            <a:srgbClr val="1E293B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 Same Side Corner Rectangle 17"/>
          <p:cNvSpPr/>
          <p:nvPr/>
        </p:nvSpPr>
        <p:spPr>
          <a:xfrm rot="16200000">
            <a:off x="5323698" y="1629410"/>
            <a:ext cx="838200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867253" y="1503045"/>
            <a:ext cx="228594" cy="194309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210144" y="1428750"/>
            <a:ext cx="2600259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260"/>
              </a:spcAft>
            </a:pPr>
            <a:r>
              <a:rPr sz="1076" b="1">
                <a:solidFill>
                  <a:srgbClr val="FFFFFF"/>
                </a:solidFill>
                <a:latin typeface="Roboto"/>
              </a:rPr>
              <a:t>Works with Both Types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0144" y="1733550"/>
            <a:ext cx="2600259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CBD5E1"/>
                </a:solidFill>
                <a:latin typeface="Roboto"/>
              </a:rPr>
              <a:t>C-style arrays and std::array supported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76758" y="2266950"/>
            <a:ext cx="5848203" cy="838200"/>
          </a:xfrm>
          <a:prstGeom prst="roundRect">
            <a:avLst>
              <a:gd name="adj" fmla="val 18181"/>
            </a:avLst>
          </a:prstGeom>
          <a:solidFill>
            <a:srgbClr val="1E293B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 Same Side Corner Rectangle 22"/>
          <p:cNvSpPr/>
          <p:nvPr/>
        </p:nvSpPr>
        <p:spPr>
          <a:xfrm rot="16200000">
            <a:off x="5323698" y="2620010"/>
            <a:ext cx="838200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867253" y="2493645"/>
            <a:ext cx="228594" cy="194309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210144" y="2419349"/>
            <a:ext cx="2419289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260"/>
              </a:spcAft>
            </a:pPr>
            <a:r>
              <a:rPr sz="1076" b="1">
                <a:solidFill>
                  <a:srgbClr val="FFFFFF"/>
                </a:solidFill>
                <a:latin typeface="Roboto"/>
              </a:rPr>
              <a:t>No Manual Size Handling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0144" y="2724150"/>
            <a:ext cx="2419289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CBD5E1"/>
                </a:solidFill>
                <a:latin typeface="Roboto"/>
              </a:rPr>
              <a:t>Array size automatically determined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76758" y="3257550"/>
            <a:ext cx="5848203" cy="838200"/>
          </a:xfrm>
          <a:prstGeom prst="roundRect">
            <a:avLst>
              <a:gd name="adj" fmla="val 18181"/>
            </a:avLst>
          </a:prstGeom>
          <a:solidFill>
            <a:srgbClr val="1E293B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 Same Side Corner Rectangle 27"/>
          <p:cNvSpPr/>
          <p:nvPr/>
        </p:nvSpPr>
        <p:spPr>
          <a:xfrm rot="16200000">
            <a:off x="5323698" y="3610610"/>
            <a:ext cx="838200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867253" y="3484245"/>
            <a:ext cx="228594" cy="194309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210144" y="3409950"/>
            <a:ext cx="2095447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260"/>
              </a:spcAft>
            </a:pPr>
            <a:r>
              <a:rPr sz="1076" b="1">
                <a:solidFill>
                  <a:srgbClr val="FFFFFF"/>
                </a:solidFill>
                <a:latin typeface="Roboto"/>
              </a:rPr>
              <a:t>Bounds Safe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10144" y="3714750"/>
            <a:ext cx="2095447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CBD5E1"/>
                </a:solidFill>
                <a:latin typeface="Roboto"/>
              </a:rPr>
              <a:t>Prevents out-of-bounds access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76758" y="4248150"/>
            <a:ext cx="5848203" cy="838200"/>
          </a:xfrm>
          <a:prstGeom prst="roundRect">
            <a:avLst>
              <a:gd name="adj" fmla="val 18181"/>
            </a:avLst>
          </a:prstGeom>
          <a:solidFill>
            <a:srgbClr val="1E293B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 Same Side Corner Rectangle 32"/>
          <p:cNvSpPr/>
          <p:nvPr/>
        </p:nvSpPr>
        <p:spPr>
          <a:xfrm rot="16200000">
            <a:off x="5323698" y="4601210"/>
            <a:ext cx="838200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4" name="Picture 33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867253" y="4474845"/>
            <a:ext cx="228594" cy="194309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6210144" y="4400550"/>
            <a:ext cx="2838379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260"/>
              </a:spcAft>
            </a:pPr>
            <a:r>
              <a:rPr sz="1076" b="1">
                <a:solidFill>
                  <a:srgbClr val="FFFFFF"/>
                </a:solidFill>
                <a:latin typeface="Roboto"/>
              </a:rPr>
              <a:t>Array Decay Handled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10144" y="4705350"/>
            <a:ext cx="2838379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CBD5E1"/>
                </a:solidFill>
                <a:latin typeface="Roboto"/>
              </a:rPr>
              <a:t>Works even when arrays decay to pointers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676758" y="5314950"/>
            <a:ext cx="5848203" cy="1085850"/>
          </a:xfrm>
          <a:prstGeom prst="roundRect">
            <a:avLst>
              <a:gd name="adj" fmla="val 14035"/>
            </a:avLst>
          </a:prstGeom>
          <a:gradFill rotWithShape="1">
            <a:gsLst>
              <a:gs pos="0">
                <a:srgbClr val="3B82F6">
                  <a:alpha val="10000"/>
                </a:srgbClr>
              </a:gs>
              <a:gs pos="100000">
                <a:srgbClr val="F59E0B">
                  <a:alpha val="10000"/>
                </a:srgbClr>
              </a:gs>
            </a:gsLst>
            <a:lin ang="10800000" scaled="0"/>
          </a:gradFill>
          <a:ln w="8255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838679" y="5538311"/>
            <a:ext cx="228594" cy="162877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6181570" y="5467349"/>
            <a:ext cx="5181470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260"/>
              </a:spcAft>
            </a:pPr>
            <a:r>
              <a:rPr sz="1076" b="1">
                <a:solidFill>
                  <a:srgbClr val="FFFFFF"/>
                </a:solidFill>
                <a:latin typeface="Roboto"/>
              </a:rPr>
              <a:t>Performance Note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81570" y="5772150"/>
            <a:ext cx="5181470" cy="45720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CBD5E1"/>
                </a:solidFill>
                <a:latin typeface="Roboto"/>
              </a:rPr>
              <a:t>Range-based for loops are as fast as traditional iterator-based loops with modern compilers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781799"/>
            <a:ext cx="12191695" cy="76200"/>
          </a:xfrm>
          <a:prstGeom prst="rect">
            <a:avLst/>
          </a:prstGeom>
          <a:gradFill rotWithShape="1">
            <a:gsLst>
              <a:gs pos="0">
                <a:srgbClr val="3B82F6"/>
              </a:gs>
              <a:gs pos="50000">
                <a:srgbClr val="F59E0B"/>
              </a:gs>
              <a:gs pos="100000">
                <a:srgbClr val="3B82F6"/>
              </a:gs>
            </a:gsLst>
            <a:lin ang="108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F172A"/>
            </a:gs>
            <a:gs pos="50000">
              <a:srgbClr val="1E293B"/>
            </a:gs>
            <a:gs pos="100000">
              <a:srgbClr val="0F172A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66733" y="114300"/>
            <a:ext cx="3019349" cy="5715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  <a:spcAft>
                <a:spcPts val="0"/>
              </a:spcAft>
            </a:pPr>
            <a:r>
              <a:rPr sz="2392" b="1">
                <a:solidFill>
                  <a:srgbClr val="FFFFFF"/>
                </a:solidFill>
                <a:latin typeface="Roboto"/>
              </a:rPr>
              <a:t>Using References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666733" y="1980247"/>
            <a:ext cx="228594" cy="15430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71525" y="1924049"/>
            <a:ext cx="1828754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196" b="1">
                <a:solidFill>
                  <a:srgbClr val="FFFFFF"/>
                </a:solidFill>
                <a:latin typeface="Roboto"/>
              </a:rPr>
              <a:t>const T&amp; - Read-Only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6733" y="2324100"/>
            <a:ext cx="4990975" cy="1714500"/>
          </a:xfrm>
          <a:prstGeom prst="roundRect">
            <a:avLst>
              <a:gd name="adj" fmla="val 8888"/>
            </a:avLst>
          </a:prstGeom>
          <a:solidFill>
            <a:srgbClr val="1E293B">
              <a:alpha val="60000"/>
            </a:srgbClr>
          </a:solidFill>
          <a:ln w="825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8654" y="2486025"/>
            <a:ext cx="4667133" cy="523874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016" b="0">
                <a:solidFill>
                  <a:srgbClr val="F472B6"/>
                </a:solidFill>
                <a:latin typeface="Roboto Mono"/>
              </a:rPr>
              <a:t>std::vector</a:t>
            </a:r>
            <a:r>
              <a:rPr sz="1016" b="0">
                <a:solidFill>
                  <a:srgbClr val="E2E8F0"/>
                </a:solidFill>
                <a:latin typeface="Roboto Mono"/>
              </a:rPr>
              <a:t>&lt;</a:t>
            </a:r>
            <a:r>
              <a:rPr sz="1016" b="0">
                <a:solidFill>
                  <a:srgbClr val="F472B6"/>
                </a:solidFill>
                <a:latin typeface="Roboto Mono"/>
              </a:rPr>
              <a:t>std::string</a:t>
            </a:r>
            <a:r>
              <a:rPr sz="1016" b="0">
                <a:solidFill>
                  <a:srgbClr val="E2E8F0"/>
                </a:solidFill>
                <a:latin typeface="Roboto Mono"/>
              </a:rPr>
              <a:t>&gt; names = {</a:t>
            </a:r>
            <a:r>
              <a:rPr sz="1016" b="0">
                <a:solidFill>
                  <a:srgbClr val="FBBF24"/>
                </a:solidFill>
                <a:latin typeface="Roboto Mono"/>
              </a:rPr>
              <a:t>"Alice", "Bob"</a:t>
            </a:r>
            <a:r>
              <a:rPr sz="1016" b="0">
                <a:solidFill>
                  <a:srgbClr val="E2E8F0"/>
                </a:solidFill>
                <a:latin typeface="Roboto Mono"/>
              </a:rPr>
              <a:t>};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8654" y="3086100"/>
            <a:ext cx="4667133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755"/>
              </a:lnSpc>
              <a:spcBef>
                <a:spcPts val="520"/>
              </a:spcBef>
              <a:spcAft>
                <a:spcPts val="0"/>
              </a:spcAft>
            </a:pPr>
            <a:r>
              <a:rPr sz="1016" b="0">
                <a:solidFill>
                  <a:srgbClr val="F472B6"/>
                </a:solidFill>
                <a:latin typeface="Roboto Mono"/>
              </a:rPr>
              <a:t>for</a:t>
            </a:r>
            <a:r>
              <a:rPr sz="1016" b="0">
                <a:solidFill>
                  <a:srgbClr val="E2E8F0"/>
                </a:solidFill>
                <a:latin typeface="Roboto Mono"/>
              </a:rPr>
              <a:t> (</a:t>
            </a:r>
            <a:r>
              <a:rPr sz="1016" b="0">
                <a:solidFill>
                  <a:srgbClr val="F472B6"/>
                </a:solidFill>
                <a:latin typeface="Roboto Mono"/>
              </a:rPr>
              <a:t>const</a:t>
            </a:r>
            <a:r>
              <a:rPr sz="1016" b="0">
                <a:solidFill>
                  <a:srgbClr val="E2E8F0"/>
                </a:solidFill>
                <a:latin typeface="Roboto Mono"/>
              </a:rPr>
              <a:t> </a:t>
            </a:r>
            <a:r>
              <a:rPr sz="1016" b="0">
                <a:solidFill>
                  <a:srgbClr val="F472B6"/>
                </a:solidFill>
                <a:latin typeface="Roboto Mono"/>
              </a:rPr>
              <a:t>auto</a:t>
            </a:r>
            <a:r>
              <a:rPr sz="1016" b="0">
                <a:solidFill>
                  <a:srgbClr val="E2E8F0"/>
                </a:solidFill>
                <a:latin typeface="Roboto Mono"/>
              </a:rPr>
              <a:t>&amp; name : names) {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8654" y="3352800"/>
            <a:ext cx="4667133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016" b="0">
                <a:solidFill>
                  <a:srgbClr val="F472B6"/>
                </a:solidFill>
                <a:latin typeface="Roboto Mono"/>
              </a:rPr>
              <a:t>std::cout</a:t>
            </a:r>
            <a:r>
              <a:rPr sz="1016" b="0">
                <a:solidFill>
                  <a:srgbClr val="E2E8F0"/>
                </a:solidFill>
                <a:latin typeface="Roboto Mono"/>
              </a:rPr>
              <a:t> &lt;&lt; name &lt;&lt; </a:t>
            </a:r>
            <a:r>
              <a:rPr sz="1016" b="0">
                <a:solidFill>
                  <a:srgbClr val="FBBF24"/>
                </a:solidFill>
                <a:latin typeface="Roboto Mono"/>
              </a:rPr>
              <a:t>' '</a:t>
            </a:r>
            <a:r>
              <a:rPr sz="1016" b="0">
                <a:solidFill>
                  <a:srgbClr val="E2E8F0"/>
                </a:solidFill>
                <a:latin typeface="Roboto Mono"/>
              </a:rPr>
              <a:t>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8654" y="3619499"/>
            <a:ext cx="4667133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016" b="0">
                <a:solidFill>
                  <a:srgbClr val="E2E8F0"/>
                </a:solidFill>
                <a:latin typeface="Roboto Mono"/>
              </a:rPr>
              <a:t>}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66733" y="4292917"/>
            <a:ext cx="228594" cy="1771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71525" y="4248150"/>
            <a:ext cx="1495387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196" b="1">
                <a:solidFill>
                  <a:srgbClr val="FFFFFF"/>
                </a:solidFill>
                <a:latin typeface="Roboto"/>
              </a:rPr>
              <a:t>T&amp; - Modification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6733" y="4648200"/>
            <a:ext cx="4990975" cy="1114425"/>
          </a:xfrm>
          <a:prstGeom prst="roundRect">
            <a:avLst>
              <a:gd name="adj" fmla="val 13675"/>
            </a:avLst>
          </a:prstGeom>
          <a:solidFill>
            <a:srgbClr val="1E293B">
              <a:alpha val="60000"/>
            </a:srgbClr>
          </a:solidFill>
          <a:ln w="825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8654" y="4810124"/>
            <a:ext cx="4667133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016" b="0">
                <a:solidFill>
                  <a:srgbClr val="F472B6"/>
                </a:solidFill>
                <a:latin typeface="Roboto Mono"/>
              </a:rPr>
              <a:t>for</a:t>
            </a:r>
            <a:r>
              <a:rPr sz="1016" b="0">
                <a:solidFill>
                  <a:srgbClr val="E2E8F0"/>
                </a:solidFill>
                <a:latin typeface="Roboto Mono"/>
              </a:rPr>
              <a:t> (</a:t>
            </a:r>
            <a:r>
              <a:rPr sz="1016" b="0">
                <a:solidFill>
                  <a:srgbClr val="F472B6"/>
                </a:solidFill>
                <a:latin typeface="Roboto Mono"/>
              </a:rPr>
              <a:t>auto</a:t>
            </a:r>
            <a:r>
              <a:rPr sz="1016" b="0">
                <a:solidFill>
                  <a:srgbClr val="E2E8F0"/>
                </a:solidFill>
                <a:latin typeface="Roboto Mono"/>
              </a:rPr>
              <a:t>&amp; name : names) {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8654" y="5076825"/>
            <a:ext cx="4667133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016" b="0">
                <a:solidFill>
                  <a:srgbClr val="E2E8F0"/>
                </a:solidFill>
                <a:latin typeface="Roboto Mono"/>
              </a:rPr>
              <a:t>name = </a:t>
            </a:r>
            <a:r>
              <a:rPr sz="1016" b="0">
                <a:solidFill>
                  <a:srgbClr val="FBBF24"/>
                </a:solidFill>
                <a:latin typeface="Roboto Mono"/>
              </a:rPr>
              <a:t>"Hello "</a:t>
            </a:r>
            <a:r>
              <a:rPr sz="1016" b="0">
                <a:solidFill>
                  <a:srgbClr val="E2E8F0"/>
                </a:solidFill>
                <a:latin typeface="Roboto Mono"/>
              </a:rPr>
              <a:t> + name;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8654" y="5334000"/>
            <a:ext cx="4667133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016" b="0">
                <a:solidFill>
                  <a:srgbClr val="E2E8F0"/>
                </a:solidFill>
                <a:latin typeface="Roboto Mono"/>
              </a:rPr>
              <a:t>}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38699" y="1295399"/>
            <a:ext cx="5486262" cy="2476499"/>
          </a:xfrm>
          <a:prstGeom prst="roundRect">
            <a:avLst>
              <a:gd name="adj" fmla="val 6153"/>
            </a:avLst>
          </a:prstGeom>
          <a:solidFill>
            <a:srgbClr val="1E293B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038699" y="1295399"/>
            <a:ext cx="5486262" cy="2476499"/>
          </a:xfrm>
          <a:prstGeom prst="roundRect">
            <a:avLst/>
          </a:prstGeom>
          <a:blipFill>
            <a:blip r:embed="rId4"/>
            <a:stretch>
              <a:fillRect/>
            </a:stretch>
          </a:blip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038699" y="3962399"/>
            <a:ext cx="5486262" cy="514350"/>
          </a:xfrm>
          <a:prstGeom prst="roundRect">
            <a:avLst>
              <a:gd name="adj" fmla="val 29629"/>
            </a:avLst>
          </a:prstGeom>
          <a:solidFill>
            <a:srgbClr val="1E293B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 Same Side Corner Rectangle 18"/>
          <p:cNvSpPr/>
          <p:nvPr/>
        </p:nvSpPr>
        <p:spPr>
          <a:xfrm rot="16200000">
            <a:off x="5847564" y="4153534"/>
            <a:ext cx="514350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191095" y="4147857"/>
            <a:ext cx="190495" cy="162485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495887" y="4076699"/>
            <a:ext cx="3105072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CBD5E1"/>
                </a:solidFill>
                <a:latin typeface="Roboto"/>
              </a:rPr>
              <a:t>Avoid unnecessary copies - reference is faster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038699" y="4591050"/>
            <a:ext cx="5486262" cy="514350"/>
          </a:xfrm>
          <a:prstGeom prst="roundRect">
            <a:avLst>
              <a:gd name="adj" fmla="val 29629"/>
            </a:avLst>
          </a:prstGeom>
          <a:solidFill>
            <a:srgbClr val="1E293B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 Same Side Corner Rectangle 22"/>
          <p:cNvSpPr/>
          <p:nvPr/>
        </p:nvSpPr>
        <p:spPr>
          <a:xfrm rot="16200000">
            <a:off x="5847564" y="4782185"/>
            <a:ext cx="514350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191095" y="4776507"/>
            <a:ext cx="190495" cy="162485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495887" y="4705350"/>
            <a:ext cx="2933626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CBD5E1"/>
                </a:solidFill>
                <a:latin typeface="Roboto"/>
              </a:rPr>
              <a:t>Essential for large objects (strings, vectors)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38699" y="5219700"/>
            <a:ext cx="5486262" cy="514350"/>
          </a:xfrm>
          <a:prstGeom prst="roundRect">
            <a:avLst>
              <a:gd name="adj" fmla="val 29629"/>
            </a:avLst>
          </a:prstGeom>
          <a:solidFill>
            <a:srgbClr val="1E293B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 Same Side Corner Rectangle 26"/>
          <p:cNvSpPr/>
          <p:nvPr/>
        </p:nvSpPr>
        <p:spPr>
          <a:xfrm rot="16200000">
            <a:off x="5847564" y="5410835"/>
            <a:ext cx="514350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191095" y="5405157"/>
            <a:ext cx="190495" cy="162485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495887" y="5334000"/>
            <a:ext cx="2981250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CBD5E1"/>
                </a:solidFill>
                <a:latin typeface="Roboto"/>
              </a:rPr>
              <a:t>const&amp; ensures element cannot be modified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038699" y="5848350"/>
            <a:ext cx="5486262" cy="514350"/>
          </a:xfrm>
          <a:prstGeom prst="roundRect">
            <a:avLst>
              <a:gd name="adj" fmla="val 29629"/>
            </a:avLst>
          </a:prstGeom>
          <a:solidFill>
            <a:srgbClr val="1E293B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 Same Side Corner Rectangle 30"/>
          <p:cNvSpPr/>
          <p:nvPr/>
        </p:nvSpPr>
        <p:spPr>
          <a:xfrm rot="16200000">
            <a:off x="5847564" y="6039485"/>
            <a:ext cx="514350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191095" y="6033807"/>
            <a:ext cx="190495" cy="162485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495887" y="5962650"/>
            <a:ext cx="2724081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CBD5E1"/>
                </a:solidFill>
                <a:latin typeface="Roboto"/>
              </a:rPr>
              <a:t>Non-const&amp; allows in-place modification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781799"/>
            <a:ext cx="12191695" cy="76200"/>
          </a:xfrm>
          <a:prstGeom prst="rect">
            <a:avLst/>
          </a:prstGeom>
          <a:gradFill rotWithShape="1">
            <a:gsLst>
              <a:gs pos="0">
                <a:srgbClr val="3B82F6"/>
              </a:gs>
              <a:gs pos="50000">
                <a:srgbClr val="F59E0B"/>
              </a:gs>
              <a:gs pos="100000">
                <a:srgbClr val="3B82F6"/>
              </a:gs>
            </a:gsLst>
            <a:lin ang="108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F172A"/>
            </a:gs>
            <a:gs pos="50000">
              <a:srgbClr val="1E293B"/>
            </a:gs>
            <a:gs pos="100000">
              <a:srgbClr val="0F172A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66733" y="114300"/>
            <a:ext cx="1876378" cy="5715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  <a:spcAft>
                <a:spcPts val="0"/>
              </a:spcAft>
            </a:pPr>
            <a:r>
              <a:rPr sz="2392" b="1">
                <a:solidFill>
                  <a:srgbClr val="FFFFFF"/>
                </a:solidFill>
                <a:latin typeface="Roboto"/>
              </a:rPr>
              <a:t>Using Auto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666733" y="1967864"/>
            <a:ext cx="228594" cy="21717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71525" y="1943100"/>
            <a:ext cx="2066873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196" b="1">
                <a:solidFill>
                  <a:srgbClr val="FFFFFF"/>
                </a:solidFill>
                <a:latin typeface="Roboto"/>
              </a:rPr>
              <a:t>Simplify Complex Types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6733" y="2343150"/>
            <a:ext cx="5238619" cy="1390650"/>
          </a:xfrm>
          <a:prstGeom prst="roundRect">
            <a:avLst>
              <a:gd name="adj" fmla="val 10958"/>
            </a:avLst>
          </a:prstGeom>
          <a:solidFill>
            <a:srgbClr val="1E293B">
              <a:alpha val="60000"/>
            </a:srgbClr>
          </a:solidFill>
          <a:ln w="825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8654" y="2514600"/>
            <a:ext cx="4914777" cy="24764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F472B6"/>
                </a:solidFill>
                <a:latin typeface="Roboto Mono"/>
              </a:rPr>
              <a:t>std::map</a:t>
            </a:r>
            <a:r>
              <a:rPr sz="956" b="0">
                <a:solidFill>
                  <a:srgbClr val="E2E8F0"/>
                </a:solidFill>
                <a:latin typeface="Roboto Mono"/>
              </a:rPr>
              <a:t>&lt;</a:t>
            </a:r>
            <a:r>
              <a:rPr sz="956" b="0">
                <a:solidFill>
                  <a:srgbClr val="60A5FA"/>
                </a:solidFill>
                <a:latin typeface="Roboto Mono"/>
              </a:rPr>
              <a:t>std::string</a:t>
            </a:r>
            <a:r>
              <a:rPr sz="956" b="0">
                <a:solidFill>
                  <a:srgbClr val="E2E8F0"/>
                </a:solidFill>
                <a:latin typeface="Roboto Mono"/>
              </a:rPr>
              <a:t>, </a:t>
            </a:r>
            <a:r>
              <a:rPr sz="956" b="0">
                <a:solidFill>
                  <a:srgbClr val="F472B6"/>
                </a:solidFill>
                <a:latin typeface="Roboto Mono"/>
              </a:rPr>
              <a:t>std::vector</a:t>
            </a:r>
            <a:r>
              <a:rPr sz="956" b="0">
                <a:solidFill>
                  <a:srgbClr val="E2E8F0"/>
                </a:solidFill>
                <a:latin typeface="Roboto Mono"/>
              </a:rPr>
              <a:t>&lt;</a:t>
            </a:r>
            <a:r>
              <a:rPr sz="956" b="0">
                <a:solidFill>
                  <a:srgbClr val="60A5FA"/>
                </a:solidFill>
                <a:latin typeface="Roboto Mono"/>
              </a:rPr>
              <a:t>int</a:t>
            </a:r>
            <a:r>
              <a:rPr sz="956" b="0">
                <a:solidFill>
                  <a:srgbClr val="E2E8F0"/>
                </a:solidFill>
                <a:latin typeface="Roboto Mono"/>
              </a:rPr>
              <a:t>&gt;&gt; data;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8654" y="2838450"/>
            <a:ext cx="4914777" cy="24764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690"/>
              </a:lnSpc>
              <a:spcBef>
                <a:spcPts val="520"/>
              </a:spcBef>
              <a:spcAft>
                <a:spcPts val="0"/>
              </a:spcAft>
            </a:pPr>
            <a:r>
              <a:rPr sz="956" b="0">
                <a:solidFill>
                  <a:srgbClr val="F472B6"/>
                </a:solidFill>
                <a:latin typeface="Roboto Mono"/>
              </a:rPr>
              <a:t>for</a:t>
            </a:r>
            <a:r>
              <a:rPr sz="956" b="0">
                <a:solidFill>
                  <a:srgbClr val="E2E8F0"/>
                </a:solidFill>
                <a:latin typeface="Roboto Mono"/>
              </a:rPr>
              <a:t> (</a:t>
            </a:r>
            <a:r>
              <a:rPr sz="956" b="0">
                <a:solidFill>
                  <a:srgbClr val="F472B6"/>
                </a:solidFill>
                <a:latin typeface="Roboto Mono"/>
              </a:rPr>
              <a:t>const</a:t>
            </a:r>
            <a:r>
              <a:rPr sz="956" b="0">
                <a:solidFill>
                  <a:srgbClr val="E2E8F0"/>
                </a:solidFill>
                <a:latin typeface="Roboto Mono"/>
              </a:rPr>
              <a:t> </a:t>
            </a:r>
            <a:r>
              <a:rPr sz="956" b="0">
                <a:solidFill>
                  <a:srgbClr val="F472B6"/>
                </a:solidFill>
                <a:latin typeface="Roboto Mono"/>
              </a:rPr>
              <a:t>auto</a:t>
            </a:r>
            <a:r>
              <a:rPr sz="956" b="0">
                <a:solidFill>
                  <a:srgbClr val="E2E8F0"/>
                </a:solidFill>
                <a:latin typeface="Roboto Mono"/>
              </a:rPr>
              <a:t>&amp; [</a:t>
            </a:r>
            <a:r>
              <a:rPr sz="956" b="0">
                <a:solidFill>
                  <a:srgbClr val="60A5FA"/>
                </a:solidFill>
                <a:latin typeface="Roboto Mono"/>
              </a:rPr>
              <a:t>key</a:t>
            </a:r>
            <a:r>
              <a:rPr sz="956" b="0">
                <a:solidFill>
                  <a:srgbClr val="E2E8F0"/>
                </a:solidFill>
                <a:latin typeface="Roboto Mono"/>
              </a:rPr>
              <a:t>, </a:t>
            </a:r>
            <a:r>
              <a:rPr sz="956" b="0">
                <a:solidFill>
                  <a:srgbClr val="60A5FA"/>
                </a:solidFill>
                <a:latin typeface="Roboto Mono"/>
              </a:rPr>
              <a:t>values</a:t>
            </a:r>
            <a:r>
              <a:rPr sz="956" b="0">
                <a:solidFill>
                  <a:srgbClr val="E2E8F0"/>
                </a:solidFill>
                <a:latin typeface="Roboto Mono"/>
              </a:rPr>
              <a:t>] : data) {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446" y="3105149"/>
            <a:ext cx="1924001" cy="2000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94A3B8"/>
                </a:solidFill>
                <a:latin typeface="Roboto Mono"/>
              </a:rPr>
              <a:t>// Clean and readable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8654" y="3333749"/>
            <a:ext cx="4914777" cy="24764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E2E8F0"/>
                </a:solidFill>
                <a:latin typeface="Roboto Mono"/>
              </a:rPr>
              <a:t>}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66733" y="3993832"/>
            <a:ext cx="228594" cy="16573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71525" y="3943350"/>
            <a:ext cx="1647783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196" b="1">
                <a:solidFill>
                  <a:srgbClr val="FFFFFF"/>
                </a:solidFill>
                <a:latin typeface="Roboto"/>
              </a:rPr>
              <a:t>Less Verbose Code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6733" y="4343400"/>
            <a:ext cx="5238619" cy="1390650"/>
          </a:xfrm>
          <a:prstGeom prst="roundRect">
            <a:avLst>
              <a:gd name="adj" fmla="val 10958"/>
            </a:avLst>
          </a:prstGeom>
          <a:solidFill>
            <a:srgbClr val="1E293B">
              <a:alpha val="60000"/>
            </a:srgbClr>
          </a:solidFill>
          <a:ln w="825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8654" y="4514850"/>
            <a:ext cx="4914777" cy="24764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F472B6"/>
                </a:solidFill>
                <a:latin typeface="Roboto Mono"/>
              </a:rPr>
              <a:t>std::vector</a:t>
            </a:r>
            <a:r>
              <a:rPr sz="956" b="0">
                <a:solidFill>
                  <a:srgbClr val="E2E8F0"/>
                </a:solidFill>
                <a:latin typeface="Roboto Mono"/>
              </a:rPr>
              <a:t>&lt;</a:t>
            </a:r>
            <a:r>
              <a:rPr sz="956" b="0">
                <a:solidFill>
                  <a:srgbClr val="F472B6"/>
                </a:solidFill>
                <a:latin typeface="Roboto Mono"/>
              </a:rPr>
              <a:t>std::complex</a:t>
            </a:r>
            <a:r>
              <a:rPr sz="956" b="0">
                <a:solidFill>
                  <a:srgbClr val="E2E8F0"/>
                </a:solidFill>
                <a:latin typeface="Roboto Mono"/>
              </a:rPr>
              <a:t>&lt;</a:t>
            </a:r>
            <a:r>
              <a:rPr sz="956" b="0">
                <a:solidFill>
                  <a:srgbClr val="60A5FA"/>
                </a:solidFill>
                <a:latin typeface="Roboto Mono"/>
              </a:rPr>
              <a:t>double</a:t>
            </a:r>
            <a:r>
              <a:rPr sz="956" b="0">
                <a:solidFill>
                  <a:srgbClr val="E2E8F0"/>
                </a:solidFill>
                <a:latin typeface="Roboto Mono"/>
              </a:rPr>
              <a:t>&gt;&gt; nums;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8654" y="4838699"/>
            <a:ext cx="4914777" cy="24764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690"/>
              </a:lnSpc>
              <a:spcBef>
                <a:spcPts val="520"/>
              </a:spcBef>
              <a:spcAft>
                <a:spcPts val="0"/>
              </a:spcAft>
            </a:pPr>
            <a:r>
              <a:rPr sz="956" b="0">
                <a:solidFill>
                  <a:srgbClr val="F472B6"/>
                </a:solidFill>
                <a:latin typeface="Roboto Mono"/>
              </a:rPr>
              <a:t>for</a:t>
            </a:r>
            <a:r>
              <a:rPr sz="956" b="0">
                <a:solidFill>
                  <a:srgbClr val="E2E8F0"/>
                </a:solidFill>
                <a:latin typeface="Roboto Mono"/>
              </a:rPr>
              <a:t> (</a:t>
            </a:r>
            <a:r>
              <a:rPr sz="956" b="0">
                <a:solidFill>
                  <a:srgbClr val="F472B6"/>
                </a:solidFill>
                <a:latin typeface="Roboto Mono"/>
              </a:rPr>
              <a:t>const</a:t>
            </a:r>
            <a:r>
              <a:rPr sz="956" b="0">
                <a:solidFill>
                  <a:srgbClr val="E2E8F0"/>
                </a:solidFill>
                <a:latin typeface="Roboto Mono"/>
              </a:rPr>
              <a:t> </a:t>
            </a:r>
            <a:r>
              <a:rPr sz="956" b="0">
                <a:solidFill>
                  <a:srgbClr val="F472B6"/>
                </a:solidFill>
                <a:latin typeface="Roboto Mono"/>
              </a:rPr>
              <a:t>auto</a:t>
            </a:r>
            <a:r>
              <a:rPr sz="956" b="0">
                <a:solidFill>
                  <a:srgbClr val="E2E8F0"/>
                </a:solidFill>
                <a:latin typeface="Roboto Mono"/>
              </a:rPr>
              <a:t>&amp; num : nums) {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446" y="5105400"/>
            <a:ext cx="3105072" cy="2000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94A3B8"/>
                </a:solidFill>
                <a:latin typeface="Roboto Mono"/>
              </a:rPr>
              <a:t>// Much shorter than explicit type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8654" y="5334000"/>
            <a:ext cx="4914777" cy="24764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E2E8F0"/>
                </a:solidFill>
                <a:latin typeface="Roboto Mono"/>
              </a:rPr>
              <a:t>}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86342" y="1381124"/>
            <a:ext cx="5238619" cy="838200"/>
          </a:xfrm>
          <a:prstGeom prst="roundRect">
            <a:avLst>
              <a:gd name="adj" fmla="val 18181"/>
            </a:avLst>
          </a:prstGeom>
          <a:solidFill>
            <a:srgbClr val="1E293B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 Same Side Corner Rectangle 17"/>
          <p:cNvSpPr/>
          <p:nvPr/>
        </p:nvSpPr>
        <p:spPr>
          <a:xfrm rot="16200000">
            <a:off x="5933282" y="1734184"/>
            <a:ext cx="838200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476838" y="1607820"/>
            <a:ext cx="228594" cy="194309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819729" y="1533525"/>
            <a:ext cx="2552636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260"/>
              </a:spcAft>
            </a:pPr>
            <a:r>
              <a:rPr sz="1076" b="1">
                <a:solidFill>
                  <a:srgbClr val="FFFFFF"/>
                </a:solidFill>
                <a:latin typeface="Roboto"/>
              </a:rPr>
              <a:t>Reduces Verbosity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9729" y="1838324"/>
            <a:ext cx="2552636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CBD5E1"/>
                </a:solidFill>
                <a:latin typeface="Roboto"/>
              </a:rPr>
              <a:t>No need to write complex type names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86342" y="2371725"/>
            <a:ext cx="5238619" cy="838200"/>
          </a:xfrm>
          <a:prstGeom prst="roundRect">
            <a:avLst>
              <a:gd name="adj" fmla="val 18181"/>
            </a:avLst>
          </a:prstGeom>
          <a:solidFill>
            <a:srgbClr val="1E293B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 Same Side Corner Rectangle 22"/>
          <p:cNvSpPr/>
          <p:nvPr/>
        </p:nvSpPr>
        <p:spPr>
          <a:xfrm rot="16200000">
            <a:off x="5933282" y="2724785"/>
            <a:ext cx="838200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476838" y="2598420"/>
            <a:ext cx="228594" cy="194309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819729" y="2524125"/>
            <a:ext cx="3019349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260"/>
              </a:spcAft>
            </a:pPr>
            <a:r>
              <a:rPr sz="1076" b="1">
                <a:solidFill>
                  <a:srgbClr val="FFFFFF"/>
                </a:solidFill>
                <a:latin typeface="Roboto"/>
              </a:rPr>
              <a:t>Prevents Type Errors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19729" y="2828925"/>
            <a:ext cx="3019349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CBD5E1"/>
                </a:solidFill>
                <a:latin typeface="Roboto"/>
              </a:rPr>
              <a:t>Compiler deduces correct type automatically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86342" y="3362324"/>
            <a:ext cx="5238619" cy="838200"/>
          </a:xfrm>
          <a:prstGeom prst="roundRect">
            <a:avLst>
              <a:gd name="adj" fmla="val 18181"/>
            </a:avLst>
          </a:prstGeom>
          <a:solidFill>
            <a:srgbClr val="1E293B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 Same Side Corner Rectangle 27"/>
          <p:cNvSpPr/>
          <p:nvPr/>
        </p:nvSpPr>
        <p:spPr>
          <a:xfrm rot="16200000">
            <a:off x="5933282" y="3715384"/>
            <a:ext cx="838200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476838" y="3589020"/>
            <a:ext cx="228594" cy="194309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819729" y="3514725"/>
            <a:ext cx="2400239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260"/>
              </a:spcAft>
            </a:pPr>
            <a:r>
              <a:rPr sz="1076" b="1">
                <a:solidFill>
                  <a:srgbClr val="FFFFFF"/>
                </a:solidFill>
                <a:latin typeface="Roboto"/>
              </a:rPr>
              <a:t>Easier Maintenance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19729" y="3819524"/>
            <a:ext cx="2400239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CBD5E1"/>
                </a:solidFill>
                <a:latin typeface="Roboto"/>
              </a:rPr>
              <a:t>Type changes automatically update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86342" y="4352924"/>
            <a:ext cx="5238619" cy="838200"/>
          </a:xfrm>
          <a:prstGeom prst="roundRect">
            <a:avLst>
              <a:gd name="adj" fmla="val 18181"/>
            </a:avLst>
          </a:prstGeom>
          <a:solidFill>
            <a:srgbClr val="1E293B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 Same Side Corner Rectangle 32"/>
          <p:cNvSpPr/>
          <p:nvPr/>
        </p:nvSpPr>
        <p:spPr>
          <a:xfrm rot="16200000">
            <a:off x="5933282" y="4705984"/>
            <a:ext cx="838200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4" name="Picture 33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476838" y="4579620"/>
            <a:ext cx="228594" cy="194309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6819729" y="4505325"/>
            <a:ext cx="1752556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260"/>
              </a:spcAft>
            </a:pPr>
            <a:r>
              <a:rPr sz="1076" b="1">
                <a:solidFill>
                  <a:srgbClr val="FFFFFF"/>
                </a:solidFill>
                <a:latin typeface="Roboto"/>
              </a:rPr>
              <a:t>Works with Templates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19729" y="4810124"/>
            <a:ext cx="1752556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CBD5E1"/>
                </a:solidFill>
                <a:latin typeface="Roboto"/>
              </a:rPr>
              <a:t>Essential for generic code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86342" y="5419725"/>
            <a:ext cx="5238619" cy="866775"/>
          </a:xfrm>
          <a:prstGeom prst="roundRect">
            <a:avLst>
              <a:gd name="adj" fmla="val 17582"/>
            </a:avLst>
          </a:prstGeom>
          <a:gradFill rotWithShape="1">
            <a:gsLst>
              <a:gs pos="0">
                <a:srgbClr val="3B82F6">
                  <a:alpha val="10000"/>
                </a:srgbClr>
              </a:gs>
              <a:gs pos="100000">
                <a:srgbClr val="F59E0B">
                  <a:alpha val="10000"/>
                </a:srgbClr>
              </a:gs>
            </a:gsLst>
            <a:lin ang="10800000" scaled="0"/>
          </a:gradFill>
          <a:ln w="8255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448263" y="5636895"/>
            <a:ext cx="228594" cy="194309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6791155" y="5581649"/>
            <a:ext cx="3771805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260"/>
              </a:spcAft>
            </a:pPr>
            <a:r>
              <a:rPr sz="1076" b="1">
                <a:solidFill>
                  <a:srgbClr val="FFFFFF"/>
                </a:solidFill>
                <a:latin typeface="Roboto"/>
              </a:rPr>
              <a:t>Best Practice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91155" y="5886450"/>
            <a:ext cx="3771805" cy="2381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CBD5E1"/>
                </a:solidFill>
                <a:latin typeface="Roboto"/>
              </a:rPr>
              <a:t>Use </a:t>
            </a:r>
            <a:r>
              <a:rPr sz="956" b="0">
                <a:solidFill>
                  <a:srgbClr val="F472B6"/>
                </a:solidFill>
                <a:latin typeface="Roboto Mono"/>
              </a:rPr>
              <a:t>const auto&amp;</a:t>
            </a:r>
            <a:r>
              <a:rPr sz="956" b="0">
                <a:solidFill>
                  <a:srgbClr val="CBD5E1"/>
                </a:solidFill>
                <a:latin typeface="Roboto"/>
              </a:rPr>
              <a:t> for read-only access to avoid copies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781799"/>
            <a:ext cx="12191695" cy="76200"/>
          </a:xfrm>
          <a:prstGeom prst="rect">
            <a:avLst/>
          </a:prstGeom>
          <a:gradFill rotWithShape="1">
            <a:gsLst>
              <a:gs pos="0">
                <a:srgbClr val="3B82F6"/>
              </a:gs>
              <a:gs pos="50000">
                <a:srgbClr val="F59E0B"/>
              </a:gs>
              <a:gs pos="100000">
                <a:srgbClr val="3B82F6"/>
              </a:gs>
            </a:gsLst>
            <a:lin ang="108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F172A"/>
            </a:gs>
            <a:gs pos="50000">
              <a:srgbClr val="1E293B"/>
            </a:gs>
            <a:gs pos="100000">
              <a:srgbClr val="0F172A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66733" y="114300"/>
            <a:ext cx="6791155" cy="5715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  <a:spcAft>
                <a:spcPts val="0"/>
              </a:spcAft>
            </a:pPr>
            <a:r>
              <a:rPr sz="2392" b="1">
                <a:solidFill>
                  <a:srgbClr val="FFFFFF"/>
                </a:solidFill>
                <a:latin typeface="Roboto"/>
              </a:rPr>
              <a:t>Range-Based Loops with Custom Types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666733" y="1566386"/>
            <a:ext cx="228594" cy="22002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71525" y="1543050"/>
            <a:ext cx="1200119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196" b="1">
                <a:solidFill>
                  <a:srgbClr val="FFFFFF"/>
                </a:solidFill>
                <a:latin typeface="Roboto"/>
              </a:rPr>
              <a:t>Requirements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6733" y="1981199"/>
            <a:ext cx="4990975" cy="723900"/>
          </a:xfrm>
          <a:prstGeom prst="roundRect">
            <a:avLst>
              <a:gd name="adj" fmla="val 21052"/>
            </a:avLst>
          </a:prstGeom>
          <a:solidFill>
            <a:srgbClr val="1E293B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 Same Side Corner Rectangle 5"/>
          <p:cNvSpPr/>
          <p:nvPr/>
        </p:nvSpPr>
        <p:spPr>
          <a:xfrm rot="16200000">
            <a:off x="370823" y="2277109"/>
            <a:ext cx="723900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9129" y="2177863"/>
            <a:ext cx="190495" cy="14007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23921" y="2095499"/>
            <a:ext cx="1800179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076" b="1">
                <a:solidFill>
                  <a:srgbClr val="FFFFFF"/>
                </a:solidFill>
                <a:latin typeface="Roboto"/>
              </a:rPr>
              <a:t>Member Functions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3921" y="2362199"/>
            <a:ext cx="1800179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CBD5E1"/>
                </a:solidFill>
                <a:latin typeface="Roboto"/>
              </a:rPr>
              <a:t>begin() and end() methods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6733" y="2819399"/>
            <a:ext cx="4990975" cy="723900"/>
          </a:xfrm>
          <a:prstGeom prst="roundRect">
            <a:avLst>
              <a:gd name="adj" fmla="val 21052"/>
            </a:avLst>
          </a:prstGeom>
          <a:solidFill>
            <a:srgbClr val="1E293B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 Same Side Corner Rectangle 10"/>
          <p:cNvSpPr/>
          <p:nvPr/>
        </p:nvSpPr>
        <p:spPr>
          <a:xfrm rot="16200000">
            <a:off x="370823" y="3115309"/>
            <a:ext cx="723900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19129" y="3032872"/>
            <a:ext cx="190495" cy="10645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123921" y="2933699"/>
            <a:ext cx="1933526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076" b="1">
                <a:solidFill>
                  <a:srgbClr val="FFFFFF"/>
                </a:solidFill>
                <a:latin typeface="Roboto"/>
              </a:rPr>
              <a:t>Free Functions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3921" y="3200400"/>
            <a:ext cx="1933526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CBD5E1"/>
                </a:solidFill>
                <a:latin typeface="Roboto"/>
              </a:rPr>
              <a:t>ADL: begin(obj) and end(obj)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6733" y="3771900"/>
            <a:ext cx="4990975" cy="2381250"/>
          </a:xfrm>
          <a:prstGeom prst="roundRect">
            <a:avLst>
              <a:gd name="adj" fmla="val 6400"/>
            </a:avLst>
          </a:prstGeom>
          <a:solidFill>
            <a:srgbClr val="1E293B">
              <a:alpha val="60000"/>
            </a:srgbClr>
          </a:solidFill>
          <a:ln w="825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8654" y="3924299"/>
            <a:ext cx="4667133" cy="24764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F472B6"/>
                </a:solidFill>
                <a:latin typeface="Roboto Mono"/>
              </a:rPr>
              <a:t>class</a:t>
            </a:r>
            <a:r>
              <a:rPr sz="956" b="0">
                <a:solidFill>
                  <a:srgbClr val="E2E8F0"/>
                </a:solidFill>
                <a:latin typeface="Roboto Mono"/>
              </a:rPr>
              <a:t> MyContainer {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8654" y="4171950"/>
            <a:ext cx="4667133" cy="24764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F472B6"/>
                </a:solidFill>
                <a:latin typeface="Roboto Mono"/>
              </a:rPr>
              <a:t>public</a:t>
            </a:r>
            <a:r>
              <a:rPr sz="956" b="0">
                <a:solidFill>
                  <a:srgbClr val="E2E8F0"/>
                </a:solidFill>
                <a:latin typeface="Roboto Mono"/>
              </a:rPr>
              <a:t>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8654" y="4419600"/>
            <a:ext cx="4667133" cy="24764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60A5FA"/>
                </a:solidFill>
                <a:latin typeface="Roboto Mono"/>
              </a:rPr>
              <a:t>int*</a:t>
            </a:r>
            <a:r>
              <a:rPr sz="956" b="0">
                <a:solidFill>
                  <a:srgbClr val="E2E8F0"/>
                </a:solidFill>
                <a:latin typeface="Roboto Mono"/>
              </a:rPr>
              <a:t> </a:t>
            </a:r>
            <a:r>
              <a:rPr sz="956" b="0">
                <a:solidFill>
                  <a:srgbClr val="F472B6"/>
                </a:solidFill>
                <a:latin typeface="Roboto Mono"/>
              </a:rPr>
              <a:t>begin</a:t>
            </a:r>
            <a:r>
              <a:rPr sz="956" b="0">
                <a:solidFill>
                  <a:srgbClr val="E2E8F0"/>
                </a:solidFill>
                <a:latin typeface="Roboto Mono"/>
              </a:rPr>
              <a:t>();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8654" y="4667249"/>
            <a:ext cx="4667133" cy="24764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60A5FA"/>
                </a:solidFill>
                <a:latin typeface="Roboto Mono"/>
              </a:rPr>
              <a:t>int*</a:t>
            </a:r>
            <a:r>
              <a:rPr sz="956" b="0">
                <a:solidFill>
                  <a:srgbClr val="E2E8F0"/>
                </a:solidFill>
                <a:latin typeface="Roboto Mono"/>
              </a:rPr>
              <a:t> </a:t>
            </a:r>
            <a:r>
              <a:rPr sz="956" b="0">
                <a:solidFill>
                  <a:srgbClr val="F472B6"/>
                </a:solidFill>
                <a:latin typeface="Roboto Mono"/>
              </a:rPr>
              <a:t>end</a:t>
            </a:r>
            <a:r>
              <a:rPr sz="956" b="0">
                <a:solidFill>
                  <a:srgbClr val="E2E8F0"/>
                </a:solidFill>
                <a:latin typeface="Roboto Mono"/>
              </a:rPr>
              <a:t>();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654" y="4914900"/>
            <a:ext cx="4667133" cy="24764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E2E8F0"/>
                </a:solidFill>
                <a:latin typeface="Roboto Mono"/>
              </a:rPr>
              <a:t>};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8654" y="5238749"/>
            <a:ext cx="4667133" cy="24764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F472B6"/>
                </a:solidFill>
                <a:latin typeface="Roboto Mono"/>
              </a:rPr>
              <a:t>for</a:t>
            </a:r>
            <a:r>
              <a:rPr sz="956" b="0">
                <a:solidFill>
                  <a:srgbClr val="E2E8F0"/>
                </a:solidFill>
                <a:latin typeface="Roboto Mono"/>
              </a:rPr>
              <a:t> (</a:t>
            </a:r>
            <a:r>
              <a:rPr sz="956" b="0">
                <a:solidFill>
                  <a:srgbClr val="60A5FA"/>
                </a:solidFill>
                <a:latin typeface="Roboto Mono"/>
              </a:rPr>
              <a:t>int</a:t>
            </a:r>
            <a:r>
              <a:rPr sz="956" b="0">
                <a:solidFill>
                  <a:srgbClr val="E2E8F0"/>
                </a:solidFill>
                <a:latin typeface="Roboto Mono"/>
              </a:rPr>
              <a:t> x : container) {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654" y="5486400"/>
            <a:ext cx="4667133" cy="24764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F472B6"/>
                </a:solidFill>
                <a:latin typeface="Roboto Mono"/>
              </a:rPr>
              <a:t>std::cout</a:t>
            </a:r>
            <a:r>
              <a:rPr sz="956" b="0">
                <a:solidFill>
                  <a:srgbClr val="E2E8F0"/>
                </a:solidFill>
                <a:latin typeface="Roboto Mono"/>
              </a:rPr>
              <a:t> &lt;&lt; x &lt;&lt; </a:t>
            </a:r>
            <a:r>
              <a:rPr sz="956" b="0">
                <a:solidFill>
                  <a:srgbClr val="FBBF24"/>
                </a:solidFill>
                <a:latin typeface="Roboto Mono"/>
              </a:rPr>
              <a:t>' '</a:t>
            </a:r>
            <a:r>
              <a:rPr sz="956" b="0">
                <a:solidFill>
                  <a:srgbClr val="E2E8F0"/>
                </a:solidFill>
                <a:latin typeface="Roboto Mono"/>
              </a:rPr>
              <a:t>;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654" y="5734050"/>
            <a:ext cx="4667133" cy="24764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E2E8F0"/>
                </a:solidFill>
                <a:latin typeface="Roboto Mono"/>
              </a:rPr>
              <a:t>}</a:t>
            </a:r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038699" y="1612582"/>
            <a:ext cx="228594" cy="16573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343491" y="1562100"/>
            <a:ext cx="1876378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196" b="1">
                <a:solidFill>
                  <a:srgbClr val="FFFFFF"/>
                </a:solidFill>
                <a:latin typeface="Roboto"/>
              </a:rPr>
              <a:t>Iterator Requirements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38699" y="1962149"/>
            <a:ext cx="5486262" cy="514350"/>
          </a:xfrm>
          <a:prstGeom prst="roundRect">
            <a:avLst>
              <a:gd name="adj" fmla="val 29629"/>
            </a:avLst>
          </a:prstGeom>
          <a:solidFill>
            <a:srgbClr val="1E293B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 Same Side Corner Rectangle 26"/>
          <p:cNvSpPr/>
          <p:nvPr/>
        </p:nvSpPr>
        <p:spPr>
          <a:xfrm rot="16200000">
            <a:off x="5847564" y="2153284"/>
            <a:ext cx="514350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191095" y="2147607"/>
            <a:ext cx="190495" cy="162485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495887" y="2076449"/>
            <a:ext cx="2295467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CBD5E1"/>
                </a:solidFill>
                <a:latin typeface="Roboto"/>
              </a:rPr>
              <a:t>Must satisfy InputIterator concept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038699" y="2590799"/>
            <a:ext cx="5486262" cy="514350"/>
          </a:xfrm>
          <a:prstGeom prst="roundRect">
            <a:avLst>
              <a:gd name="adj" fmla="val 29629"/>
            </a:avLst>
          </a:prstGeom>
          <a:solidFill>
            <a:srgbClr val="1E293B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 Same Side Corner Rectangle 30"/>
          <p:cNvSpPr/>
          <p:nvPr/>
        </p:nvSpPr>
        <p:spPr>
          <a:xfrm rot="16200000">
            <a:off x="5847564" y="2781934"/>
            <a:ext cx="514350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6191095" y="2776257"/>
            <a:ext cx="190495" cy="162485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495887" y="2705099"/>
            <a:ext cx="2076398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CBD5E1"/>
                </a:solidFill>
                <a:latin typeface="Roboto"/>
              </a:rPr>
              <a:t>Support prefix increment (++it)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038699" y="3219449"/>
            <a:ext cx="5486262" cy="514350"/>
          </a:xfrm>
          <a:prstGeom prst="roundRect">
            <a:avLst>
              <a:gd name="adj" fmla="val 29629"/>
            </a:avLst>
          </a:prstGeom>
          <a:solidFill>
            <a:srgbClr val="1E293B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 Same Side Corner Rectangle 34"/>
          <p:cNvSpPr/>
          <p:nvPr/>
        </p:nvSpPr>
        <p:spPr>
          <a:xfrm rot="16200000">
            <a:off x="5847564" y="3410584"/>
            <a:ext cx="514350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191095" y="3404907"/>
            <a:ext cx="190495" cy="162485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6495887" y="3333749"/>
            <a:ext cx="1800179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CBD5E1"/>
                </a:solidFill>
                <a:latin typeface="Roboto"/>
              </a:rPr>
              <a:t>Support dereferencing (*it)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038699" y="3848099"/>
            <a:ext cx="5486262" cy="514350"/>
          </a:xfrm>
          <a:prstGeom prst="roundRect">
            <a:avLst>
              <a:gd name="adj" fmla="val 29629"/>
            </a:avLst>
          </a:prstGeom>
          <a:solidFill>
            <a:srgbClr val="1E293B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 Same Side Corner Rectangle 38"/>
          <p:cNvSpPr/>
          <p:nvPr/>
        </p:nvSpPr>
        <p:spPr>
          <a:xfrm rot="16200000">
            <a:off x="5847564" y="4039234"/>
            <a:ext cx="514350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6191095" y="4033557"/>
            <a:ext cx="190495" cy="162485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6495887" y="3962399"/>
            <a:ext cx="2066873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CBD5E1"/>
                </a:solidFill>
                <a:latin typeface="Roboto"/>
              </a:rPr>
              <a:t>Support comparison (it != end)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038699" y="4552949"/>
            <a:ext cx="5486262" cy="857250"/>
          </a:xfrm>
          <a:prstGeom prst="roundRect">
            <a:avLst>
              <a:gd name="adj" fmla="val 17777"/>
            </a:avLst>
          </a:prstGeom>
          <a:gradFill rotWithShape="1">
            <a:gsLst>
              <a:gs pos="0">
                <a:srgbClr val="3B82F6">
                  <a:alpha val="10000"/>
                </a:srgbClr>
              </a:gs>
              <a:gs pos="100000">
                <a:srgbClr val="F59E0B">
                  <a:alpha val="10000"/>
                </a:srgbClr>
              </a:gs>
            </a:gsLst>
            <a:lin ang="10800000" scaled="0"/>
          </a:gradFill>
          <a:ln w="8255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6200619" y="4779645"/>
            <a:ext cx="228594" cy="194309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6543511" y="4724399"/>
            <a:ext cx="4467113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260"/>
              </a:spcAft>
            </a:pPr>
            <a:r>
              <a:rPr sz="1076" b="1">
                <a:solidFill>
                  <a:srgbClr val="FFFFFF"/>
                </a:solidFill>
                <a:latin typeface="Roboto"/>
              </a:rPr>
              <a:t>Common Pattern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43511" y="5029200"/>
            <a:ext cx="4467113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CBD5E1"/>
                </a:solidFill>
                <a:latin typeface="Roboto"/>
              </a:rPr>
              <a:t>Custom containers typically hold an underlying standard container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038699" y="5600700"/>
            <a:ext cx="5486262" cy="514350"/>
          </a:xfrm>
          <a:prstGeom prst="roundRect">
            <a:avLst>
              <a:gd name="adj" fmla="val 29629"/>
            </a:avLst>
          </a:prstGeom>
          <a:solidFill>
            <a:srgbClr val="1E293B">
              <a:alpha val="40000"/>
            </a:srgbClr>
          </a:solidFill>
          <a:ln w="825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7" name="Picture 46" descr="image.png"/>
          <p:cNvPicPr>
            <a:picLocks noChangeAspect="1"/>
          </p:cNvPicPr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6162520" y="5786157"/>
            <a:ext cx="190495" cy="162485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6467313" y="5734050"/>
            <a:ext cx="4381390" cy="2381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CBD5E1"/>
                </a:solidFill>
                <a:latin typeface="Roboto"/>
              </a:rPr>
              <a:t> </a:t>
            </a:r>
            <a:r>
              <a:rPr sz="956" b="1">
                <a:solidFill>
                  <a:srgbClr val="FFFFFF"/>
                </a:solidFill>
                <a:latin typeface="Roboto"/>
              </a:rPr>
              <a:t>Note:</a:t>
            </a:r>
            <a:r>
              <a:rPr sz="956" b="0">
                <a:solidFill>
                  <a:srgbClr val="CBD5E1"/>
                </a:solidFill>
                <a:latin typeface="Roboto"/>
              </a:rPr>
              <a:t> C++20 introduces </a:t>
            </a:r>
            <a:r>
              <a:rPr sz="956" b="0">
                <a:solidFill>
                  <a:srgbClr val="F472B6"/>
                </a:solidFill>
                <a:latin typeface="Roboto Mono"/>
              </a:rPr>
              <a:t>ranges</a:t>
            </a:r>
            <a:r>
              <a:rPr sz="956" b="0">
                <a:solidFill>
                  <a:srgbClr val="CBD5E1"/>
                </a:solidFill>
                <a:latin typeface="Roboto"/>
              </a:rPr>
              <a:t> library for more flexible iteration </a:t>
            </a:r>
          </a:p>
        </p:txBody>
      </p:sp>
      <p:sp>
        <p:nvSpPr>
          <p:cNvPr id="49" name="Rectangle 48"/>
          <p:cNvSpPr/>
          <p:nvPr/>
        </p:nvSpPr>
        <p:spPr>
          <a:xfrm>
            <a:off x="0" y="6781799"/>
            <a:ext cx="12191695" cy="76200"/>
          </a:xfrm>
          <a:prstGeom prst="rect">
            <a:avLst/>
          </a:prstGeom>
          <a:gradFill rotWithShape="1">
            <a:gsLst>
              <a:gs pos="0">
                <a:srgbClr val="3B82F6"/>
              </a:gs>
              <a:gs pos="50000">
                <a:srgbClr val="F59E0B"/>
              </a:gs>
              <a:gs pos="100000">
                <a:srgbClr val="3B82F6"/>
              </a:gs>
            </a:gsLst>
            <a:lin ang="108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F172A"/>
            </a:gs>
            <a:gs pos="50000">
              <a:srgbClr val="1E293B"/>
            </a:gs>
            <a:gs pos="100000">
              <a:srgbClr val="0F172A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66733" y="114300"/>
            <a:ext cx="2857428" cy="5715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  <a:spcAft>
                <a:spcPts val="0"/>
              </a:spcAft>
            </a:pPr>
            <a:r>
              <a:rPr sz="2392" b="1">
                <a:solidFill>
                  <a:srgbClr val="FFFFFF"/>
                </a:solidFill>
                <a:latin typeface="Roboto"/>
              </a:rPr>
              <a:t>Common Pitfalls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66733" y="1038224"/>
            <a:ext cx="5333866" cy="2133599"/>
          </a:xfrm>
          <a:prstGeom prst="roundRect">
            <a:avLst>
              <a:gd name="adj" fmla="val 7142"/>
            </a:avLst>
          </a:prstGeom>
          <a:solidFill>
            <a:srgbClr val="1E293B">
              <a:alpha val="50000"/>
            </a:srgbClr>
          </a:solidFill>
          <a:ln w="8255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28654" y="1259681"/>
            <a:ext cx="228594" cy="18573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71545" y="1200150"/>
            <a:ext cx="2019249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260"/>
              </a:spcAft>
            </a:pPr>
            <a:r>
              <a:rPr sz="1076" b="1">
                <a:solidFill>
                  <a:srgbClr val="FFFFFF"/>
                </a:solidFill>
                <a:latin typeface="Roboto"/>
              </a:rPr>
              <a:t>Modifying During Iteration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1545" y="1504950"/>
            <a:ext cx="2019249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F87171"/>
                </a:solidFill>
                <a:latin typeface="Roboto"/>
              </a:rPr>
              <a:t>Undefined Behavior!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8654" y="1809749"/>
            <a:ext cx="5010024" cy="876299"/>
          </a:xfrm>
          <a:prstGeom prst="roundRect">
            <a:avLst>
              <a:gd name="adj" fmla="val 8695"/>
            </a:avLst>
          </a:prstGeom>
          <a:solidFill>
            <a:srgbClr val="0F172A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42951" y="1924049"/>
            <a:ext cx="4781430" cy="2190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F472B6"/>
                </a:solidFill>
                <a:latin typeface="Roboto Mono"/>
              </a:rPr>
              <a:t>for</a:t>
            </a:r>
            <a:r>
              <a:rPr sz="837" b="0">
                <a:solidFill>
                  <a:srgbClr val="E2E8F0"/>
                </a:solidFill>
                <a:latin typeface="Roboto Mono"/>
              </a:rPr>
              <a:t> (</a:t>
            </a:r>
            <a:r>
              <a:rPr sz="837" b="0">
                <a:solidFill>
                  <a:srgbClr val="F472B6"/>
                </a:solidFill>
                <a:latin typeface="Roboto Mono"/>
              </a:rPr>
              <a:t>auto</a:t>
            </a:r>
            <a:r>
              <a:rPr sz="837" b="0">
                <a:solidFill>
                  <a:srgbClr val="E2E8F0"/>
                </a:solidFill>
                <a:latin typeface="Roboto Mono"/>
              </a:rPr>
              <a:t> x : vec) {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2951" y="2143125"/>
            <a:ext cx="4781430" cy="2190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E2E8F0"/>
                </a:solidFill>
                <a:latin typeface="Roboto Mono"/>
              </a:rPr>
              <a:t>vec.</a:t>
            </a:r>
            <a:r>
              <a:rPr sz="837" b="0">
                <a:solidFill>
                  <a:srgbClr val="F472B6"/>
                </a:solidFill>
                <a:latin typeface="Roboto Mono"/>
              </a:rPr>
              <a:t>push_back</a:t>
            </a:r>
            <a:r>
              <a:rPr sz="837" b="0">
                <a:solidFill>
                  <a:srgbClr val="E2E8F0"/>
                </a:solidFill>
                <a:latin typeface="Roboto Mono"/>
              </a:rPr>
              <a:t>(x); </a:t>
            </a:r>
            <a:r>
              <a:rPr sz="837" b="0">
                <a:solidFill>
                  <a:srgbClr val="64748B"/>
                </a:solidFill>
                <a:latin typeface="Roboto Mono"/>
              </a:rPr>
              <a:t>// Don't do this!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2951" y="2362199"/>
            <a:ext cx="4781430" cy="2190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E2E8F0"/>
                </a:solidFill>
                <a:latin typeface="Roboto Mono"/>
              </a:rPr>
              <a:t>}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1095" y="1038224"/>
            <a:ext cx="5333866" cy="2133599"/>
          </a:xfrm>
          <a:prstGeom prst="roundRect">
            <a:avLst>
              <a:gd name="adj" fmla="val 7142"/>
            </a:avLst>
          </a:prstGeom>
          <a:solidFill>
            <a:srgbClr val="1E293B">
              <a:alpha val="50000"/>
            </a:srgbClr>
          </a:solidFill>
          <a:ln w="8255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6353016" y="1259681"/>
            <a:ext cx="228594" cy="18573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695907" y="1200150"/>
            <a:ext cx="1695407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260"/>
              </a:spcAft>
            </a:pPr>
            <a:r>
              <a:rPr sz="1076" b="1">
                <a:solidFill>
                  <a:srgbClr val="FFFFFF"/>
                </a:solidFill>
                <a:latin typeface="Roboto"/>
              </a:rPr>
              <a:t>Lifetime Issues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95907" y="1504950"/>
            <a:ext cx="1695407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F87171"/>
                </a:solidFill>
                <a:latin typeface="Roboto"/>
              </a:rPr>
              <a:t>Container May Be Destroyed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53016" y="1809749"/>
            <a:ext cx="5010024" cy="876299"/>
          </a:xfrm>
          <a:prstGeom prst="roundRect">
            <a:avLst>
              <a:gd name="adj" fmla="val 8695"/>
            </a:avLst>
          </a:prstGeom>
          <a:solidFill>
            <a:srgbClr val="0F172A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67313" y="1924049"/>
            <a:ext cx="4781430" cy="2190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F472B6"/>
                </a:solidFill>
                <a:latin typeface="Roboto Mono"/>
              </a:rPr>
              <a:t>auto</a:t>
            </a:r>
            <a:r>
              <a:rPr sz="837" b="0">
                <a:solidFill>
                  <a:srgbClr val="E2E8F0"/>
                </a:solidFill>
                <a:latin typeface="Roboto Mono"/>
              </a:rPr>
              <a:t>&amp; ref = </a:t>
            </a:r>
            <a:r>
              <a:rPr sz="837" b="0">
                <a:solidFill>
                  <a:srgbClr val="F472B6"/>
                </a:solidFill>
                <a:latin typeface="Roboto Mono"/>
              </a:rPr>
              <a:t>get_temp_container</a:t>
            </a:r>
            <a:r>
              <a:rPr sz="837" b="0">
                <a:solidFill>
                  <a:srgbClr val="E2E8F0"/>
                </a:solidFill>
                <a:latin typeface="Roboto Mono"/>
              </a:rPr>
              <a:t>();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7313" y="2143125"/>
            <a:ext cx="4781430" cy="2190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F472B6"/>
                </a:solidFill>
                <a:latin typeface="Roboto Mono"/>
              </a:rPr>
              <a:t>for</a:t>
            </a:r>
            <a:r>
              <a:rPr sz="837" b="0">
                <a:solidFill>
                  <a:srgbClr val="E2E8F0"/>
                </a:solidFill>
                <a:latin typeface="Roboto Mono"/>
              </a:rPr>
              <a:t> (</a:t>
            </a:r>
            <a:r>
              <a:rPr sz="837" b="0">
                <a:solidFill>
                  <a:srgbClr val="F472B6"/>
                </a:solidFill>
                <a:latin typeface="Roboto Mono"/>
              </a:rPr>
              <a:t>auto</a:t>
            </a:r>
            <a:r>
              <a:rPr sz="837" b="0">
                <a:solidFill>
                  <a:srgbClr val="E2E8F0"/>
                </a:solidFill>
                <a:latin typeface="Roboto Mono"/>
              </a:rPr>
              <a:t> x : ref) { }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7313" y="2362199"/>
            <a:ext cx="4781430" cy="2190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64748B"/>
                </a:solidFill>
                <a:latin typeface="Roboto Mono"/>
              </a:rPr>
              <a:t>// Container may be destroyed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6733" y="3362324"/>
            <a:ext cx="5333866" cy="2209800"/>
          </a:xfrm>
          <a:prstGeom prst="roundRect">
            <a:avLst>
              <a:gd name="adj" fmla="val 6896"/>
            </a:avLst>
          </a:prstGeom>
          <a:solidFill>
            <a:srgbClr val="1E293B">
              <a:alpha val="50000"/>
            </a:srgbClr>
          </a:solidFill>
          <a:ln w="8255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28654" y="3579495"/>
            <a:ext cx="228594" cy="194309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171545" y="3524250"/>
            <a:ext cx="1885902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260"/>
              </a:spcAft>
            </a:pPr>
            <a:r>
              <a:rPr sz="1076" b="1">
                <a:solidFill>
                  <a:srgbClr val="FFFFFF"/>
                </a:solidFill>
                <a:latin typeface="Roboto"/>
              </a:rPr>
              <a:t>auto vs auto&amp; Confusion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1545" y="3829050"/>
            <a:ext cx="1885902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FB923C"/>
                </a:solidFill>
                <a:latin typeface="Roboto"/>
              </a:rPr>
              <a:t>Performance Impact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8654" y="4133849"/>
            <a:ext cx="5010024" cy="952499"/>
          </a:xfrm>
          <a:prstGeom prst="roundRect">
            <a:avLst>
              <a:gd name="adj" fmla="val 8000"/>
            </a:avLst>
          </a:prstGeom>
          <a:solidFill>
            <a:srgbClr val="0F172A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42951" y="4248150"/>
            <a:ext cx="4781430" cy="2190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F472B6"/>
                </a:solidFill>
                <a:latin typeface="Roboto Mono"/>
              </a:rPr>
              <a:t>for</a:t>
            </a:r>
            <a:r>
              <a:rPr sz="837" b="0">
                <a:solidFill>
                  <a:srgbClr val="E2E8F0"/>
                </a:solidFill>
                <a:latin typeface="Roboto Mono"/>
              </a:rPr>
              <a:t> (</a:t>
            </a:r>
            <a:r>
              <a:rPr sz="837" b="0">
                <a:solidFill>
                  <a:srgbClr val="F472B6"/>
                </a:solidFill>
                <a:latin typeface="Roboto Mono"/>
              </a:rPr>
              <a:t>auto</a:t>
            </a:r>
            <a:r>
              <a:rPr sz="837" b="0">
                <a:solidFill>
                  <a:srgbClr val="E2E8F0"/>
                </a:solidFill>
                <a:latin typeface="Roboto Mono"/>
              </a:rPr>
              <a:t> x : big_vec) { }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2951" y="4467224"/>
            <a:ext cx="4781430" cy="2190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64748B"/>
                </a:solidFill>
                <a:latin typeface="Roboto Mono"/>
              </a:rPr>
              <a:t>// Copies every element!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2951" y="4762500"/>
            <a:ext cx="4781430" cy="2190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520"/>
              </a:spcBef>
              <a:spcAft>
                <a:spcPts val="0"/>
              </a:spcAft>
            </a:pPr>
            <a:r>
              <a:rPr sz="837" b="0">
                <a:solidFill>
                  <a:srgbClr val="F472B6"/>
                </a:solidFill>
                <a:latin typeface="Roboto Mono"/>
              </a:rPr>
              <a:t>for</a:t>
            </a:r>
            <a:r>
              <a:rPr sz="837" b="0">
                <a:solidFill>
                  <a:srgbClr val="4ADE80"/>
                </a:solidFill>
                <a:latin typeface="Roboto Mono"/>
              </a:rPr>
              <a:t> (</a:t>
            </a:r>
            <a:r>
              <a:rPr sz="837" b="0">
                <a:solidFill>
                  <a:srgbClr val="F472B6"/>
                </a:solidFill>
                <a:latin typeface="Roboto Mono"/>
              </a:rPr>
              <a:t>auto</a:t>
            </a:r>
            <a:r>
              <a:rPr sz="837" b="0">
                <a:solidFill>
                  <a:srgbClr val="4ADE80"/>
                </a:solidFill>
                <a:latin typeface="Roboto Mono"/>
              </a:rPr>
              <a:t>&amp; x : big_vec) { }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91095" y="3362324"/>
            <a:ext cx="5333866" cy="2209800"/>
          </a:xfrm>
          <a:prstGeom prst="roundRect">
            <a:avLst>
              <a:gd name="adj" fmla="val 6896"/>
            </a:avLst>
          </a:prstGeom>
          <a:solidFill>
            <a:srgbClr val="1E293B">
              <a:alpha val="50000"/>
            </a:srgbClr>
          </a:solidFill>
          <a:ln w="8255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53016" y="3579495"/>
            <a:ext cx="228594" cy="194309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695907" y="3524250"/>
            <a:ext cx="1419189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260"/>
              </a:spcAft>
            </a:pPr>
            <a:r>
              <a:rPr sz="1076" b="1">
                <a:solidFill>
                  <a:srgbClr val="FFFFFF"/>
                </a:solidFill>
                <a:latin typeface="Roboto"/>
              </a:rPr>
              <a:t>Forgetting const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95907" y="3829050"/>
            <a:ext cx="1419189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FB923C"/>
                </a:solidFill>
                <a:latin typeface="Roboto"/>
              </a:rPr>
              <a:t>Accidental Modification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53016" y="4133849"/>
            <a:ext cx="5010024" cy="876299"/>
          </a:xfrm>
          <a:prstGeom prst="roundRect">
            <a:avLst>
              <a:gd name="adj" fmla="val 8695"/>
            </a:avLst>
          </a:prstGeom>
          <a:solidFill>
            <a:srgbClr val="0F172A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467313" y="4248150"/>
            <a:ext cx="4781430" cy="2190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F472B6"/>
                </a:solidFill>
                <a:latin typeface="Roboto Mono"/>
              </a:rPr>
              <a:t>for</a:t>
            </a:r>
            <a:r>
              <a:rPr sz="837" b="0">
                <a:solidFill>
                  <a:srgbClr val="E2E8F0"/>
                </a:solidFill>
                <a:latin typeface="Roboto Mono"/>
              </a:rPr>
              <a:t> (</a:t>
            </a:r>
            <a:r>
              <a:rPr sz="837" b="0">
                <a:solidFill>
                  <a:srgbClr val="F472B6"/>
                </a:solidFill>
                <a:latin typeface="Roboto Mono"/>
              </a:rPr>
              <a:t>auto</a:t>
            </a:r>
            <a:r>
              <a:rPr sz="837" b="0">
                <a:solidFill>
                  <a:srgbClr val="E2E8F0"/>
                </a:solidFill>
                <a:latin typeface="Roboto Mono"/>
              </a:rPr>
              <a:t>&amp; s : strings) {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67313" y="4467224"/>
            <a:ext cx="4781430" cy="2190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E2E8F0"/>
                </a:solidFill>
                <a:latin typeface="Roboto Mono"/>
              </a:rPr>
              <a:t>s = </a:t>
            </a:r>
            <a:r>
              <a:rPr sz="837" b="0">
                <a:solidFill>
                  <a:srgbClr val="FBBF24"/>
                </a:solidFill>
                <a:latin typeface="Roboto Mono"/>
              </a:rPr>
              <a:t>""</a:t>
            </a:r>
            <a:r>
              <a:rPr sz="837" b="0">
                <a:solidFill>
                  <a:srgbClr val="E2E8F0"/>
                </a:solidFill>
                <a:latin typeface="Roboto Mono"/>
              </a:rPr>
              <a:t>; </a:t>
            </a:r>
            <a:r>
              <a:rPr sz="837" b="0">
                <a:solidFill>
                  <a:srgbClr val="64748B"/>
                </a:solidFill>
                <a:latin typeface="Roboto Mono"/>
              </a:rPr>
              <a:t>// Accidental!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67313" y="4686300"/>
            <a:ext cx="4781430" cy="2190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E2E8F0"/>
                </a:solidFill>
                <a:latin typeface="Roboto Mono"/>
              </a:rPr>
              <a:t>}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66733" y="5762625"/>
            <a:ext cx="10858228" cy="866775"/>
          </a:xfrm>
          <a:prstGeom prst="roundRect">
            <a:avLst>
              <a:gd name="adj" fmla="val 17582"/>
            </a:avLst>
          </a:prstGeom>
          <a:gradFill rotWithShape="1">
            <a:gsLst>
              <a:gs pos="0">
                <a:srgbClr val="3B82F6">
                  <a:alpha val="10000"/>
                </a:srgbClr>
              </a:gs>
              <a:gs pos="100000">
                <a:srgbClr val="F59E0B">
                  <a:alpha val="10000"/>
                </a:srgbClr>
              </a:gs>
            </a:gsLst>
            <a:lin ang="10800000" scaled="0"/>
          </a:gradFill>
          <a:ln w="8255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8654" y="5979795"/>
            <a:ext cx="228594" cy="194309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171545" y="5924549"/>
            <a:ext cx="6810204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260"/>
              </a:spcAft>
            </a:pPr>
            <a:r>
              <a:rPr sz="1076" b="1">
                <a:solidFill>
                  <a:srgbClr val="FFFFFF"/>
                </a:solidFill>
                <a:latin typeface="Roboto"/>
              </a:rPr>
              <a:t>Best Practice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71545" y="6229350"/>
            <a:ext cx="6810204" cy="2381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CBD5E1"/>
                </a:solidFill>
                <a:latin typeface="Roboto"/>
              </a:rPr>
              <a:t>Always use </a:t>
            </a:r>
            <a:r>
              <a:rPr sz="956" b="0">
                <a:solidFill>
                  <a:srgbClr val="F472B6"/>
                </a:solidFill>
                <a:latin typeface="Roboto Mono"/>
              </a:rPr>
              <a:t>const auto&amp;</a:t>
            </a:r>
            <a:r>
              <a:rPr sz="956" b="0">
                <a:solidFill>
                  <a:srgbClr val="CBD5E1"/>
                </a:solidFill>
                <a:latin typeface="Roboto"/>
              </a:rPr>
              <a:t> for read-only access to avoid copies and prevent accidental modifications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781799"/>
            <a:ext cx="12191695" cy="76200"/>
          </a:xfrm>
          <a:prstGeom prst="rect">
            <a:avLst/>
          </a:prstGeom>
          <a:gradFill rotWithShape="1">
            <a:gsLst>
              <a:gs pos="0">
                <a:srgbClr val="3B82F6"/>
              </a:gs>
              <a:gs pos="50000">
                <a:srgbClr val="F59E0B"/>
              </a:gs>
              <a:gs pos="100000">
                <a:srgbClr val="3B82F6"/>
              </a:gs>
            </a:gsLst>
            <a:lin ang="108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F172A"/>
            </a:gs>
            <a:gs pos="50000">
              <a:srgbClr val="1E293B"/>
            </a:gs>
            <a:gs pos="100000">
              <a:srgbClr val="0F172A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66733" y="114300"/>
            <a:ext cx="4914777" cy="5715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  <a:spcAft>
                <a:spcPts val="0"/>
              </a:spcAft>
            </a:pPr>
            <a:r>
              <a:rPr sz="2392" b="1">
                <a:solidFill>
                  <a:srgbClr val="FFFFFF"/>
                </a:solidFill>
                <a:latin typeface="Roboto"/>
              </a:rPr>
              <a:t>Performance Considerations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666733" y="1956911"/>
            <a:ext cx="228594" cy="16287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71525" y="1904999"/>
            <a:ext cx="1600159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196" b="1">
                <a:solidFill>
                  <a:srgbClr val="FFFFFF"/>
                </a:solidFill>
                <a:latin typeface="Roboto"/>
              </a:rPr>
              <a:t>Copy vs Reference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6733" y="2305049"/>
            <a:ext cx="5238619" cy="1552574"/>
          </a:xfrm>
          <a:prstGeom prst="roundRect">
            <a:avLst>
              <a:gd name="adj" fmla="val 9815"/>
            </a:avLst>
          </a:prstGeom>
          <a:solidFill>
            <a:srgbClr val="1E293B">
              <a:alpha val="60000"/>
            </a:srgbClr>
          </a:solidFill>
          <a:ln w="825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8654" y="2466975"/>
            <a:ext cx="4914777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897" b="0">
                <a:solidFill>
                  <a:srgbClr val="F472B6"/>
                </a:solidFill>
                <a:latin typeface="Roboto Mono"/>
              </a:rPr>
              <a:t>std::vector</a:t>
            </a:r>
            <a:r>
              <a:rPr sz="897" b="0">
                <a:solidFill>
                  <a:srgbClr val="E2E8F0"/>
                </a:solidFill>
                <a:latin typeface="Roboto Mono"/>
              </a:rPr>
              <a:t>&lt;</a:t>
            </a:r>
            <a:r>
              <a:rPr sz="897" b="0">
                <a:solidFill>
                  <a:srgbClr val="F472B6"/>
                </a:solidFill>
                <a:latin typeface="Roboto Mono"/>
              </a:rPr>
              <a:t>std::string</a:t>
            </a:r>
            <a:r>
              <a:rPr sz="897" b="0">
                <a:solidFill>
                  <a:srgbClr val="E2E8F0"/>
                </a:solidFill>
                <a:latin typeface="Roboto Mono"/>
              </a:rPr>
              <a:t>&gt; vec(</a:t>
            </a:r>
            <a:r>
              <a:rPr sz="897" b="0">
                <a:solidFill>
                  <a:srgbClr val="FBBF24"/>
                </a:solidFill>
                <a:latin typeface="Roboto Mono"/>
              </a:rPr>
              <a:t>10000</a:t>
            </a:r>
            <a:r>
              <a:rPr sz="897" b="0">
                <a:solidFill>
                  <a:srgbClr val="E2E8F0"/>
                </a:solidFill>
                <a:latin typeface="Roboto Mono"/>
              </a:rPr>
              <a:t>, </a:t>
            </a:r>
            <a:r>
              <a:rPr sz="897" b="0">
                <a:solidFill>
                  <a:srgbClr val="FBBF24"/>
                </a:solidFill>
                <a:latin typeface="Roboto Mono"/>
              </a:rPr>
              <a:t>"large string"</a:t>
            </a:r>
            <a:r>
              <a:rPr sz="897" b="0">
                <a:solidFill>
                  <a:srgbClr val="E2E8F0"/>
                </a:solidFill>
                <a:latin typeface="Roboto Mono"/>
              </a:rPr>
              <a:t>);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8654" y="2771775"/>
            <a:ext cx="4914777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520"/>
              </a:spcBef>
              <a:spcAft>
                <a:spcPts val="0"/>
              </a:spcAft>
            </a:pPr>
            <a:r>
              <a:rPr sz="897" b="0">
                <a:solidFill>
                  <a:srgbClr val="4ADE80"/>
                </a:solidFill>
                <a:latin typeface="Roboto Mono"/>
              </a:rPr>
              <a:t>✓</a:t>
            </a:r>
            <a:r>
              <a:rPr sz="897" b="0">
                <a:solidFill>
                  <a:srgbClr val="E2E8F0"/>
                </a:solidFill>
                <a:latin typeface="Roboto Mono"/>
              </a:rPr>
              <a:t> </a:t>
            </a:r>
            <a:r>
              <a:rPr sz="897" b="0">
                <a:solidFill>
                  <a:srgbClr val="F472B6"/>
                </a:solidFill>
                <a:latin typeface="Roboto Mono"/>
              </a:rPr>
              <a:t>for</a:t>
            </a:r>
            <a:r>
              <a:rPr sz="897" b="0">
                <a:solidFill>
                  <a:srgbClr val="E2E8F0"/>
                </a:solidFill>
                <a:latin typeface="Roboto Mono"/>
              </a:rPr>
              <a:t> (</a:t>
            </a:r>
            <a:r>
              <a:rPr sz="897" b="0">
                <a:solidFill>
                  <a:srgbClr val="F472B6"/>
                </a:solidFill>
                <a:latin typeface="Roboto Mono"/>
              </a:rPr>
              <a:t>const</a:t>
            </a:r>
            <a:r>
              <a:rPr sz="897" b="0">
                <a:solidFill>
                  <a:srgbClr val="E2E8F0"/>
                </a:solidFill>
                <a:latin typeface="Roboto Mono"/>
              </a:rPr>
              <a:t> </a:t>
            </a:r>
            <a:r>
              <a:rPr sz="897" b="0">
                <a:solidFill>
                  <a:srgbClr val="F472B6"/>
                </a:solidFill>
                <a:latin typeface="Roboto Mono"/>
              </a:rPr>
              <a:t>auto</a:t>
            </a:r>
            <a:r>
              <a:rPr sz="897" b="0">
                <a:solidFill>
                  <a:srgbClr val="E2E8F0"/>
                </a:solidFill>
                <a:latin typeface="Roboto Mono"/>
              </a:rPr>
              <a:t>&amp; x : vec) {}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8654" y="3009900"/>
            <a:ext cx="4914777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4ADE80"/>
                </a:solidFill>
                <a:latin typeface="Roboto Mono"/>
              </a:rPr>
              <a:t>// No copies - Fast!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8654" y="3276599"/>
            <a:ext cx="4914777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520"/>
              </a:spcBef>
              <a:spcAft>
                <a:spcPts val="0"/>
              </a:spcAft>
            </a:pPr>
            <a:r>
              <a:rPr sz="897" b="0">
                <a:solidFill>
                  <a:srgbClr val="F87171"/>
                </a:solidFill>
                <a:latin typeface="Roboto Mono"/>
              </a:rPr>
              <a:t>✗</a:t>
            </a:r>
            <a:r>
              <a:rPr sz="897" b="0">
                <a:solidFill>
                  <a:srgbClr val="E2E8F0"/>
                </a:solidFill>
                <a:latin typeface="Roboto Mono"/>
              </a:rPr>
              <a:t> </a:t>
            </a:r>
            <a:r>
              <a:rPr sz="897" b="0">
                <a:solidFill>
                  <a:srgbClr val="F472B6"/>
                </a:solidFill>
                <a:latin typeface="Roboto Mono"/>
              </a:rPr>
              <a:t>for</a:t>
            </a:r>
            <a:r>
              <a:rPr sz="897" b="0">
                <a:solidFill>
                  <a:srgbClr val="E2E8F0"/>
                </a:solidFill>
                <a:latin typeface="Roboto Mono"/>
              </a:rPr>
              <a:t> (</a:t>
            </a:r>
            <a:r>
              <a:rPr sz="897" b="0">
                <a:solidFill>
                  <a:srgbClr val="F472B6"/>
                </a:solidFill>
                <a:latin typeface="Roboto Mono"/>
              </a:rPr>
              <a:t>auto</a:t>
            </a:r>
            <a:r>
              <a:rPr sz="897" b="0">
                <a:solidFill>
                  <a:srgbClr val="E2E8F0"/>
                </a:solidFill>
                <a:latin typeface="Roboto Mono"/>
              </a:rPr>
              <a:t> x : vec) {}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8654" y="3505199"/>
            <a:ext cx="4914777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F87171"/>
                </a:solidFill>
                <a:latin typeface="Roboto Mono"/>
              </a:rPr>
              <a:t>// Copies 10000 strings - Slow!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6733" y="4048124"/>
            <a:ext cx="5238619" cy="476249"/>
          </a:xfrm>
          <a:prstGeom prst="roundRect">
            <a:avLst>
              <a:gd name="adj" fmla="val 32000"/>
            </a:avLst>
          </a:prstGeom>
          <a:solidFill>
            <a:srgbClr val="1E293B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 Same Side Corner Rectangle 11"/>
          <p:cNvSpPr/>
          <p:nvPr/>
        </p:nvSpPr>
        <p:spPr>
          <a:xfrm rot="16200000">
            <a:off x="494649" y="4220208"/>
            <a:ext cx="476249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57248" y="4162424"/>
            <a:ext cx="4238519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CBD5E1"/>
                </a:solidFill>
                <a:latin typeface="Roboto"/>
              </a:rPr>
              <a:t>Modern compilers optimize reference overhead for small types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6733" y="4638674"/>
            <a:ext cx="5238619" cy="514350"/>
          </a:xfrm>
          <a:prstGeom prst="roundRect">
            <a:avLst>
              <a:gd name="adj" fmla="val 29629"/>
            </a:avLst>
          </a:prstGeom>
          <a:solidFill>
            <a:srgbClr val="1E293B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 Same Side Corner Rectangle 14"/>
          <p:cNvSpPr/>
          <p:nvPr/>
        </p:nvSpPr>
        <p:spPr>
          <a:xfrm rot="16200000">
            <a:off x="475598" y="4829809"/>
            <a:ext cx="514350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9129" y="4852147"/>
            <a:ext cx="190495" cy="10645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123921" y="4752974"/>
            <a:ext cx="3838479" cy="2381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CBD5E1"/>
                </a:solidFill>
                <a:latin typeface="Roboto"/>
              </a:rPr>
              <a:t>Move semantics with </a:t>
            </a:r>
            <a:r>
              <a:rPr sz="956" b="0">
                <a:solidFill>
                  <a:srgbClr val="F472B6"/>
                </a:solidFill>
                <a:latin typeface="Roboto Mono"/>
              </a:rPr>
              <a:t>std::move</a:t>
            </a:r>
            <a:r>
              <a:rPr sz="956" b="0">
                <a:solidFill>
                  <a:srgbClr val="CBD5E1"/>
                </a:solidFill>
                <a:latin typeface="Roboto"/>
              </a:rPr>
              <a:t> for transfer semantics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6733" y="5267324"/>
            <a:ext cx="5238619" cy="514350"/>
          </a:xfrm>
          <a:prstGeom prst="roundRect">
            <a:avLst>
              <a:gd name="adj" fmla="val 29629"/>
            </a:avLst>
          </a:prstGeom>
          <a:solidFill>
            <a:srgbClr val="1E293B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 Same Side Corner Rectangle 18"/>
          <p:cNvSpPr/>
          <p:nvPr/>
        </p:nvSpPr>
        <p:spPr>
          <a:xfrm rot="16200000">
            <a:off x="475598" y="5458459"/>
            <a:ext cx="514350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19129" y="5458385"/>
            <a:ext cx="190495" cy="151279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123921" y="5381624"/>
            <a:ext cx="3562260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CBD5E1"/>
                </a:solidFill>
                <a:latin typeface="Roboto"/>
              </a:rPr>
              <a:t>Large objects: always use references to avoid copies</a:t>
            </a:r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286342" y="1604962"/>
            <a:ext cx="228594" cy="142875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591135" y="1543050"/>
            <a:ext cx="1762080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196" b="1">
                <a:solidFill>
                  <a:srgbClr val="FFFFFF"/>
                </a:solidFill>
                <a:latin typeface="Roboto"/>
              </a:rPr>
              <a:t>Performance Impact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86342" y="1943100"/>
            <a:ext cx="5238619" cy="2333624"/>
          </a:xfrm>
          <a:prstGeom prst="roundRect">
            <a:avLst>
              <a:gd name="adj" fmla="val 6530"/>
            </a:avLst>
          </a:prstGeom>
          <a:solidFill>
            <a:srgbClr val="1E293B">
              <a:alpha val="40000"/>
            </a:srgbClr>
          </a:solidFill>
          <a:ln w="825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6286342" y="4457700"/>
            <a:ext cx="5238619" cy="857250"/>
          </a:xfrm>
          <a:prstGeom prst="roundRect">
            <a:avLst>
              <a:gd name="adj" fmla="val 17777"/>
            </a:avLst>
          </a:prstGeom>
          <a:gradFill rotWithShape="1">
            <a:gsLst>
              <a:gs pos="0">
                <a:srgbClr val="22C55E">
                  <a:alpha val="10000"/>
                </a:srgbClr>
              </a:gs>
              <a:gs pos="100000">
                <a:srgbClr val="22C55E">
                  <a:alpha val="5000"/>
                </a:srgbClr>
              </a:gs>
            </a:gsLst>
            <a:lin ang="10800000" scaled="0"/>
          </a:gradFill>
          <a:ln w="8255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448263" y="4701708"/>
            <a:ext cx="190495" cy="159683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753056" y="4629150"/>
            <a:ext cx="2257368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260"/>
              </a:spcAft>
            </a:pPr>
            <a:r>
              <a:rPr sz="1076" b="1">
                <a:solidFill>
                  <a:srgbClr val="FFFFFF"/>
                </a:solidFill>
                <a:latin typeface="Roboto"/>
              </a:rPr>
              <a:t>Use const auto&amp; by Default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53056" y="4933950"/>
            <a:ext cx="2257368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CBD5E1"/>
                </a:solidFill>
                <a:latin typeface="Roboto"/>
              </a:rPr>
              <a:t>Safest and fastest for most types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86342" y="5429250"/>
            <a:ext cx="5238619" cy="714375"/>
          </a:xfrm>
          <a:prstGeom prst="roundRect">
            <a:avLst>
              <a:gd name="adj" fmla="val 21333"/>
            </a:avLst>
          </a:prstGeom>
          <a:solidFill>
            <a:srgbClr val="1E293B">
              <a:alpha val="40000"/>
            </a:srgbClr>
          </a:solidFill>
          <a:ln w="825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Picture 29" descr="image.png"/>
          <p:cNvPicPr>
            <a:picLocks noChangeAspect="1"/>
          </p:cNvPicPr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6410164" y="5633757"/>
            <a:ext cx="190495" cy="162485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714957" y="5562600"/>
            <a:ext cx="4686182" cy="466724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CBD5E1"/>
                </a:solidFill>
                <a:latin typeface="Roboto"/>
              </a:rPr>
              <a:t> </a:t>
            </a:r>
            <a:r>
              <a:rPr sz="956" b="1">
                <a:solidFill>
                  <a:srgbClr val="FFFFFF"/>
                </a:solidFill>
                <a:latin typeface="Roboto"/>
              </a:rPr>
              <a:t>Compiler optimization:</a:t>
            </a:r>
            <a:r>
              <a:rPr sz="956" b="0">
                <a:solidFill>
                  <a:srgbClr val="CBD5E1"/>
                </a:solidFill>
                <a:latin typeface="Roboto"/>
              </a:rPr>
              <a:t> Modern compilers optimize away reference overhead for small types like </a:t>
            </a:r>
            <a:r>
              <a:rPr sz="956" b="0">
                <a:solidFill>
                  <a:srgbClr val="F472B6"/>
                </a:solidFill>
                <a:latin typeface="Roboto Mono"/>
              </a:rPr>
              <a:t>int</a:t>
            </a:r>
            <a:r>
              <a:rPr sz="956" b="0">
                <a:solidFill>
                  <a:srgbClr val="CBD5E1"/>
                </a:solidFill>
                <a:latin typeface="Roboto"/>
              </a:rPr>
              <a:t> 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781799"/>
            <a:ext cx="12191695" cy="76200"/>
          </a:xfrm>
          <a:prstGeom prst="rect">
            <a:avLst/>
          </a:prstGeom>
          <a:gradFill rotWithShape="1">
            <a:gsLst>
              <a:gs pos="0">
                <a:srgbClr val="3B82F6"/>
              </a:gs>
              <a:gs pos="50000">
                <a:srgbClr val="F59E0B"/>
              </a:gs>
              <a:gs pos="100000">
                <a:srgbClr val="3B82F6"/>
              </a:gs>
            </a:gsLst>
            <a:lin ang="108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F172A"/>
            </a:gs>
            <a:gs pos="50000">
              <a:srgbClr val="1E293B"/>
            </a:gs>
            <a:gs pos="100000">
              <a:srgbClr val="0F172A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66733" y="114300"/>
            <a:ext cx="4448063" cy="5715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  <a:spcAft>
                <a:spcPts val="0"/>
              </a:spcAft>
            </a:pPr>
            <a:r>
              <a:rPr sz="2392" b="1">
                <a:solidFill>
                  <a:srgbClr val="FFFFFF"/>
                </a:solidFill>
                <a:latin typeface="Roboto"/>
              </a:rPr>
              <a:t>C++20 Ranges Integration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666733" y="1577788"/>
            <a:ext cx="190495" cy="14007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33426" y="1514475"/>
            <a:ext cx="904852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076" b="1">
                <a:solidFill>
                  <a:srgbClr val="FFFFFF"/>
                </a:solidFill>
                <a:latin typeface="Roboto"/>
              </a:rPr>
              <a:t>Filter Views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6733" y="1857375"/>
            <a:ext cx="4990975" cy="1219200"/>
          </a:xfrm>
          <a:prstGeom prst="roundRect">
            <a:avLst>
              <a:gd name="adj" fmla="val 12500"/>
            </a:avLst>
          </a:prstGeom>
          <a:solidFill>
            <a:srgbClr val="1E293B">
              <a:alpha val="60000"/>
            </a:srgbClr>
          </a:solidFill>
          <a:ln w="825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90555" y="1981199"/>
            <a:ext cx="4743331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897" b="0">
                <a:solidFill>
                  <a:srgbClr val="F472B6"/>
                </a:solidFill>
                <a:latin typeface="Roboto Mono"/>
              </a:rPr>
              <a:t>auto</a:t>
            </a:r>
            <a:r>
              <a:rPr sz="897" b="0">
                <a:solidFill>
                  <a:srgbClr val="E2E8F0"/>
                </a:solidFill>
                <a:latin typeface="Roboto Mono"/>
              </a:rPr>
              <a:t> filtered = data | </a:t>
            </a:r>
            <a:r>
              <a:rPr sz="897" b="0">
                <a:solidFill>
                  <a:srgbClr val="F472B6"/>
                </a:solidFill>
                <a:latin typeface="Roboto Mono"/>
              </a:rPr>
              <a:t>std::views::filter</a:t>
            </a:r>
            <a:r>
              <a:rPr sz="897" b="0">
                <a:solidFill>
                  <a:srgbClr val="E2E8F0"/>
                </a:solidFill>
                <a:latin typeface="Roboto Mono"/>
              </a:rPr>
              <a:t>(is_even);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0555" y="2257425"/>
            <a:ext cx="4743331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260"/>
              </a:spcBef>
              <a:spcAft>
                <a:spcPts val="0"/>
              </a:spcAft>
            </a:pPr>
            <a:r>
              <a:rPr sz="897" b="0">
                <a:solidFill>
                  <a:srgbClr val="F472B6"/>
                </a:solidFill>
                <a:latin typeface="Roboto Mono"/>
              </a:rPr>
              <a:t>for</a:t>
            </a:r>
            <a:r>
              <a:rPr sz="897" b="0">
                <a:solidFill>
                  <a:srgbClr val="E2E8F0"/>
                </a:solidFill>
                <a:latin typeface="Roboto Mono"/>
              </a:rPr>
              <a:t> (</a:t>
            </a:r>
            <a:r>
              <a:rPr sz="897" b="0">
                <a:solidFill>
                  <a:srgbClr val="F472B6"/>
                </a:solidFill>
                <a:latin typeface="Roboto Mono"/>
              </a:rPr>
              <a:t>auto</a:t>
            </a:r>
            <a:r>
              <a:rPr sz="897" b="0">
                <a:solidFill>
                  <a:srgbClr val="E2E8F0"/>
                </a:solidFill>
                <a:latin typeface="Roboto Mono"/>
              </a:rPr>
              <a:t> x : filtered) {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0555" y="2486025"/>
            <a:ext cx="4743331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897" b="0">
                <a:solidFill>
                  <a:srgbClr val="F472B6"/>
                </a:solidFill>
                <a:latin typeface="Roboto Mono"/>
              </a:rPr>
              <a:t>std::cout</a:t>
            </a:r>
            <a:r>
              <a:rPr sz="897" b="0">
                <a:solidFill>
                  <a:srgbClr val="E2E8F0"/>
                </a:solidFill>
                <a:latin typeface="Roboto Mono"/>
              </a:rPr>
              <a:t> &lt;&lt; x &lt;&lt; </a:t>
            </a:r>
            <a:r>
              <a:rPr sz="897" b="0">
                <a:solidFill>
                  <a:srgbClr val="FBBF24"/>
                </a:solidFill>
                <a:latin typeface="Roboto Mono"/>
              </a:rPr>
              <a:t>' '</a:t>
            </a:r>
            <a:r>
              <a:rPr sz="897" b="0">
                <a:solidFill>
                  <a:srgbClr val="E2E8F0"/>
                </a:solidFill>
                <a:latin typeface="Roboto Mono"/>
              </a:rPr>
              <a:t>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0555" y="2714625"/>
            <a:ext cx="4743331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897" b="0">
                <a:solidFill>
                  <a:srgbClr val="E2E8F0"/>
                </a:solidFill>
                <a:latin typeface="Roboto Mono"/>
              </a:rPr>
              <a:t>}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66733" y="3272677"/>
            <a:ext cx="190495" cy="17929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33426" y="3228975"/>
            <a:ext cx="1314417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076" b="1">
                <a:solidFill>
                  <a:srgbClr val="FFFFFF"/>
                </a:solidFill>
                <a:latin typeface="Roboto"/>
              </a:rPr>
              <a:t>Transform Views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6733" y="3571875"/>
            <a:ext cx="4990975" cy="1447800"/>
          </a:xfrm>
          <a:prstGeom prst="roundRect">
            <a:avLst>
              <a:gd name="adj" fmla="val 10526"/>
            </a:avLst>
          </a:prstGeom>
          <a:solidFill>
            <a:srgbClr val="1E293B">
              <a:alpha val="60000"/>
            </a:srgbClr>
          </a:solidFill>
          <a:ln w="825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90555" y="3695699"/>
            <a:ext cx="4743331" cy="466724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897" b="0">
                <a:solidFill>
                  <a:srgbClr val="F472B6"/>
                </a:solidFill>
                <a:latin typeface="Roboto Mono"/>
              </a:rPr>
              <a:t>auto</a:t>
            </a:r>
            <a:r>
              <a:rPr sz="897" b="0">
                <a:solidFill>
                  <a:srgbClr val="E2E8F0"/>
                </a:solidFill>
                <a:latin typeface="Roboto Mono"/>
              </a:rPr>
              <a:t> transformed = data | </a:t>
            </a:r>
            <a:r>
              <a:rPr sz="897" b="0">
                <a:solidFill>
                  <a:srgbClr val="F472B6"/>
                </a:solidFill>
                <a:latin typeface="Roboto Mono"/>
              </a:rPr>
              <a:t>std::views::transform</a:t>
            </a:r>
            <a:r>
              <a:rPr sz="897" b="0">
                <a:solidFill>
                  <a:srgbClr val="E2E8F0"/>
                </a:solidFill>
                <a:latin typeface="Roboto Mono"/>
              </a:rPr>
              <a:t>(square);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0555" y="4190999"/>
            <a:ext cx="4743331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260"/>
              </a:spcBef>
              <a:spcAft>
                <a:spcPts val="0"/>
              </a:spcAft>
            </a:pPr>
            <a:r>
              <a:rPr sz="897" b="0">
                <a:solidFill>
                  <a:srgbClr val="F472B6"/>
                </a:solidFill>
                <a:latin typeface="Roboto Mono"/>
              </a:rPr>
              <a:t>for</a:t>
            </a:r>
            <a:r>
              <a:rPr sz="897" b="0">
                <a:solidFill>
                  <a:srgbClr val="E2E8F0"/>
                </a:solidFill>
                <a:latin typeface="Roboto Mono"/>
              </a:rPr>
              <a:t> (</a:t>
            </a:r>
            <a:r>
              <a:rPr sz="897" b="0">
                <a:solidFill>
                  <a:srgbClr val="F472B6"/>
                </a:solidFill>
                <a:latin typeface="Roboto Mono"/>
              </a:rPr>
              <a:t>auto</a:t>
            </a:r>
            <a:r>
              <a:rPr sz="897" b="0">
                <a:solidFill>
                  <a:srgbClr val="E2E8F0"/>
                </a:solidFill>
                <a:latin typeface="Roboto Mono"/>
              </a:rPr>
              <a:t> x : transformed) {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555" y="4429125"/>
            <a:ext cx="4743331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897" b="0">
                <a:solidFill>
                  <a:srgbClr val="F472B6"/>
                </a:solidFill>
                <a:latin typeface="Roboto Mono"/>
              </a:rPr>
              <a:t>std::cout</a:t>
            </a:r>
            <a:r>
              <a:rPr sz="897" b="0">
                <a:solidFill>
                  <a:srgbClr val="E2E8F0"/>
                </a:solidFill>
                <a:latin typeface="Roboto Mono"/>
              </a:rPr>
              <a:t> &lt;&lt; x &lt;&lt; </a:t>
            </a:r>
            <a:r>
              <a:rPr sz="897" b="0">
                <a:solidFill>
                  <a:srgbClr val="FBBF24"/>
                </a:solidFill>
                <a:latin typeface="Roboto Mono"/>
              </a:rPr>
              <a:t>' '</a:t>
            </a:r>
            <a:r>
              <a:rPr sz="897" b="0">
                <a:solidFill>
                  <a:srgbClr val="E2E8F0"/>
                </a:solidFill>
                <a:latin typeface="Roboto Mono"/>
              </a:rPr>
              <a:t>;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0555" y="4657725"/>
            <a:ext cx="4743331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897" b="0">
                <a:solidFill>
                  <a:srgbClr val="E2E8F0"/>
                </a:solidFill>
                <a:latin typeface="Roboto Mono"/>
              </a:rPr>
              <a:t>}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6733" y="5172075"/>
            <a:ext cx="4990975" cy="981074"/>
          </a:xfrm>
          <a:prstGeom prst="roundRect">
            <a:avLst>
              <a:gd name="adj" fmla="val 15533"/>
            </a:avLst>
          </a:prstGeom>
          <a:solidFill>
            <a:srgbClr val="1E293B">
              <a:alpha val="60000"/>
            </a:srgbClr>
          </a:solidFill>
          <a:ln w="825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90555" y="5295899"/>
            <a:ext cx="4743331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897" b="0">
                <a:solidFill>
                  <a:srgbClr val="F472B6"/>
                </a:solidFill>
                <a:latin typeface="Roboto Mono"/>
              </a:rPr>
              <a:t>auto</a:t>
            </a:r>
            <a:r>
              <a:rPr sz="897" b="0">
                <a:solidFill>
                  <a:srgbClr val="E2E8F0"/>
                </a:solidFill>
                <a:latin typeface="Roboto Mono"/>
              </a:rPr>
              <a:t> chain = data | </a:t>
            </a:r>
            <a:r>
              <a:rPr sz="897" b="0">
                <a:solidFill>
                  <a:srgbClr val="F472B6"/>
                </a:solidFill>
                <a:latin typeface="Roboto Mono"/>
              </a:rPr>
              <a:t>std::views::filter</a:t>
            </a:r>
            <a:r>
              <a:rPr sz="897" b="0">
                <a:solidFill>
                  <a:srgbClr val="E2E8F0"/>
                </a:solidFill>
                <a:latin typeface="Roboto Mono"/>
              </a:rPr>
              <a:t>(is_even)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0555" y="5524499"/>
            <a:ext cx="4743331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897" b="0">
                <a:solidFill>
                  <a:srgbClr val="E2E8F0"/>
                </a:solidFill>
                <a:latin typeface="Roboto Mono"/>
              </a:rPr>
              <a:t>| </a:t>
            </a:r>
            <a:r>
              <a:rPr sz="897" b="0">
                <a:solidFill>
                  <a:srgbClr val="F472B6"/>
                </a:solidFill>
                <a:latin typeface="Roboto Mono"/>
              </a:rPr>
              <a:t>std::views::transform</a:t>
            </a:r>
            <a:r>
              <a:rPr sz="897" b="0">
                <a:solidFill>
                  <a:srgbClr val="E2E8F0"/>
                </a:solidFill>
                <a:latin typeface="Roboto Mono"/>
              </a:rPr>
              <a:t>(square);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55" y="5791200"/>
            <a:ext cx="4743331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260"/>
              </a:spcBef>
              <a:spcAft>
                <a:spcPts val="0"/>
              </a:spcAft>
            </a:pPr>
            <a:r>
              <a:rPr sz="897" b="0">
                <a:solidFill>
                  <a:srgbClr val="F472B6"/>
                </a:solidFill>
                <a:latin typeface="Roboto Mono"/>
              </a:rPr>
              <a:t>for</a:t>
            </a:r>
            <a:r>
              <a:rPr sz="897" b="0">
                <a:solidFill>
                  <a:srgbClr val="E2E8F0"/>
                </a:solidFill>
                <a:latin typeface="Roboto Mono"/>
              </a:rPr>
              <a:t> (</a:t>
            </a:r>
            <a:r>
              <a:rPr sz="897" b="0">
                <a:solidFill>
                  <a:srgbClr val="F472B6"/>
                </a:solidFill>
                <a:latin typeface="Roboto Mono"/>
              </a:rPr>
              <a:t>auto</a:t>
            </a:r>
            <a:r>
              <a:rPr sz="897" b="0">
                <a:solidFill>
                  <a:srgbClr val="E2E8F0"/>
                </a:solidFill>
                <a:latin typeface="Roboto Mono"/>
              </a:rPr>
              <a:t> x : chain) { }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038699" y="3047999"/>
            <a:ext cx="5486262" cy="647699"/>
          </a:xfrm>
          <a:prstGeom prst="roundRect">
            <a:avLst>
              <a:gd name="adj" fmla="val 23529"/>
            </a:avLst>
          </a:prstGeom>
          <a:solidFill>
            <a:srgbClr val="1E293B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 Same Side Corner Rectangle 22"/>
          <p:cNvSpPr/>
          <p:nvPr/>
        </p:nvSpPr>
        <p:spPr>
          <a:xfrm rot="16200000">
            <a:off x="5780890" y="3305808"/>
            <a:ext cx="647699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191095" y="3236258"/>
            <a:ext cx="190495" cy="15688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495887" y="3162299"/>
            <a:ext cx="2457388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1">
                <a:solidFill>
                  <a:srgbClr val="FFFFFF"/>
                </a:solidFill>
                <a:latin typeface="Roboto"/>
              </a:rPr>
              <a:t>Composability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5887" y="3390899"/>
            <a:ext cx="2457388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CBD5E1"/>
                </a:solidFill>
                <a:latin typeface="Roboto"/>
              </a:rPr>
              <a:t>Combine operations with pipe operator (|)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038699" y="3809999"/>
            <a:ext cx="5486262" cy="647699"/>
          </a:xfrm>
          <a:prstGeom prst="roundRect">
            <a:avLst>
              <a:gd name="adj" fmla="val 23529"/>
            </a:avLst>
          </a:prstGeom>
          <a:solidFill>
            <a:srgbClr val="1E293B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 Same Side Corner Rectangle 27"/>
          <p:cNvSpPr/>
          <p:nvPr/>
        </p:nvSpPr>
        <p:spPr>
          <a:xfrm rot="16200000">
            <a:off x="5780890" y="4067808"/>
            <a:ext cx="647699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191095" y="4008063"/>
            <a:ext cx="190495" cy="13727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495887" y="3924299"/>
            <a:ext cx="2200219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1">
                <a:solidFill>
                  <a:srgbClr val="FFFFFF"/>
                </a:solidFill>
                <a:latin typeface="Roboto"/>
              </a:rPr>
              <a:t>Lazy Evaluation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5887" y="4152899"/>
            <a:ext cx="2200219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CBD5E1"/>
                </a:solidFill>
                <a:latin typeface="Roboto"/>
              </a:rPr>
              <a:t>Processing occurs only when needed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038699" y="4572000"/>
            <a:ext cx="5486262" cy="647699"/>
          </a:xfrm>
          <a:prstGeom prst="roundRect">
            <a:avLst>
              <a:gd name="adj" fmla="val 23529"/>
            </a:avLst>
          </a:prstGeom>
          <a:solidFill>
            <a:srgbClr val="1E293B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 Same Side Corner Rectangle 32"/>
          <p:cNvSpPr/>
          <p:nvPr/>
        </p:nvSpPr>
        <p:spPr>
          <a:xfrm rot="16200000">
            <a:off x="5780890" y="4829809"/>
            <a:ext cx="647699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4" name="Picture 33" descr="image.png"/>
          <p:cNvPicPr>
            <a:picLocks noChangeAspect="1"/>
          </p:cNvPicPr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191095" y="4763060"/>
            <a:ext cx="190495" cy="151279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6495887" y="4686300"/>
            <a:ext cx="1523961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1">
                <a:solidFill>
                  <a:srgbClr val="FFFFFF"/>
                </a:solidFill>
                <a:latin typeface="Roboto"/>
              </a:rPr>
              <a:t>Zero-Cost Abstraction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5887" y="4914900"/>
            <a:ext cx="1523961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CBD5E1"/>
                </a:solidFill>
                <a:latin typeface="Roboto"/>
              </a:rPr>
              <a:t>No temporary allocations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038699" y="5372100"/>
            <a:ext cx="5486262" cy="1104900"/>
          </a:xfrm>
          <a:prstGeom prst="roundRect">
            <a:avLst>
              <a:gd name="adj" fmla="val 13793"/>
            </a:avLst>
          </a:prstGeom>
          <a:gradFill rotWithShape="1">
            <a:gsLst>
              <a:gs pos="0">
                <a:srgbClr val="3B82F6">
                  <a:alpha val="10000"/>
                </a:srgbClr>
              </a:gs>
              <a:gs pos="100000">
                <a:srgbClr val="F59E0B">
                  <a:alpha val="10000"/>
                </a:srgbClr>
              </a:gs>
            </a:gsLst>
            <a:lin ang="10800000" scaled="0"/>
          </a:gradFill>
          <a:ln w="8255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6200619" y="5587365"/>
            <a:ext cx="228594" cy="21717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6543511" y="5543550"/>
            <a:ext cx="4819529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260"/>
              </a:spcAft>
            </a:pPr>
            <a:r>
              <a:rPr sz="1076" b="1">
                <a:solidFill>
                  <a:srgbClr val="FFFFFF"/>
                </a:solidFill>
                <a:latin typeface="Roboto"/>
              </a:rPr>
              <a:t>Common Ranges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43511" y="5848350"/>
            <a:ext cx="4819529" cy="476249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F472B6"/>
                </a:solidFill>
                <a:latin typeface="Roboto Mono"/>
              </a:rPr>
              <a:t>views::filter</a:t>
            </a:r>
            <a:r>
              <a:rPr sz="956" b="0">
                <a:solidFill>
                  <a:srgbClr val="CBD5E1"/>
                </a:solidFill>
                <a:latin typeface="Roboto"/>
              </a:rPr>
              <a:t>, </a:t>
            </a:r>
            <a:r>
              <a:rPr sz="956" b="0">
                <a:solidFill>
                  <a:srgbClr val="F472B6"/>
                </a:solidFill>
                <a:latin typeface="Roboto Mono"/>
              </a:rPr>
              <a:t>views::transform</a:t>
            </a:r>
            <a:r>
              <a:rPr sz="956" b="0">
                <a:solidFill>
                  <a:srgbClr val="CBD5E1"/>
                </a:solidFill>
                <a:latin typeface="Roboto"/>
              </a:rPr>
              <a:t>, </a:t>
            </a:r>
            <a:r>
              <a:rPr sz="956" b="0">
                <a:solidFill>
                  <a:srgbClr val="F472B6"/>
                </a:solidFill>
                <a:latin typeface="Roboto Mono"/>
              </a:rPr>
              <a:t>views::take</a:t>
            </a:r>
            <a:r>
              <a:rPr sz="956" b="0">
                <a:solidFill>
                  <a:srgbClr val="CBD5E1"/>
                </a:solidFill>
                <a:latin typeface="Roboto"/>
              </a:rPr>
              <a:t>, </a:t>
            </a:r>
            <a:r>
              <a:rPr sz="956" b="0">
                <a:solidFill>
                  <a:srgbClr val="F472B6"/>
                </a:solidFill>
                <a:latin typeface="Roboto Mono"/>
              </a:rPr>
              <a:t>views::drop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781799"/>
            <a:ext cx="12191695" cy="76200"/>
          </a:xfrm>
          <a:prstGeom prst="rect">
            <a:avLst/>
          </a:prstGeom>
          <a:gradFill rotWithShape="1">
            <a:gsLst>
              <a:gs pos="0">
                <a:srgbClr val="3B82F6"/>
              </a:gs>
              <a:gs pos="50000">
                <a:srgbClr val="F59E0B"/>
              </a:gs>
              <a:gs pos="100000">
                <a:srgbClr val="3B82F6"/>
              </a:gs>
            </a:gsLst>
            <a:lin ang="108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F172A"/>
            </a:gs>
            <a:gs pos="50000">
              <a:srgbClr val="1E293B"/>
            </a:gs>
            <a:gs pos="100000">
              <a:srgbClr val="0F172A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66733" y="114300"/>
            <a:ext cx="4581410" cy="5715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  <a:spcAft>
                <a:spcPts val="0"/>
              </a:spcAft>
            </a:pPr>
            <a:r>
              <a:rPr sz="2392" b="1">
                <a:solidFill>
                  <a:srgbClr val="FFFFFF"/>
                </a:solidFill>
                <a:latin typeface="Roboto"/>
              </a:rPr>
              <a:t>Best Practices &amp; Examples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666733" y="1674495"/>
            <a:ext cx="228594" cy="19430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71525" y="1638299"/>
            <a:ext cx="1847803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196" b="1">
                <a:solidFill>
                  <a:srgbClr val="FFFFFF"/>
                </a:solidFill>
                <a:latin typeface="Roboto"/>
              </a:rPr>
              <a:t>Use Range-Based For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6733" y="2038349"/>
            <a:ext cx="5238619" cy="514350"/>
          </a:xfrm>
          <a:prstGeom prst="roundRect">
            <a:avLst>
              <a:gd name="adj" fmla="val 29629"/>
            </a:avLst>
          </a:prstGeom>
          <a:solidFill>
            <a:srgbClr val="1E293B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 Same Side Corner Rectangle 5"/>
          <p:cNvSpPr/>
          <p:nvPr/>
        </p:nvSpPr>
        <p:spPr>
          <a:xfrm rot="16200000">
            <a:off x="475598" y="2229484"/>
            <a:ext cx="514350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9129" y="2241447"/>
            <a:ext cx="171445" cy="12720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66773" y="2152650"/>
            <a:ext cx="1657308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E2E8F0"/>
                </a:solidFill>
                <a:latin typeface="Roboto"/>
              </a:rPr>
              <a:t>Iterating entire container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6733" y="2628900"/>
            <a:ext cx="5238619" cy="514350"/>
          </a:xfrm>
          <a:prstGeom prst="roundRect">
            <a:avLst>
              <a:gd name="adj" fmla="val 29629"/>
            </a:avLst>
          </a:prstGeom>
          <a:solidFill>
            <a:srgbClr val="1E293B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 Same Side Corner Rectangle 9"/>
          <p:cNvSpPr/>
          <p:nvPr/>
        </p:nvSpPr>
        <p:spPr>
          <a:xfrm rot="16200000">
            <a:off x="475598" y="2820035"/>
            <a:ext cx="514350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9129" y="2831997"/>
            <a:ext cx="171445" cy="12720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66773" y="2743200"/>
            <a:ext cx="1581110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E2E8F0"/>
                </a:solidFill>
                <a:latin typeface="Roboto"/>
              </a:rPr>
              <a:t>Simple iteration pattern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6733" y="3219449"/>
            <a:ext cx="5238619" cy="514350"/>
          </a:xfrm>
          <a:prstGeom prst="roundRect">
            <a:avLst>
              <a:gd name="adj" fmla="val 29629"/>
            </a:avLst>
          </a:prstGeom>
          <a:solidFill>
            <a:srgbClr val="1E293B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 Same Side Corner Rectangle 13"/>
          <p:cNvSpPr/>
          <p:nvPr/>
        </p:nvSpPr>
        <p:spPr>
          <a:xfrm rot="16200000">
            <a:off x="475598" y="3410584"/>
            <a:ext cx="514350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9129" y="3422547"/>
            <a:ext cx="171445" cy="12720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066773" y="3333749"/>
            <a:ext cx="1924001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E2E8F0"/>
                </a:solidFill>
                <a:latin typeface="Roboto"/>
              </a:rPr>
              <a:t>Read-only or modify-in-place</a:t>
            </a:r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66733" y="4013834"/>
            <a:ext cx="228594" cy="12572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71525" y="3943350"/>
            <a:ext cx="1619209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196" b="1">
                <a:solidFill>
                  <a:srgbClr val="FFFFFF"/>
                </a:solidFill>
                <a:latin typeface="Roboto"/>
              </a:rPr>
              <a:t>Use Traditional For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6733" y="4343400"/>
            <a:ext cx="5238619" cy="514350"/>
          </a:xfrm>
          <a:prstGeom prst="roundRect">
            <a:avLst>
              <a:gd name="adj" fmla="val 29629"/>
            </a:avLst>
          </a:prstGeom>
          <a:solidFill>
            <a:srgbClr val="1E293B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 Same Side Corner Rectangle 19"/>
          <p:cNvSpPr/>
          <p:nvPr/>
        </p:nvSpPr>
        <p:spPr>
          <a:xfrm rot="16200000">
            <a:off x="475598" y="4534535"/>
            <a:ext cx="514350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19129" y="4546497"/>
            <a:ext cx="171445" cy="12720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066773" y="4457700"/>
            <a:ext cx="1276318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E2E8F0"/>
                </a:solidFill>
                <a:latin typeface="Roboto"/>
              </a:rPr>
              <a:t>Need index access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6733" y="4933950"/>
            <a:ext cx="5238619" cy="514350"/>
          </a:xfrm>
          <a:prstGeom prst="roundRect">
            <a:avLst>
              <a:gd name="adj" fmla="val 29629"/>
            </a:avLst>
          </a:prstGeom>
          <a:solidFill>
            <a:srgbClr val="1E293B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 Same Side Corner Rectangle 23"/>
          <p:cNvSpPr/>
          <p:nvPr/>
        </p:nvSpPr>
        <p:spPr>
          <a:xfrm rot="16200000">
            <a:off x="475598" y="5125085"/>
            <a:ext cx="514350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19129" y="5137047"/>
            <a:ext cx="171445" cy="12720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066773" y="5048250"/>
            <a:ext cx="2562160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E2E8F0"/>
                </a:solidFill>
                <a:latin typeface="Roboto"/>
              </a:rPr>
              <a:t>Need iterator for advanced operations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66733" y="5524499"/>
            <a:ext cx="5238619" cy="514350"/>
          </a:xfrm>
          <a:prstGeom prst="roundRect">
            <a:avLst>
              <a:gd name="adj" fmla="val 29629"/>
            </a:avLst>
          </a:prstGeom>
          <a:solidFill>
            <a:srgbClr val="1E293B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 Same Side Corner Rectangle 27"/>
          <p:cNvSpPr/>
          <p:nvPr/>
        </p:nvSpPr>
        <p:spPr>
          <a:xfrm rot="16200000">
            <a:off x="475598" y="5715634"/>
            <a:ext cx="514350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19129" y="5727597"/>
            <a:ext cx="171445" cy="12720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066773" y="5638799"/>
            <a:ext cx="1657308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E2E8F0"/>
                </a:solidFill>
                <a:latin typeface="Roboto"/>
              </a:rPr>
              <a:t>Modifying container size</a:t>
            </a:r>
          </a:p>
        </p:txBody>
      </p:sp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286342" y="1545431"/>
            <a:ext cx="228594" cy="185737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591135" y="1504950"/>
            <a:ext cx="1685882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196" b="1">
                <a:solidFill>
                  <a:srgbClr val="FFFFFF"/>
                </a:solidFill>
                <a:latin typeface="Roboto"/>
              </a:rPr>
              <a:t>Core Best Practices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86342" y="1904999"/>
            <a:ext cx="5238619" cy="714375"/>
          </a:xfrm>
          <a:prstGeom prst="roundRect">
            <a:avLst>
              <a:gd name="adj" fmla="val 21333"/>
            </a:avLst>
          </a:prstGeom>
          <a:gradFill rotWithShape="1">
            <a:gsLst>
              <a:gs pos="0">
                <a:srgbClr val="3B82F6">
                  <a:alpha val="20000"/>
                </a:srgbClr>
              </a:gs>
              <a:gs pos="100000">
                <a:srgbClr val="3B82F6">
                  <a:alpha val="10000"/>
                </a:srgbClr>
              </a:gs>
            </a:gsLst>
            <a:lin ang="10800000" scaled="0"/>
          </a:gradFill>
          <a:ln w="8255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4" name="Picture 33" descr="image.png"/>
          <p:cNvPicPr>
            <a:picLocks noChangeAspect="1"/>
          </p:cNvPicPr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6410164" y="2096060"/>
            <a:ext cx="190495" cy="151279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6676858" y="2019299"/>
            <a:ext cx="2819329" cy="2381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260"/>
              </a:spcAft>
            </a:pPr>
            <a:r>
              <a:rPr sz="956" b="1">
                <a:solidFill>
                  <a:srgbClr val="FFFFFF"/>
                </a:solidFill>
                <a:latin typeface="Roboto"/>
              </a:rPr>
              <a:t>Use </a:t>
            </a:r>
            <a:r>
              <a:rPr sz="956" b="1">
                <a:solidFill>
                  <a:srgbClr val="F472B6"/>
                </a:solidFill>
                <a:latin typeface="Roboto Mono"/>
              </a:rPr>
              <a:t>const auto&amp;</a:t>
            </a:r>
            <a:r>
              <a:rPr sz="956" b="1">
                <a:solidFill>
                  <a:srgbClr val="FFFFFF"/>
                </a:solidFill>
                <a:latin typeface="Roboto"/>
              </a:rPr>
              <a:t> by Default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76858" y="2305049"/>
            <a:ext cx="2819329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CBD5E1"/>
                </a:solidFill>
                <a:latin typeface="Roboto"/>
              </a:rPr>
              <a:t>Avoids copies, prevents accidental modification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86342" y="2686050"/>
            <a:ext cx="5238619" cy="714375"/>
          </a:xfrm>
          <a:prstGeom prst="roundRect">
            <a:avLst>
              <a:gd name="adj" fmla="val 21333"/>
            </a:avLst>
          </a:prstGeom>
          <a:gradFill rotWithShape="1">
            <a:gsLst>
              <a:gs pos="0">
                <a:srgbClr val="F59E0B">
                  <a:alpha val="20000"/>
                </a:srgbClr>
              </a:gs>
              <a:gs pos="100000">
                <a:srgbClr val="F59E0B">
                  <a:alpha val="10000"/>
                </a:srgbClr>
              </a:gs>
            </a:gsLst>
            <a:lin ang="10800000" scaled="0"/>
          </a:gradFill>
          <a:ln w="8255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6410164" y="2896160"/>
            <a:ext cx="190495" cy="151279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6676858" y="2819399"/>
            <a:ext cx="1971625" cy="2381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260"/>
              </a:spcAft>
            </a:pPr>
            <a:r>
              <a:rPr sz="956" b="1">
                <a:solidFill>
                  <a:srgbClr val="FFFFFF"/>
                </a:solidFill>
                <a:latin typeface="Roboto"/>
              </a:rPr>
              <a:t>Use </a:t>
            </a:r>
            <a:r>
              <a:rPr sz="956" b="1">
                <a:solidFill>
                  <a:srgbClr val="F472B6"/>
                </a:solidFill>
                <a:latin typeface="Roboto Mono"/>
              </a:rPr>
              <a:t>auto&amp;</a:t>
            </a:r>
            <a:r>
              <a:rPr sz="956" b="1">
                <a:solidFill>
                  <a:srgbClr val="FFFFFF"/>
                </a:solidFill>
                <a:latin typeface="Roboto"/>
              </a:rPr>
              <a:t> for Modification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76858" y="3086100"/>
            <a:ext cx="1971625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CBD5E1"/>
                </a:solidFill>
                <a:latin typeface="Roboto"/>
              </a:rPr>
              <a:t>Explicit intent to modify elements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86342" y="3562349"/>
            <a:ext cx="5238619" cy="514350"/>
          </a:xfrm>
          <a:prstGeom prst="roundRect">
            <a:avLst>
              <a:gd name="adj" fmla="val 29629"/>
            </a:avLst>
          </a:prstGeom>
          <a:solidFill>
            <a:srgbClr val="1E293B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ound Same Side Corner Rectangle 41"/>
          <p:cNvSpPr/>
          <p:nvPr/>
        </p:nvSpPr>
        <p:spPr>
          <a:xfrm rot="16200000">
            <a:off x="6095207" y="3753484"/>
            <a:ext cx="514350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6438739" y="3750608"/>
            <a:ext cx="190495" cy="156882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6705432" y="3676649"/>
            <a:ext cx="2638359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E2E8F0"/>
                </a:solidFill>
                <a:latin typeface="Roboto"/>
              </a:rPr>
              <a:t>Never modify container during iteration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286342" y="4152899"/>
            <a:ext cx="5238619" cy="514350"/>
          </a:xfrm>
          <a:prstGeom prst="roundRect">
            <a:avLst>
              <a:gd name="adj" fmla="val 29629"/>
            </a:avLst>
          </a:prstGeom>
          <a:solidFill>
            <a:srgbClr val="1E293B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ound Same Side Corner Rectangle 45"/>
          <p:cNvSpPr/>
          <p:nvPr/>
        </p:nvSpPr>
        <p:spPr>
          <a:xfrm rot="16200000">
            <a:off x="6095207" y="4344034"/>
            <a:ext cx="514350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7" name="Picture 46" descr="image.png"/>
          <p:cNvPicPr>
            <a:picLocks noChangeAspect="1"/>
          </p:cNvPicPr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6438739" y="4350963"/>
            <a:ext cx="190495" cy="137272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6705432" y="4267199"/>
            <a:ext cx="2657408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E2E8F0"/>
                </a:solidFill>
                <a:latin typeface="Roboto"/>
              </a:rPr>
              <a:t>Consider performance for large objects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286342" y="4819650"/>
            <a:ext cx="5238619" cy="1371600"/>
          </a:xfrm>
          <a:prstGeom prst="roundRect">
            <a:avLst>
              <a:gd name="adj" fmla="val 11111"/>
            </a:avLst>
          </a:prstGeom>
          <a:gradFill rotWithShape="1">
            <a:gsLst>
              <a:gs pos="0">
                <a:srgbClr val="22C55E">
                  <a:alpha val="20000"/>
                </a:srgbClr>
              </a:gs>
              <a:gs pos="100000">
                <a:srgbClr val="3B82F6">
                  <a:alpha val="20000"/>
                </a:srgbClr>
              </a:gs>
            </a:gsLst>
            <a:lin ang="10800000" scaled="0"/>
          </a:gradFill>
          <a:ln w="8255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0" name="Picture 49" descr="image.png"/>
          <p:cNvPicPr>
            <a:picLocks noChangeAspect="1"/>
          </p:cNvPicPr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6448263" y="5031581"/>
            <a:ext cx="228594" cy="185737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6791155" y="4972050"/>
            <a:ext cx="4571885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260"/>
              </a:spcAft>
            </a:pPr>
            <a:r>
              <a:rPr sz="1076" b="1">
                <a:solidFill>
                  <a:srgbClr val="FFFFFF"/>
                </a:solidFill>
                <a:latin typeface="Roboto"/>
              </a:rPr>
              <a:t>Bottom Line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791155" y="5276850"/>
            <a:ext cx="4571885" cy="74295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E2E8F0"/>
                </a:solidFill>
                <a:latin typeface="Roboto"/>
              </a:rPr>
              <a:t>Range-based for loops make code cleaner, safer, and more maintainable. Use them whenever you need to iterate over an entire container.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0" y="6781799"/>
            <a:ext cx="12191695" cy="76200"/>
          </a:xfrm>
          <a:prstGeom prst="rect">
            <a:avLst/>
          </a:prstGeom>
          <a:gradFill rotWithShape="1">
            <a:gsLst>
              <a:gs pos="0">
                <a:srgbClr val="3B82F6"/>
              </a:gs>
              <a:gs pos="50000">
                <a:srgbClr val="F59E0B"/>
              </a:gs>
              <a:gs pos="100000">
                <a:srgbClr val="3B82F6"/>
              </a:gs>
            </a:gsLst>
            <a:lin ang="108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F172A"/>
            </a:gs>
            <a:gs pos="50000">
              <a:srgbClr val="1E293B"/>
            </a:gs>
            <a:gs pos="100000">
              <a:srgbClr val="0F172A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66733" y="114300"/>
            <a:ext cx="5029074" cy="5715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  <a:spcAft>
                <a:spcPts val="0"/>
              </a:spcAft>
            </a:pPr>
            <a:r>
              <a:rPr sz="2392" b="1">
                <a:solidFill>
                  <a:srgbClr val="FFFFFF"/>
                </a:solidFill>
                <a:latin typeface="Roboto"/>
              </a:rPr>
              <a:t>User-Defined Data Structures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666733" y="2198370"/>
            <a:ext cx="228594" cy="19430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71525" y="2162174"/>
            <a:ext cx="2143071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196" b="1">
                <a:solidFill>
                  <a:srgbClr val="FFFFFF"/>
                </a:solidFill>
                <a:latin typeface="Roboto"/>
              </a:rPr>
              <a:t>Custom Matrix Container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6733" y="2562224"/>
            <a:ext cx="5238619" cy="2952750"/>
          </a:xfrm>
          <a:prstGeom prst="roundRect">
            <a:avLst>
              <a:gd name="adj" fmla="val 5161"/>
            </a:avLst>
          </a:prstGeom>
          <a:solidFill>
            <a:srgbClr val="1E293B">
              <a:alpha val="60000"/>
            </a:srgbClr>
          </a:solidFill>
          <a:ln w="825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8654" y="2724150"/>
            <a:ext cx="4914777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897" b="0">
                <a:solidFill>
                  <a:srgbClr val="F472B6"/>
                </a:solidFill>
                <a:latin typeface="Roboto Mono"/>
              </a:rPr>
              <a:t>class</a:t>
            </a:r>
            <a:r>
              <a:rPr sz="897" b="0">
                <a:solidFill>
                  <a:srgbClr val="E2E8F0"/>
                </a:solidFill>
                <a:latin typeface="Roboto Mono"/>
              </a:rPr>
              <a:t> Matrix {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8654" y="2962274"/>
            <a:ext cx="4914777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897" b="0">
                <a:solidFill>
                  <a:srgbClr val="F472B6"/>
                </a:solidFill>
                <a:latin typeface="Roboto Mono"/>
              </a:rPr>
              <a:t>std::vector</a:t>
            </a:r>
            <a:r>
              <a:rPr sz="897" b="0">
                <a:solidFill>
                  <a:srgbClr val="E2E8F0"/>
                </a:solidFill>
                <a:latin typeface="Roboto Mono"/>
              </a:rPr>
              <a:t>&lt;</a:t>
            </a:r>
            <a:r>
              <a:rPr sz="897" b="0">
                <a:solidFill>
                  <a:srgbClr val="60A5FA"/>
                </a:solidFill>
                <a:latin typeface="Roboto Mono"/>
              </a:rPr>
              <a:t>int</a:t>
            </a:r>
            <a:r>
              <a:rPr sz="897" b="0">
                <a:solidFill>
                  <a:srgbClr val="E2E8F0"/>
                </a:solidFill>
                <a:latin typeface="Roboto Mono"/>
              </a:rPr>
              <a:t>&gt; data;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8654" y="3190874"/>
            <a:ext cx="4914777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897" b="0">
                <a:solidFill>
                  <a:srgbClr val="60A5FA"/>
                </a:solidFill>
                <a:latin typeface="Roboto Mono"/>
              </a:rPr>
              <a:t>size_t</a:t>
            </a:r>
            <a:r>
              <a:rPr sz="897" b="0">
                <a:solidFill>
                  <a:srgbClr val="E2E8F0"/>
                </a:solidFill>
                <a:latin typeface="Roboto Mono"/>
              </a:rPr>
              <a:t> rows, cols;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8654" y="3429000"/>
            <a:ext cx="4914777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897" b="0">
                <a:solidFill>
                  <a:srgbClr val="F472B6"/>
                </a:solidFill>
                <a:latin typeface="Roboto Mono"/>
              </a:rPr>
              <a:t>public</a:t>
            </a:r>
            <a:r>
              <a:rPr sz="897" b="0">
                <a:solidFill>
                  <a:srgbClr val="E2E8F0"/>
                </a:solidFill>
                <a:latin typeface="Roboto Mono"/>
              </a:rPr>
              <a:t>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8654" y="3657600"/>
            <a:ext cx="4914777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897" b="0">
                <a:solidFill>
                  <a:srgbClr val="F472B6"/>
                </a:solidFill>
                <a:latin typeface="Roboto Mono"/>
              </a:rPr>
              <a:t>auto</a:t>
            </a:r>
            <a:r>
              <a:rPr sz="897" b="0">
                <a:solidFill>
                  <a:srgbClr val="E2E8F0"/>
                </a:solidFill>
                <a:latin typeface="Roboto Mono"/>
              </a:rPr>
              <a:t> </a:t>
            </a:r>
            <a:r>
              <a:rPr sz="897" b="0">
                <a:solidFill>
                  <a:srgbClr val="F472B6"/>
                </a:solidFill>
                <a:latin typeface="Roboto Mono"/>
              </a:rPr>
              <a:t>begin</a:t>
            </a:r>
            <a:r>
              <a:rPr sz="897" b="0">
                <a:solidFill>
                  <a:srgbClr val="E2E8F0"/>
                </a:solidFill>
                <a:latin typeface="Roboto Mono"/>
              </a:rPr>
              <a:t>() { </a:t>
            </a:r>
            <a:r>
              <a:rPr sz="897" b="0">
                <a:solidFill>
                  <a:srgbClr val="F472B6"/>
                </a:solidFill>
                <a:latin typeface="Roboto Mono"/>
              </a:rPr>
              <a:t>return</a:t>
            </a:r>
            <a:r>
              <a:rPr sz="897" b="0">
                <a:solidFill>
                  <a:srgbClr val="E2E8F0"/>
                </a:solidFill>
                <a:latin typeface="Roboto Mono"/>
              </a:rPr>
              <a:t> data.</a:t>
            </a:r>
            <a:r>
              <a:rPr sz="897" b="0">
                <a:solidFill>
                  <a:srgbClr val="F472B6"/>
                </a:solidFill>
                <a:latin typeface="Roboto Mono"/>
              </a:rPr>
              <a:t>begin</a:t>
            </a:r>
            <a:r>
              <a:rPr sz="897" b="0">
                <a:solidFill>
                  <a:srgbClr val="E2E8F0"/>
                </a:solidFill>
                <a:latin typeface="Roboto Mono"/>
              </a:rPr>
              <a:t>(); 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8654" y="3886200"/>
            <a:ext cx="4914777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897" b="0">
                <a:solidFill>
                  <a:srgbClr val="F472B6"/>
                </a:solidFill>
                <a:latin typeface="Roboto Mono"/>
              </a:rPr>
              <a:t>auto</a:t>
            </a:r>
            <a:r>
              <a:rPr sz="897" b="0">
                <a:solidFill>
                  <a:srgbClr val="E2E8F0"/>
                </a:solidFill>
                <a:latin typeface="Roboto Mono"/>
              </a:rPr>
              <a:t> </a:t>
            </a:r>
            <a:r>
              <a:rPr sz="897" b="0">
                <a:solidFill>
                  <a:srgbClr val="F472B6"/>
                </a:solidFill>
                <a:latin typeface="Roboto Mono"/>
              </a:rPr>
              <a:t>end</a:t>
            </a:r>
            <a:r>
              <a:rPr sz="897" b="0">
                <a:solidFill>
                  <a:srgbClr val="E2E8F0"/>
                </a:solidFill>
                <a:latin typeface="Roboto Mono"/>
              </a:rPr>
              <a:t>() { </a:t>
            </a:r>
            <a:r>
              <a:rPr sz="897" b="0">
                <a:solidFill>
                  <a:srgbClr val="F472B6"/>
                </a:solidFill>
                <a:latin typeface="Roboto Mono"/>
              </a:rPr>
              <a:t>return</a:t>
            </a:r>
            <a:r>
              <a:rPr sz="897" b="0">
                <a:solidFill>
                  <a:srgbClr val="E2E8F0"/>
                </a:solidFill>
                <a:latin typeface="Roboto Mono"/>
              </a:rPr>
              <a:t> data.</a:t>
            </a:r>
            <a:r>
              <a:rPr sz="897" b="0">
                <a:solidFill>
                  <a:srgbClr val="F472B6"/>
                </a:solidFill>
                <a:latin typeface="Roboto Mono"/>
              </a:rPr>
              <a:t>end</a:t>
            </a:r>
            <a:r>
              <a:rPr sz="897" b="0">
                <a:solidFill>
                  <a:srgbClr val="E2E8F0"/>
                </a:solidFill>
                <a:latin typeface="Roboto Mono"/>
              </a:rPr>
              <a:t>(); 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8654" y="4124324"/>
            <a:ext cx="4914777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897" b="0">
                <a:solidFill>
                  <a:srgbClr val="E2E8F0"/>
                </a:solidFill>
                <a:latin typeface="Roboto Mono"/>
              </a:rPr>
              <a:t>};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8654" y="4429125"/>
            <a:ext cx="4914777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897" b="0">
                <a:solidFill>
                  <a:srgbClr val="E2E8F0"/>
                </a:solidFill>
                <a:latin typeface="Roboto Mono"/>
              </a:rPr>
              <a:t>Matrix m(</a:t>
            </a:r>
            <a:r>
              <a:rPr sz="897" b="0">
                <a:solidFill>
                  <a:srgbClr val="FBBF24"/>
                </a:solidFill>
                <a:latin typeface="Roboto Mono"/>
              </a:rPr>
              <a:t>3</a:t>
            </a:r>
            <a:r>
              <a:rPr sz="897" b="0">
                <a:solidFill>
                  <a:srgbClr val="E2E8F0"/>
                </a:solidFill>
                <a:latin typeface="Roboto Mono"/>
              </a:rPr>
              <a:t>, </a:t>
            </a:r>
            <a:r>
              <a:rPr sz="897" b="0">
                <a:solidFill>
                  <a:srgbClr val="FBBF24"/>
                </a:solidFill>
                <a:latin typeface="Roboto Mono"/>
              </a:rPr>
              <a:t>3</a:t>
            </a:r>
            <a:r>
              <a:rPr sz="897" b="0">
                <a:solidFill>
                  <a:srgbClr val="E2E8F0"/>
                </a:solidFill>
                <a:latin typeface="Roboto Mono"/>
              </a:rPr>
              <a:t>);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8654" y="4657725"/>
            <a:ext cx="4914777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897" b="0">
                <a:solidFill>
                  <a:srgbClr val="F472B6"/>
                </a:solidFill>
                <a:latin typeface="Roboto Mono"/>
              </a:rPr>
              <a:t>for</a:t>
            </a:r>
            <a:r>
              <a:rPr sz="897" b="0">
                <a:solidFill>
                  <a:srgbClr val="E2E8F0"/>
                </a:solidFill>
                <a:latin typeface="Roboto Mono"/>
              </a:rPr>
              <a:t> (</a:t>
            </a:r>
            <a:r>
              <a:rPr sz="897" b="0">
                <a:solidFill>
                  <a:srgbClr val="60A5FA"/>
                </a:solidFill>
                <a:latin typeface="Roboto Mono"/>
              </a:rPr>
              <a:t>int</a:t>
            </a:r>
            <a:r>
              <a:rPr sz="897" b="0">
                <a:solidFill>
                  <a:srgbClr val="E2E8F0"/>
                </a:solidFill>
                <a:latin typeface="Roboto Mono"/>
              </a:rPr>
              <a:t> x : m) {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8654" y="4895849"/>
            <a:ext cx="4914777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897" b="0">
                <a:solidFill>
                  <a:srgbClr val="F472B6"/>
                </a:solidFill>
                <a:latin typeface="Roboto Mono"/>
              </a:rPr>
              <a:t>std::cout</a:t>
            </a:r>
            <a:r>
              <a:rPr sz="897" b="0">
                <a:solidFill>
                  <a:srgbClr val="E2E8F0"/>
                </a:solidFill>
                <a:latin typeface="Roboto Mono"/>
              </a:rPr>
              <a:t> &lt;&lt; x &lt;&lt; </a:t>
            </a:r>
            <a:r>
              <a:rPr sz="897" b="0">
                <a:solidFill>
                  <a:srgbClr val="FBBF24"/>
                </a:solidFill>
                <a:latin typeface="Roboto Mono"/>
              </a:rPr>
              <a:t>' '</a:t>
            </a:r>
            <a:r>
              <a:rPr sz="897" b="0">
                <a:solidFill>
                  <a:srgbClr val="E2E8F0"/>
                </a:solidFill>
                <a:latin typeface="Roboto Mono"/>
              </a:rPr>
              <a:t>;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8654" y="5124449"/>
            <a:ext cx="4914777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897" b="0">
                <a:solidFill>
                  <a:srgbClr val="E2E8F0"/>
                </a:solidFill>
                <a:latin typeface="Roboto Mono"/>
              </a:rPr>
              <a:t>}</a:t>
            </a:r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342" y="1206817"/>
            <a:ext cx="228594" cy="17716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591135" y="1162050"/>
            <a:ext cx="2276418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196" b="1">
                <a:solidFill>
                  <a:srgbClr val="FFFFFF"/>
                </a:solidFill>
                <a:latin typeface="Roboto"/>
              </a:rPr>
              <a:t>Custom Traversal Patterns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86342" y="1562100"/>
            <a:ext cx="5238619" cy="647699"/>
          </a:xfrm>
          <a:prstGeom prst="roundRect">
            <a:avLst>
              <a:gd name="adj" fmla="val 23529"/>
            </a:avLst>
          </a:prstGeom>
          <a:solidFill>
            <a:srgbClr val="1E293B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 Same Side Corner Rectangle 19"/>
          <p:cNvSpPr/>
          <p:nvPr/>
        </p:nvSpPr>
        <p:spPr>
          <a:xfrm rot="16200000">
            <a:off x="6028533" y="1819909"/>
            <a:ext cx="647699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438739" y="1758763"/>
            <a:ext cx="190495" cy="140073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743531" y="1676400"/>
            <a:ext cx="1552536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1">
                <a:solidFill>
                  <a:srgbClr val="FFFFFF"/>
                </a:solidFill>
                <a:latin typeface="Roboto"/>
              </a:rPr>
              <a:t>Row-Major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43531" y="1904999"/>
            <a:ext cx="1552536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CBD5E1"/>
                </a:solidFill>
                <a:latin typeface="Roboto"/>
              </a:rPr>
              <a:t>Left to right, top to bottom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86342" y="2324100"/>
            <a:ext cx="5238619" cy="647699"/>
          </a:xfrm>
          <a:prstGeom prst="roundRect">
            <a:avLst>
              <a:gd name="adj" fmla="val 23529"/>
            </a:avLst>
          </a:prstGeom>
          <a:solidFill>
            <a:srgbClr val="1E293B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 Same Side Corner Rectangle 24"/>
          <p:cNvSpPr/>
          <p:nvPr/>
        </p:nvSpPr>
        <p:spPr>
          <a:xfrm rot="16200000">
            <a:off x="6028533" y="2581909"/>
            <a:ext cx="647699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438739" y="2529167"/>
            <a:ext cx="190495" cy="123264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743531" y="2438400"/>
            <a:ext cx="1543011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1">
                <a:solidFill>
                  <a:srgbClr val="FFFFFF"/>
                </a:solidFill>
                <a:latin typeface="Roboto"/>
              </a:rPr>
              <a:t>Column-Major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43531" y="2667000"/>
            <a:ext cx="1543011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CBD5E1"/>
                </a:solidFill>
                <a:latin typeface="Roboto"/>
              </a:rPr>
              <a:t>Top to bottom, left to right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86342" y="3086100"/>
            <a:ext cx="5238619" cy="647699"/>
          </a:xfrm>
          <a:prstGeom prst="roundRect">
            <a:avLst>
              <a:gd name="adj" fmla="val 23529"/>
            </a:avLst>
          </a:prstGeom>
          <a:solidFill>
            <a:srgbClr val="1E293B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 Same Side Corner Rectangle 29"/>
          <p:cNvSpPr/>
          <p:nvPr/>
        </p:nvSpPr>
        <p:spPr>
          <a:xfrm rot="16200000">
            <a:off x="6028533" y="3343909"/>
            <a:ext cx="647699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438739" y="3332093"/>
            <a:ext cx="190495" cy="41413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743531" y="3200400"/>
            <a:ext cx="1447763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1">
                <a:solidFill>
                  <a:srgbClr val="FFFFFF"/>
                </a:solidFill>
                <a:latin typeface="Roboto"/>
              </a:rPr>
              <a:t>Diagonal Traversal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43531" y="3429000"/>
            <a:ext cx="1447763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CBD5E1"/>
                </a:solidFill>
                <a:latin typeface="Roboto"/>
              </a:rPr>
              <a:t>Custom access patterns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86342" y="3924299"/>
            <a:ext cx="5238619" cy="647699"/>
          </a:xfrm>
          <a:prstGeom prst="roundRect">
            <a:avLst>
              <a:gd name="adj" fmla="val 23529"/>
            </a:avLst>
          </a:prstGeom>
          <a:solidFill>
            <a:srgbClr val="1E293B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 Same Side Corner Rectangle 34"/>
          <p:cNvSpPr/>
          <p:nvPr/>
        </p:nvSpPr>
        <p:spPr>
          <a:xfrm rot="16200000">
            <a:off x="6028533" y="4182108"/>
            <a:ext cx="647699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6438739" y="4115360"/>
            <a:ext cx="190495" cy="151279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6743531" y="4038599"/>
            <a:ext cx="1314417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1">
                <a:solidFill>
                  <a:srgbClr val="FFFFFF"/>
                </a:solidFill>
                <a:latin typeface="Roboto"/>
              </a:rPr>
              <a:t>Iterator Adapters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43531" y="4267199"/>
            <a:ext cx="1314417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CBD5E1"/>
                </a:solidFill>
                <a:latin typeface="Roboto"/>
              </a:rPr>
              <a:t>Reverse, filtered views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286342" y="4686300"/>
            <a:ext cx="5238619" cy="647699"/>
          </a:xfrm>
          <a:prstGeom prst="roundRect">
            <a:avLst>
              <a:gd name="adj" fmla="val 23529"/>
            </a:avLst>
          </a:prstGeom>
          <a:solidFill>
            <a:srgbClr val="1E293B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ound Same Side Corner Rectangle 39"/>
          <p:cNvSpPr/>
          <p:nvPr/>
        </p:nvSpPr>
        <p:spPr>
          <a:xfrm rot="16200000">
            <a:off x="6028533" y="4944109"/>
            <a:ext cx="647699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6438739" y="4867555"/>
            <a:ext cx="190495" cy="170889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6743531" y="4800600"/>
            <a:ext cx="1523961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1">
                <a:solidFill>
                  <a:srgbClr val="FFFFFF"/>
                </a:solidFill>
                <a:latin typeface="Roboto"/>
              </a:rPr>
              <a:t>Nested Containers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43531" y="5029200"/>
            <a:ext cx="1523961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CBD5E1"/>
                </a:solidFill>
                <a:latin typeface="Roboto"/>
              </a:rPr>
              <a:t>Multiple levels of iteration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286342" y="5448300"/>
            <a:ext cx="5238619" cy="1085850"/>
          </a:xfrm>
          <a:prstGeom prst="roundRect">
            <a:avLst>
              <a:gd name="adj" fmla="val 14035"/>
            </a:avLst>
          </a:prstGeom>
          <a:gradFill rotWithShape="1">
            <a:gsLst>
              <a:gs pos="0">
                <a:srgbClr val="3B82F6">
                  <a:alpha val="10000"/>
                </a:srgbClr>
              </a:gs>
              <a:gs pos="100000">
                <a:srgbClr val="F59E0B">
                  <a:alpha val="10000"/>
                </a:srgbClr>
              </a:gs>
            </a:gsLst>
            <a:lin ang="10800000" scaled="0"/>
          </a:gradFill>
          <a:ln w="8255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6448263" y="5655944"/>
            <a:ext cx="228594" cy="194309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6791155" y="5600700"/>
            <a:ext cx="4571885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260"/>
              </a:spcAft>
            </a:pPr>
            <a:r>
              <a:rPr sz="1076" b="1">
                <a:solidFill>
                  <a:srgbClr val="FFFFFF"/>
                </a:solidFill>
                <a:latin typeface="Roboto"/>
              </a:rPr>
              <a:t>Key Insight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791155" y="5905500"/>
            <a:ext cx="4571885" cy="457200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CBD5E1"/>
                </a:solidFill>
                <a:latin typeface="Roboto"/>
              </a:rPr>
              <a:t>Custom iterators enable advanced traversal while maintaining range-based for syntax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6781799"/>
            <a:ext cx="12191695" cy="76200"/>
          </a:xfrm>
          <a:prstGeom prst="rect">
            <a:avLst/>
          </a:prstGeom>
          <a:gradFill rotWithShape="1">
            <a:gsLst>
              <a:gs pos="0">
                <a:srgbClr val="3B82F6"/>
              </a:gs>
              <a:gs pos="50000">
                <a:srgbClr val="F59E0B"/>
              </a:gs>
              <a:gs pos="100000">
                <a:srgbClr val="3B82F6"/>
              </a:gs>
            </a:gsLst>
            <a:lin ang="108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F172A"/>
            </a:gs>
            <a:gs pos="50000">
              <a:srgbClr val="1E293B"/>
            </a:gs>
            <a:gs pos="100000">
              <a:srgbClr val="0F172A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66733" y="114300"/>
            <a:ext cx="7029274" cy="5715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  <a:spcAft>
                <a:spcPts val="0"/>
              </a:spcAft>
            </a:pPr>
            <a:r>
              <a:rPr sz="2392" b="1">
                <a:solidFill>
                  <a:srgbClr val="FFFFFF"/>
                </a:solidFill>
                <a:latin typeface="Roboto"/>
              </a:rPr>
              <a:t>Iterating Struct Members and User Types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666733" y="1750695"/>
            <a:ext cx="228594" cy="19430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71525" y="1714500"/>
            <a:ext cx="1590635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196" b="1">
                <a:solidFill>
                  <a:srgbClr val="FFFFFF"/>
                </a:solidFill>
                <a:latin typeface="Roboto"/>
              </a:rPr>
              <a:t>User-Defined Type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6733" y="2114550"/>
            <a:ext cx="5238619" cy="2381250"/>
          </a:xfrm>
          <a:prstGeom prst="roundRect">
            <a:avLst>
              <a:gd name="adj" fmla="val 6400"/>
            </a:avLst>
          </a:prstGeom>
          <a:solidFill>
            <a:srgbClr val="1E293B">
              <a:alpha val="60000"/>
            </a:srgbClr>
          </a:solidFill>
          <a:ln w="825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8654" y="2276474"/>
            <a:ext cx="4914777" cy="24764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F472B6"/>
                </a:solidFill>
                <a:latin typeface="Roboto Mono"/>
              </a:rPr>
              <a:t>struct</a:t>
            </a:r>
            <a:r>
              <a:rPr sz="956" b="0">
                <a:solidFill>
                  <a:srgbClr val="E2E8F0"/>
                </a:solidFill>
                <a:latin typeface="Roboto Mono"/>
              </a:rPr>
              <a:t> Person {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8654" y="2524125"/>
            <a:ext cx="4914777" cy="24764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F472B6"/>
                </a:solidFill>
                <a:latin typeface="Roboto Mono"/>
              </a:rPr>
              <a:t>std::string</a:t>
            </a:r>
            <a:r>
              <a:rPr sz="956" b="0">
                <a:solidFill>
                  <a:srgbClr val="E2E8F0"/>
                </a:solidFill>
                <a:latin typeface="Roboto Mono"/>
              </a:rPr>
              <a:t> name;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8654" y="2771775"/>
            <a:ext cx="4914777" cy="24764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60A5FA"/>
                </a:solidFill>
                <a:latin typeface="Roboto Mono"/>
              </a:rPr>
              <a:t>int</a:t>
            </a:r>
            <a:r>
              <a:rPr sz="956" b="0">
                <a:solidFill>
                  <a:srgbClr val="E2E8F0"/>
                </a:solidFill>
                <a:latin typeface="Roboto Mono"/>
              </a:rPr>
              <a:t> age;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8654" y="3019424"/>
            <a:ext cx="4914777" cy="24764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E2E8F0"/>
                </a:solidFill>
                <a:latin typeface="Roboto Mono"/>
              </a:rPr>
              <a:t>};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8654" y="3362324"/>
            <a:ext cx="1009624" cy="200025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F472B6"/>
                </a:solidFill>
                <a:latin typeface="Roboto Mono"/>
              </a:rPr>
              <a:t>std::vector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8654" y="3590924"/>
            <a:ext cx="4914777" cy="24764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E2E8F0"/>
                </a:solidFill>
                <a:latin typeface="Roboto Mono"/>
              </a:rPr>
              <a:t>{</a:t>
            </a:r>
            <a:r>
              <a:rPr sz="956" b="0">
                <a:solidFill>
                  <a:srgbClr val="FBBF24"/>
                </a:solidFill>
                <a:latin typeface="Roboto Mono"/>
              </a:rPr>
              <a:t>"Alice"</a:t>
            </a:r>
            <a:r>
              <a:rPr sz="956" b="0">
                <a:solidFill>
                  <a:srgbClr val="E2E8F0"/>
                </a:solidFill>
                <a:latin typeface="Roboto Mono"/>
              </a:rPr>
              <a:t>, </a:t>
            </a:r>
            <a:r>
              <a:rPr sz="956" b="0">
                <a:solidFill>
                  <a:srgbClr val="FBBF24"/>
                </a:solidFill>
                <a:latin typeface="Roboto Mono"/>
              </a:rPr>
              <a:t>30</a:t>
            </a:r>
            <a:r>
              <a:rPr sz="956" b="0">
                <a:solidFill>
                  <a:srgbClr val="E2E8F0"/>
                </a:solidFill>
                <a:latin typeface="Roboto Mono"/>
              </a:rPr>
              <a:t>},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8654" y="3838574"/>
            <a:ext cx="4914777" cy="24764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E2E8F0"/>
                </a:solidFill>
                <a:latin typeface="Roboto Mono"/>
              </a:rPr>
              <a:t>{</a:t>
            </a:r>
            <a:r>
              <a:rPr sz="956" b="0">
                <a:solidFill>
                  <a:srgbClr val="FBBF24"/>
                </a:solidFill>
                <a:latin typeface="Roboto Mono"/>
              </a:rPr>
              <a:t>"Bob"</a:t>
            </a:r>
            <a:r>
              <a:rPr sz="956" b="0">
                <a:solidFill>
                  <a:srgbClr val="E2E8F0"/>
                </a:solidFill>
                <a:latin typeface="Roboto Mono"/>
              </a:rPr>
              <a:t>, </a:t>
            </a:r>
            <a:r>
              <a:rPr sz="956" b="0">
                <a:solidFill>
                  <a:srgbClr val="FBBF24"/>
                </a:solidFill>
                <a:latin typeface="Roboto Mono"/>
              </a:rPr>
              <a:t>25</a:t>
            </a:r>
            <a:r>
              <a:rPr sz="956" b="0">
                <a:solidFill>
                  <a:srgbClr val="E2E8F0"/>
                </a:solidFill>
                <a:latin typeface="Roboto Mono"/>
              </a:rPr>
              <a:t>}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8654" y="4086225"/>
            <a:ext cx="4914777" cy="24764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E2E8F0"/>
                </a:solidFill>
                <a:latin typeface="Roboto Mono"/>
              </a:rPr>
              <a:t>};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66733" y="4766422"/>
            <a:ext cx="190495" cy="106455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33426" y="4686300"/>
            <a:ext cx="1752556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076" b="1">
                <a:solidFill>
                  <a:srgbClr val="FFFFFF"/>
                </a:solidFill>
                <a:latin typeface="Roboto"/>
              </a:rPr>
              <a:t>Direct Member Access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6733" y="5029200"/>
            <a:ext cx="5238619" cy="942975"/>
          </a:xfrm>
          <a:prstGeom prst="roundRect">
            <a:avLst>
              <a:gd name="adj" fmla="val 16161"/>
            </a:avLst>
          </a:prstGeom>
          <a:solidFill>
            <a:srgbClr val="1E293B">
              <a:alpha val="60000"/>
            </a:srgbClr>
          </a:solidFill>
          <a:ln w="825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90555" y="5153024"/>
            <a:ext cx="4990975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897" b="0">
                <a:solidFill>
                  <a:srgbClr val="F472B6"/>
                </a:solidFill>
                <a:latin typeface="Roboto Mono"/>
              </a:rPr>
              <a:t>for</a:t>
            </a:r>
            <a:r>
              <a:rPr sz="897" b="0">
                <a:solidFill>
                  <a:srgbClr val="E2E8F0"/>
                </a:solidFill>
                <a:latin typeface="Roboto Mono"/>
              </a:rPr>
              <a:t> (</a:t>
            </a:r>
            <a:r>
              <a:rPr sz="897" b="0">
                <a:solidFill>
                  <a:srgbClr val="F472B6"/>
                </a:solidFill>
                <a:latin typeface="Roboto Mono"/>
              </a:rPr>
              <a:t>const</a:t>
            </a:r>
            <a:r>
              <a:rPr sz="897" b="0">
                <a:solidFill>
                  <a:srgbClr val="E2E8F0"/>
                </a:solidFill>
                <a:latin typeface="Roboto Mono"/>
              </a:rPr>
              <a:t> </a:t>
            </a:r>
            <a:r>
              <a:rPr sz="897" b="0">
                <a:solidFill>
                  <a:srgbClr val="F472B6"/>
                </a:solidFill>
                <a:latin typeface="Roboto Mono"/>
              </a:rPr>
              <a:t>auto</a:t>
            </a:r>
            <a:r>
              <a:rPr sz="897" b="0">
                <a:solidFill>
                  <a:srgbClr val="E2E8F0"/>
                </a:solidFill>
                <a:latin typeface="Roboto Mono"/>
              </a:rPr>
              <a:t>&amp; p : people) {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555" y="5381624"/>
            <a:ext cx="4990975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897" b="0">
                <a:solidFill>
                  <a:srgbClr val="F472B6"/>
                </a:solidFill>
                <a:latin typeface="Roboto Mono"/>
              </a:rPr>
              <a:t>std::cout</a:t>
            </a:r>
            <a:r>
              <a:rPr sz="897" b="0">
                <a:solidFill>
                  <a:srgbClr val="E2E8F0"/>
                </a:solidFill>
                <a:latin typeface="Roboto Mono"/>
              </a:rPr>
              <a:t> &lt;&lt; p.name &lt;&lt; </a:t>
            </a:r>
            <a:r>
              <a:rPr sz="897" b="0">
                <a:solidFill>
                  <a:srgbClr val="FBBF24"/>
                </a:solidFill>
                <a:latin typeface="Roboto Mono"/>
              </a:rPr>
              <a:t>": "</a:t>
            </a:r>
            <a:r>
              <a:rPr sz="897" b="0">
                <a:solidFill>
                  <a:srgbClr val="E2E8F0"/>
                </a:solidFill>
                <a:latin typeface="Roboto Mono"/>
              </a:rPr>
              <a:t> &lt;&lt; p.age &lt;&lt; </a:t>
            </a:r>
            <a:r>
              <a:rPr sz="897" b="0">
                <a:solidFill>
                  <a:srgbClr val="FBBF24"/>
                </a:solidFill>
                <a:latin typeface="Roboto Mono"/>
              </a:rPr>
              <a:t>'\n'</a:t>
            </a:r>
            <a:r>
              <a:rPr sz="897" b="0">
                <a:solidFill>
                  <a:srgbClr val="E2E8F0"/>
                </a:solidFill>
                <a:latin typeface="Roboto Mono"/>
              </a:rPr>
              <a:t>;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0555" y="5619750"/>
            <a:ext cx="4990975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897" b="0">
                <a:solidFill>
                  <a:srgbClr val="E2E8F0"/>
                </a:solidFill>
                <a:latin typeface="Roboto Mono"/>
              </a:rPr>
              <a:t>}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86342" y="2082164"/>
            <a:ext cx="228594" cy="21717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591135" y="2057400"/>
            <a:ext cx="2352616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196" b="1">
                <a:solidFill>
                  <a:srgbClr val="FFFFFF"/>
                </a:solidFill>
                <a:latin typeface="Roboto"/>
              </a:rPr>
              <a:t>C++17: Structured Bindings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86342" y="2457450"/>
            <a:ext cx="5238619" cy="1019174"/>
          </a:xfrm>
          <a:prstGeom prst="roundRect">
            <a:avLst>
              <a:gd name="adj" fmla="val 14953"/>
            </a:avLst>
          </a:prstGeom>
          <a:solidFill>
            <a:srgbClr val="1E293B">
              <a:alpha val="60000"/>
            </a:srgbClr>
          </a:solidFill>
          <a:ln w="825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48263" y="2619374"/>
            <a:ext cx="4914777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897" b="0">
                <a:solidFill>
                  <a:srgbClr val="F472B6"/>
                </a:solidFill>
                <a:latin typeface="Roboto Mono"/>
              </a:rPr>
              <a:t>for</a:t>
            </a:r>
            <a:r>
              <a:rPr sz="897" b="0">
                <a:solidFill>
                  <a:srgbClr val="E2E8F0"/>
                </a:solidFill>
                <a:latin typeface="Roboto Mono"/>
              </a:rPr>
              <a:t> (</a:t>
            </a:r>
            <a:r>
              <a:rPr sz="897" b="0">
                <a:solidFill>
                  <a:srgbClr val="F472B6"/>
                </a:solidFill>
                <a:latin typeface="Roboto Mono"/>
              </a:rPr>
              <a:t>const</a:t>
            </a:r>
            <a:r>
              <a:rPr sz="897" b="0">
                <a:solidFill>
                  <a:srgbClr val="E2E8F0"/>
                </a:solidFill>
                <a:latin typeface="Roboto Mono"/>
              </a:rPr>
              <a:t> </a:t>
            </a:r>
            <a:r>
              <a:rPr sz="897" b="0">
                <a:solidFill>
                  <a:srgbClr val="F472B6"/>
                </a:solidFill>
                <a:latin typeface="Roboto Mono"/>
              </a:rPr>
              <a:t>auto</a:t>
            </a:r>
            <a:r>
              <a:rPr sz="897" b="0">
                <a:solidFill>
                  <a:srgbClr val="E2E8F0"/>
                </a:solidFill>
                <a:latin typeface="Roboto Mono"/>
              </a:rPr>
              <a:t>&amp; [</a:t>
            </a:r>
            <a:r>
              <a:rPr sz="897" b="0">
                <a:solidFill>
                  <a:srgbClr val="60A5FA"/>
                </a:solidFill>
                <a:latin typeface="Roboto Mono"/>
              </a:rPr>
              <a:t>name</a:t>
            </a:r>
            <a:r>
              <a:rPr sz="897" b="0">
                <a:solidFill>
                  <a:srgbClr val="E2E8F0"/>
                </a:solidFill>
                <a:latin typeface="Roboto Mono"/>
              </a:rPr>
              <a:t>, </a:t>
            </a:r>
            <a:r>
              <a:rPr sz="897" b="0">
                <a:solidFill>
                  <a:srgbClr val="60A5FA"/>
                </a:solidFill>
                <a:latin typeface="Roboto Mono"/>
              </a:rPr>
              <a:t>age</a:t>
            </a:r>
            <a:r>
              <a:rPr sz="897" b="0">
                <a:solidFill>
                  <a:srgbClr val="E2E8F0"/>
                </a:solidFill>
                <a:latin typeface="Roboto Mono"/>
              </a:rPr>
              <a:t>] : people) {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8263" y="2847974"/>
            <a:ext cx="4914777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897" b="0">
                <a:solidFill>
                  <a:srgbClr val="F472B6"/>
                </a:solidFill>
                <a:latin typeface="Roboto Mono"/>
              </a:rPr>
              <a:t>std::cout</a:t>
            </a:r>
            <a:r>
              <a:rPr sz="897" b="0">
                <a:solidFill>
                  <a:srgbClr val="E2E8F0"/>
                </a:solidFill>
                <a:latin typeface="Roboto Mono"/>
              </a:rPr>
              <a:t> &lt;&lt; name &lt;&lt; </a:t>
            </a:r>
            <a:r>
              <a:rPr sz="897" b="0">
                <a:solidFill>
                  <a:srgbClr val="FBBF24"/>
                </a:solidFill>
                <a:latin typeface="Roboto Mono"/>
              </a:rPr>
              <a:t>": "</a:t>
            </a:r>
            <a:r>
              <a:rPr sz="897" b="0">
                <a:solidFill>
                  <a:srgbClr val="E2E8F0"/>
                </a:solidFill>
                <a:latin typeface="Roboto Mono"/>
              </a:rPr>
              <a:t> &lt;&lt; age &lt;&lt; </a:t>
            </a:r>
            <a:r>
              <a:rPr sz="897" b="0">
                <a:solidFill>
                  <a:srgbClr val="FBBF24"/>
                </a:solidFill>
                <a:latin typeface="Roboto Mono"/>
              </a:rPr>
              <a:t>'\n'</a:t>
            </a:r>
            <a:r>
              <a:rPr sz="897" b="0">
                <a:solidFill>
                  <a:srgbClr val="E2E8F0"/>
                </a:solidFill>
                <a:latin typeface="Roboto Mono"/>
              </a:rPr>
              <a:t>;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8263" y="3086100"/>
            <a:ext cx="4914777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897" b="0">
                <a:solidFill>
                  <a:srgbClr val="E2E8F0"/>
                </a:solidFill>
                <a:latin typeface="Roboto Mono"/>
              </a:rPr>
              <a:t>}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86342" y="3667124"/>
            <a:ext cx="5238619" cy="857250"/>
          </a:xfrm>
          <a:prstGeom prst="roundRect">
            <a:avLst>
              <a:gd name="adj" fmla="val 17777"/>
            </a:avLst>
          </a:prstGeom>
          <a:gradFill rotWithShape="1">
            <a:gsLst>
              <a:gs pos="0">
                <a:srgbClr val="3B82F6">
                  <a:alpha val="10000"/>
                </a:srgbClr>
              </a:gs>
              <a:gs pos="100000">
                <a:srgbClr val="F59E0B">
                  <a:alpha val="10000"/>
                </a:srgbClr>
              </a:gs>
            </a:gsLst>
            <a:lin ang="10800000" scaled="0"/>
          </a:gradFill>
          <a:ln w="8255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448263" y="3878579"/>
            <a:ext cx="228594" cy="205739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791155" y="3829050"/>
            <a:ext cx="3047923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260"/>
              </a:spcAft>
            </a:pPr>
            <a:r>
              <a:rPr sz="1076" b="1">
                <a:solidFill>
                  <a:srgbClr val="FFFFFF"/>
                </a:solidFill>
                <a:latin typeface="Roboto"/>
              </a:rPr>
              <a:t>C++23: std::for_each Member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91155" y="4133849"/>
            <a:ext cx="3047923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CBD5E1"/>
                </a:solidFill>
                <a:latin typeface="Roboto"/>
              </a:rPr>
              <a:t>Native reflection for iterating struct members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86342" y="4676775"/>
            <a:ext cx="5238619" cy="438149"/>
          </a:xfrm>
          <a:prstGeom prst="roundRect">
            <a:avLst>
              <a:gd name="adj" fmla="val 34782"/>
            </a:avLst>
          </a:prstGeom>
          <a:solidFill>
            <a:srgbClr val="1E293B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 Same Side Corner Rectangle 30"/>
          <p:cNvSpPr/>
          <p:nvPr/>
        </p:nvSpPr>
        <p:spPr>
          <a:xfrm rot="16200000">
            <a:off x="6133308" y="4829809"/>
            <a:ext cx="438149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400639" y="4830711"/>
            <a:ext cx="171445" cy="149327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648283" y="4752974"/>
            <a:ext cx="2181170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CBD5E1"/>
                </a:solidFill>
                <a:latin typeface="Roboto"/>
              </a:rPr>
              <a:t>Clean member extraction syntax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86342" y="5191125"/>
            <a:ext cx="5238619" cy="438149"/>
          </a:xfrm>
          <a:prstGeom prst="roundRect">
            <a:avLst>
              <a:gd name="adj" fmla="val 34782"/>
            </a:avLst>
          </a:prstGeom>
          <a:solidFill>
            <a:srgbClr val="1E293B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 Same Side Corner Rectangle 34"/>
          <p:cNvSpPr/>
          <p:nvPr/>
        </p:nvSpPr>
        <p:spPr>
          <a:xfrm rot="16200000">
            <a:off x="6133308" y="5344159"/>
            <a:ext cx="438149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6400639" y="5345061"/>
            <a:ext cx="171445" cy="149327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6648283" y="5267324"/>
            <a:ext cx="1571585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CBD5E1"/>
                </a:solidFill>
                <a:latin typeface="Roboto"/>
              </a:rPr>
              <a:t>Type-safe and readable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781799"/>
            <a:ext cx="12191695" cy="76200"/>
          </a:xfrm>
          <a:prstGeom prst="rect">
            <a:avLst/>
          </a:prstGeom>
          <a:gradFill rotWithShape="1">
            <a:gsLst>
              <a:gs pos="0">
                <a:srgbClr val="3B82F6"/>
              </a:gs>
              <a:gs pos="50000">
                <a:srgbClr val="F59E0B"/>
              </a:gs>
              <a:gs pos="100000">
                <a:srgbClr val="3B82F6"/>
              </a:gs>
            </a:gsLst>
            <a:lin ang="108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F172A"/>
            </a:gs>
            <a:gs pos="50000">
              <a:srgbClr val="1E293B"/>
            </a:gs>
            <a:gs pos="100000">
              <a:srgbClr val="0F172A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66733" y="114300"/>
            <a:ext cx="5467213" cy="5715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  <a:spcAft>
                <a:spcPts val="0"/>
              </a:spcAft>
            </a:pPr>
            <a:r>
              <a:rPr sz="2392" b="1">
                <a:solidFill>
                  <a:srgbClr val="FFFFFF"/>
                </a:solidFill>
                <a:latin typeface="Roboto"/>
              </a:rPr>
              <a:t>Custom Iterators for User Types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666733" y="1484947"/>
            <a:ext cx="228594" cy="15430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71525" y="1428750"/>
            <a:ext cx="1876378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196" b="1">
                <a:solidFill>
                  <a:srgbClr val="FFFFFF"/>
                </a:solidFill>
                <a:latin typeface="Roboto"/>
              </a:rPr>
              <a:t>Iterator Requirements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6733" y="1828800"/>
            <a:ext cx="5238619" cy="647699"/>
          </a:xfrm>
          <a:prstGeom prst="roundRect">
            <a:avLst>
              <a:gd name="adj" fmla="val 23529"/>
            </a:avLst>
          </a:prstGeom>
          <a:solidFill>
            <a:srgbClr val="1E293B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 Same Side Corner Rectangle 5"/>
          <p:cNvSpPr/>
          <p:nvPr/>
        </p:nvSpPr>
        <p:spPr>
          <a:xfrm rot="16200000">
            <a:off x="408924" y="2086609"/>
            <a:ext cx="647699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9129" y="2025463"/>
            <a:ext cx="190495" cy="14007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23921" y="1943100"/>
            <a:ext cx="1285842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1">
                <a:solidFill>
                  <a:srgbClr val="FFFFFF"/>
                </a:solidFill>
                <a:latin typeface="Roboto"/>
              </a:rPr>
              <a:t>Prefix Increment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3921" y="2171700"/>
            <a:ext cx="1285842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CBD5E1"/>
                </a:solidFill>
                <a:latin typeface="Roboto"/>
              </a:rPr>
              <a:t>Iterator&amp; operator++()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6733" y="2590799"/>
            <a:ext cx="5238619" cy="647699"/>
          </a:xfrm>
          <a:prstGeom prst="roundRect">
            <a:avLst>
              <a:gd name="adj" fmla="val 23529"/>
            </a:avLst>
          </a:prstGeom>
          <a:solidFill>
            <a:srgbClr val="1E293B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 Same Side Corner Rectangle 10"/>
          <p:cNvSpPr/>
          <p:nvPr/>
        </p:nvSpPr>
        <p:spPr>
          <a:xfrm rot="16200000">
            <a:off x="408924" y="2848608"/>
            <a:ext cx="647699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19129" y="2776257"/>
            <a:ext cx="190495" cy="16248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123921" y="2705099"/>
            <a:ext cx="847703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1">
                <a:solidFill>
                  <a:srgbClr val="FFFFFF"/>
                </a:solidFill>
                <a:latin typeface="Roboto"/>
              </a:rPr>
              <a:t>Dereference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3921" y="2933699"/>
            <a:ext cx="847703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CBD5E1"/>
                </a:solidFill>
                <a:latin typeface="Roboto"/>
              </a:rPr>
              <a:t>T&amp; operator*()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6733" y="3352800"/>
            <a:ext cx="5238619" cy="647699"/>
          </a:xfrm>
          <a:prstGeom prst="roundRect">
            <a:avLst>
              <a:gd name="adj" fmla="val 23529"/>
            </a:avLst>
          </a:prstGeom>
          <a:solidFill>
            <a:srgbClr val="1E293B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 Same Side Corner Rectangle 15"/>
          <p:cNvSpPr/>
          <p:nvPr/>
        </p:nvSpPr>
        <p:spPr>
          <a:xfrm rot="16200000">
            <a:off x="408924" y="3610609"/>
            <a:ext cx="647699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19129" y="3529852"/>
            <a:ext cx="190495" cy="17929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123921" y="3467100"/>
            <a:ext cx="1504912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1">
                <a:solidFill>
                  <a:srgbClr val="FFFFFF"/>
                </a:solidFill>
                <a:latin typeface="Roboto"/>
              </a:rPr>
              <a:t>Comparison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3921" y="3695699"/>
            <a:ext cx="1504912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CBD5E1"/>
                </a:solidFill>
                <a:latin typeface="Roboto"/>
              </a:rPr>
              <a:t>bool operator!=(Iterator&amp;)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6733" y="4190999"/>
            <a:ext cx="5238619" cy="2057400"/>
          </a:xfrm>
          <a:prstGeom prst="roundRect">
            <a:avLst>
              <a:gd name="adj" fmla="val 7407"/>
            </a:avLst>
          </a:prstGeom>
          <a:solidFill>
            <a:srgbClr val="1E293B">
              <a:alpha val="60000"/>
            </a:srgbClr>
          </a:solidFill>
          <a:ln w="825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28654" y="4362450"/>
            <a:ext cx="4914777" cy="2190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F472B6"/>
                </a:solidFill>
                <a:latin typeface="Roboto Mono"/>
              </a:rPr>
              <a:t>class</a:t>
            </a:r>
            <a:r>
              <a:rPr sz="837" b="0">
                <a:solidFill>
                  <a:srgbClr val="E2E8F0"/>
                </a:solidFill>
                <a:latin typeface="Roboto Mono"/>
              </a:rPr>
              <a:t> </a:t>
            </a:r>
            <a:r>
              <a:rPr sz="837" b="0">
                <a:solidFill>
                  <a:srgbClr val="60A5FA"/>
                </a:solidFill>
                <a:latin typeface="Roboto Mono"/>
              </a:rPr>
              <a:t>Iterator</a:t>
            </a:r>
            <a:r>
              <a:rPr sz="837" b="0">
                <a:solidFill>
                  <a:srgbClr val="E2E8F0"/>
                </a:solidFill>
                <a:latin typeface="Roboto Mono"/>
              </a:rPr>
              <a:t> {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654" y="4572000"/>
            <a:ext cx="4914777" cy="2190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60A5FA"/>
                </a:solidFill>
                <a:latin typeface="Roboto Mono"/>
              </a:rPr>
              <a:t>int</a:t>
            </a:r>
            <a:r>
              <a:rPr sz="837" b="0">
                <a:solidFill>
                  <a:srgbClr val="E2E8F0"/>
                </a:solidFill>
                <a:latin typeface="Roboto Mono"/>
              </a:rPr>
              <a:t>* ptr;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654" y="4791075"/>
            <a:ext cx="4914777" cy="2190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F472B6"/>
                </a:solidFill>
                <a:latin typeface="Roboto Mono"/>
              </a:rPr>
              <a:t>public</a:t>
            </a:r>
            <a:r>
              <a:rPr sz="837" b="0">
                <a:solidFill>
                  <a:srgbClr val="E2E8F0"/>
                </a:solidFill>
                <a:latin typeface="Roboto Mono"/>
              </a:rPr>
              <a:t>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8654" y="5010149"/>
            <a:ext cx="4914777" cy="2190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60A5FA"/>
                </a:solidFill>
                <a:latin typeface="Roboto Mono"/>
              </a:rPr>
              <a:t>int</a:t>
            </a:r>
            <a:r>
              <a:rPr sz="837" b="0">
                <a:solidFill>
                  <a:srgbClr val="E2E8F0"/>
                </a:solidFill>
                <a:latin typeface="Roboto Mono"/>
              </a:rPr>
              <a:t>&amp; </a:t>
            </a:r>
            <a:r>
              <a:rPr sz="837" b="0">
                <a:solidFill>
                  <a:srgbClr val="F472B6"/>
                </a:solidFill>
                <a:latin typeface="Roboto Mono"/>
              </a:rPr>
              <a:t>operator*</a:t>
            </a:r>
            <a:r>
              <a:rPr sz="837" b="0">
                <a:solidFill>
                  <a:srgbClr val="E2E8F0"/>
                </a:solidFill>
                <a:latin typeface="Roboto Mono"/>
              </a:rPr>
              <a:t>() { </a:t>
            </a:r>
            <a:r>
              <a:rPr sz="837" b="0">
                <a:solidFill>
                  <a:srgbClr val="F472B6"/>
                </a:solidFill>
                <a:latin typeface="Roboto Mono"/>
              </a:rPr>
              <a:t>return</a:t>
            </a:r>
            <a:r>
              <a:rPr sz="837" b="0">
                <a:solidFill>
                  <a:srgbClr val="E2E8F0"/>
                </a:solidFill>
                <a:latin typeface="Roboto Mono"/>
              </a:rPr>
              <a:t> *ptr; }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8654" y="5219700"/>
            <a:ext cx="4914777" cy="2190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60A5FA"/>
                </a:solidFill>
                <a:latin typeface="Roboto Mono"/>
              </a:rPr>
              <a:t>Iterator</a:t>
            </a:r>
            <a:r>
              <a:rPr sz="837" b="0">
                <a:solidFill>
                  <a:srgbClr val="E2E8F0"/>
                </a:solidFill>
                <a:latin typeface="Roboto Mono"/>
              </a:rPr>
              <a:t>&amp; </a:t>
            </a:r>
            <a:r>
              <a:rPr sz="837" b="0">
                <a:solidFill>
                  <a:srgbClr val="F472B6"/>
                </a:solidFill>
                <a:latin typeface="Roboto Mono"/>
              </a:rPr>
              <a:t>operator++</a:t>
            </a:r>
            <a:r>
              <a:rPr sz="837" b="0">
                <a:solidFill>
                  <a:srgbClr val="E2E8F0"/>
                </a:solidFill>
                <a:latin typeface="Roboto Mono"/>
              </a:rPr>
              <a:t>() { ++ptr; </a:t>
            </a:r>
            <a:r>
              <a:rPr sz="837" b="0">
                <a:solidFill>
                  <a:srgbClr val="F472B6"/>
                </a:solidFill>
                <a:latin typeface="Roboto Mono"/>
              </a:rPr>
              <a:t>return</a:t>
            </a:r>
            <a:r>
              <a:rPr sz="837" b="0">
                <a:solidFill>
                  <a:srgbClr val="E2E8F0"/>
                </a:solidFill>
                <a:latin typeface="Roboto Mono"/>
              </a:rPr>
              <a:t> *</a:t>
            </a:r>
            <a:r>
              <a:rPr sz="837" b="0">
                <a:solidFill>
                  <a:srgbClr val="F472B6"/>
                </a:solidFill>
                <a:latin typeface="Roboto Mono"/>
              </a:rPr>
              <a:t>this</a:t>
            </a:r>
            <a:r>
              <a:rPr sz="837" b="0">
                <a:solidFill>
                  <a:srgbClr val="E2E8F0"/>
                </a:solidFill>
                <a:latin typeface="Roboto Mono"/>
              </a:rPr>
              <a:t>; }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8654" y="5438774"/>
            <a:ext cx="4914777" cy="438149"/>
          </a:xfrm>
          <a:prstGeom prst="rect">
            <a:avLst/>
          </a:prstGeom>
          <a:noFill/>
        </p:spPr>
        <p:txBody>
          <a:bodyPr wrap="squar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60A5FA"/>
                </a:solidFill>
                <a:latin typeface="Roboto Mono"/>
              </a:rPr>
              <a:t>bool</a:t>
            </a:r>
            <a:r>
              <a:rPr sz="837" b="0">
                <a:solidFill>
                  <a:srgbClr val="E2E8F0"/>
                </a:solidFill>
                <a:latin typeface="Roboto Mono"/>
              </a:rPr>
              <a:t> </a:t>
            </a:r>
            <a:r>
              <a:rPr sz="837" b="0">
                <a:solidFill>
                  <a:srgbClr val="F472B6"/>
                </a:solidFill>
                <a:latin typeface="Roboto Mono"/>
              </a:rPr>
              <a:t>operator!=</a:t>
            </a:r>
            <a:r>
              <a:rPr sz="837" b="0">
                <a:solidFill>
                  <a:srgbClr val="E2E8F0"/>
                </a:solidFill>
                <a:latin typeface="Roboto Mono"/>
              </a:rPr>
              <a:t>(</a:t>
            </a:r>
            <a:r>
              <a:rPr sz="837" b="0">
                <a:solidFill>
                  <a:srgbClr val="F472B6"/>
                </a:solidFill>
                <a:latin typeface="Roboto Mono"/>
              </a:rPr>
              <a:t>const</a:t>
            </a:r>
            <a:r>
              <a:rPr sz="837" b="0">
                <a:solidFill>
                  <a:srgbClr val="E2E8F0"/>
                </a:solidFill>
                <a:latin typeface="Roboto Mono"/>
              </a:rPr>
              <a:t> </a:t>
            </a:r>
            <a:r>
              <a:rPr sz="837" b="0">
                <a:solidFill>
                  <a:srgbClr val="60A5FA"/>
                </a:solidFill>
                <a:latin typeface="Roboto Mono"/>
              </a:rPr>
              <a:t>Iterator</a:t>
            </a:r>
            <a:r>
              <a:rPr sz="837" b="0">
                <a:solidFill>
                  <a:srgbClr val="E2E8F0"/>
                </a:solidFill>
                <a:latin typeface="Roboto Mono"/>
              </a:rPr>
              <a:t>&amp; other) { </a:t>
            </a:r>
            <a:r>
              <a:rPr sz="837" b="0">
                <a:solidFill>
                  <a:srgbClr val="F472B6"/>
                </a:solidFill>
                <a:latin typeface="Roboto Mono"/>
              </a:rPr>
              <a:t>return</a:t>
            </a:r>
            <a:r>
              <a:rPr sz="837" b="0">
                <a:solidFill>
                  <a:srgbClr val="E2E8F0"/>
                </a:solidFill>
                <a:latin typeface="Roboto Mono"/>
              </a:rPr>
              <a:t> ptr != other.ptr; }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8654" y="5876925"/>
            <a:ext cx="4914777" cy="21907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E2E8F0"/>
                </a:solidFill>
                <a:latin typeface="Roboto Mono"/>
              </a:rPr>
              <a:t>};</a:t>
            </a:r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286342" y="1636395"/>
            <a:ext cx="228594" cy="194309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591135" y="1600200"/>
            <a:ext cx="2124021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196" b="1">
                <a:solidFill>
                  <a:srgbClr val="FFFFFF"/>
                </a:solidFill>
                <a:latin typeface="Roboto"/>
              </a:rPr>
              <a:t>Implementation Strategy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86342" y="2000250"/>
            <a:ext cx="5238619" cy="647699"/>
          </a:xfrm>
          <a:prstGeom prst="roundRect">
            <a:avLst>
              <a:gd name="adj" fmla="val 23529"/>
            </a:avLst>
          </a:prstGeom>
          <a:solidFill>
            <a:srgbClr val="1E293B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 Same Side Corner Rectangle 30"/>
          <p:cNvSpPr/>
          <p:nvPr/>
        </p:nvSpPr>
        <p:spPr>
          <a:xfrm rot="16200000">
            <a:off x="6028533" y="2258059"/>
            <a:ext cx="647699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6438739" y="2196913"/>
            <a:ext cx="190495" cy="140073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743531" y="2114550"/>
            <a:ext cx="1342991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1">
                <a:solidFill>
                  <a:srgbClr val="FFFFFF"/>
                </a:solidFill>
                <a:latin typeface="Roboto"/>
              </a:rPr>
              <a:t>Hold Pointer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43531" y="2343150"/>
            <a:ext cx="1342991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CBD5E1"/>
                </a:solidFill>
                <a:latin typeface="Roboto"/>
              </a:rPr>
              <a:t>Iterator stores position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86342" y="2762249"/>
            <a:ext cx="5238619" cy="647699"/>
          </a:xfrm>
          <a:prstGeom prst="roundRect">
            <a:avLst>
              <a:gd name="adj" fmla="val 23529"/>
            </a:avLst>
          </a:prstGeom>
          <a:solidFill>
            <a:srgbClr val="1E293B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ound Same Side Corner Rectangle 35"/>
          <p:cNvSpPr/>
          <p:nvPr/>
        </p:nvSpPr>
        <p:spPr>
          <a:xfrm rot="16200000">
            <a:off x="6028533" y="3020058"/>
            <a:ext cx="647699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6438739" y="2958913"/>
            <a:ext cx="190495" cy="140073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743531" y="2876549"/>
            <a:ext cx="1362040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1">
                <a:solidFill>
                  <a:srgbClr val="FFFFFF"/>
                </a:solidFill>
                <a:latin typeface="Roboto"/>
              </a:rPr>
              <a:t>Return Reference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743531" y="3105149"/>
            <a:ext cx="1362040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CBD5E1"/>
                </a:solidFill>
                <a:latin typeface="Roboto"/>
              </a:rPr>
              <a:t>Dereference returns T&amp;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86342" y="3524250"/>
            <a:ext cx="5238619" cy="647699"/>
          </a:xfrm>
          <a:prstGeom prst="roundRect">
            <a:avLst>
              <a:gd name="adj" fmla="val 23529"/>
            </a:avLst>
          </a:prstGeom>
          <a:solidFill>
            <a:srgbClr val="1E293B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 Same Side Corner Rectangle 40"/>
          <p:cNvSpPr/>
          <p:nvPr/>
        </p:nvSpPr>
        <p:spPr>
          <a:xfrm rot="16200000">
            <a:off x="6028533" y="3782059"/>
            <a:ext cx="647699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6438739" y="3720913"/>
            <a:ext cx="190495" cy="140073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6743531" y="3638550"/>
            <a:ext cx="1276318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1">
                <a:solidFill>
                  <a:srgbClr val="FFFFFF"/>
                </a:solidFill>
                <a:latin typeface="Roboto"/>
              </a:rPr>
              <a:t>Return *this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43531" y="3867149"/>
            <a:ext cx="1276318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CBD5E1"/>
                </a:solidFill>
                <a:latin typeface="Roboto"/>
              </a:rPr>
              <a:t>Chain increment calls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286342" y="4362450"/>
            <a:ext cx="5238619" cy="1724024"/>
          </a:xfrm>
          <a:prstGeom prst="roundRect">
            <a:avLst>
              <a:gd name="adj" fmla="val 8839"/>
            </a:avLst>
          </a:prstGeom>
          <a:gradFill rotWithShape="1">
            <a:gsLst>
              <a:gs pos="0">
                <a:srgbClr val="3B82F6">
                  <a:alpha val="10000"/>
                </a:srgbClr>
              </a:gs>
              <a:gs pos="100000">
                <a:srgbClr val="F59E0B">
                  <a:alpha val="10000"/>
                </a:srgbClr>
              </a:gs>
            </a:gsLst>
            <a:lin ang="10800000" scaled="0"/>
          </a:gradFill>
          <a:ln w="8255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6" name="Picture 45" descr="image.png"/>
          <p:cNvPicPr>
            <a:picLocks noChangeAspect="1"/>
          </p:cNvPicPr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6448263" y="4579620"/>
            <a:ext cx="228594" cy="194309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6791155" y="4524374"/>
            <a:ext cx="4143271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520"/>
              </a:spcAft>
            </a:pPr>
            <a:r>
              <a:rPr sz="1076" b="1">
                <a:solidFill>
                  <a:srgbClr val="FFFFFF"/>
                </a:solidFill>
                <a:latin typeface="Roboto"/>
              </a:rPr>
              <a:t>Best Practices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91155" y="4867274"/>
            <a:ext cx="4143271" cy="2381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CBD5E1"/>
                </a:solidFill>
                <a:latin typeface="Roboto"/>
              </a:rPr>
              <a:t>• Use </a:t>
            </a:r>
            <a:r>
              <a:rPr sz="956" b="0">
                <a:solidFill>
                  <a:srgbClr val="F472B6"/>
                </a:solidFill>
                <a:latin typeface="Roboto Mono"/>
              </a:rPr>
              <a:t>std::iterator_traits</a:t>
            </a:r>
            <a:r>
              <a:rPr sz="956" b="0">
                <a:solidFill>
                  <a:srgbClr val="CBD5E1"/>
                </a:solidFill>
                <a:latin typeface="Roboto"/>
              </a:rPr>
              <a:t> for standard interface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791155" y="5143500"/>
            <a:ext cx="4143271" cy="2381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260"/>
              </a:spcBef>
              <a:spcAft>
                <a:spcPts val="0"/>
              </a:spcAft>
            </a:pPr>
            <a:r>
              <a:rPr sz="956" b="0">
                <a:solidFill>
                  <a:srgbClr val="CBD5E1"/>
                </a:solidFill>
                <a:latin typeface="Roboto"/>
              </a:rPr>
              <a:t>• Mark iterator category (e.g., </a:t>
            </a:r>
            <a:r>
              <a:rPr sz="956" b="0">
                <a:solidFill>
                  <a:srgbClr val="F472B6"/>
                </a:solidFill>
                <a:latin typeface="Roboto Mono"/>
              </a:rPr>
              <a:t>std::input_iterator_tag</a:t>
            </a:r>
            <a:r>
              <a:rPr sz="956" b="0">
                <a:solidFill>
                  <a:srgbClr val="CBD5E1"/>
                </a:solidFill>
                <a:latin typeface="Roboto"/>
              </a:rPr>
              <a:t>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791155" y="5419725"/>
            <a:ext cx="4143271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260"/>
              </a:spcBef>
              <a:spcAft>
                <a:spcPts val="0"/>
              </a:spcAft>
            </a:pPr>
            <a:r>
              <a:rPr sz="956" b="0">
                <a:solidFill>
                  <a:srgbClr val="CBD5E1"/>
                </a:solidFill>
                <a:latin typeface="Roboto"/>
              </a:rPr>
              <a:t>• Support all InputIterator operations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791155" y="5686425"/>
            <a:ext cx="4143271" cy="2381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260"/>
              </a:spcBef>
              <a:spcAft>
                <a:spcPts val="0"/>
              </a:spcAft>
            </a:pPr>
            <a:r>
              <a:rPr sz="956" b="0">
                <a:solidFill>
                  <a:srgbClr val="CBD5E1"/>
                </a:solidFill>
                <a:latin typeface="Roboto"/>
              </a:rPr>
              <a:t>• Consider C++20 </a:t>
            </a:r>
            <a:r>
              <a:rPr sz="956" b="0">
                <a:solidFill>
                  <a:srgbClr val="F472B6"/>
                </a:solidFill>
                <a:latin typeface="Roboto Mono"/>
              </a:rPr>
              <a:t>concepts</a:t>
            </a:r>
            <a:r>
              <a:rPr sz="956" b="0">
                <a:solidFill>
                  <a:srgbClr val="CBD5E1"/>
                </a:solidFill>
                <a:latin typeface="Roboto"/>
              </a:rPr>
              <a:t> for type safety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6781799"/>
            <a:ext cx="0" cy="76200"/>
          </a:xfrm>
          <a:prstGeom prst="rect">
            <a:avLst/>
          </a:prstGeom>
          <a:gradFill rotWithShape="1">
            <a:gsLst>
              <a:gs pos="0">
                <a:srgbClr val="3B82F6"/>
              </a:gs>
              <a:gs pos="50000">
                <a:srgbClr val="F59E0B"/>
              </a:gs>
              <a:gs pos="100000">
                <a:srgbClr val="3B82F6"/>
              </a:gs>
            </a:gsLst>
            <a:lin ang="108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F172A"/>
            </a:gs>
            <a:gs pos="50000">
              <a:srgbClr val="1E293B"/>
            </a:gs>
            <a:gs pos="100000">
              <a:srgbClr val="0F172A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66733" y="114300"/>
            <a:ext cx="4990975" cy="5715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3900"/>
              </a:lnSpc>
              <a:spcBef>
                <a:spcPts val="0"/>
              </a:spcBef>
              <a:spcAft>
                <a:spcPts val="0"/>
              </a:spcAft>
            </a:pPr>
            <a:r>
              <a:rPr sz="2392" b="1">
                <a:solidFill>
                  <a:srgbClr val="FFFFFF"/>
                </a:solidFill>
                <a:latin typeface="Roboto"/>
              </a:rPr>
              <a:t>Advanced Patterns Summary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66733" y="1038224"/>
            <a:ext cx="3514637" cy="1095374"/>
          </a:xfrm>
          <a:prstGeom prst="roundRect">
            <a:avLst>
              <a:gd name="adj" fmla="val 13913"/>
            </a:avLst>
          </a:prstGeom>
          <a:solidFill>
            <a:srgbClr val="1E293B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 Same Side Corner Rectangle 3"/>
          <p:cNvSpPr/>
          <p:nvPr/>
        </p:nvSpPr>
        <p:spPr>
          <a:xfrm rot="16200000">
            <a:off x="185086" y="1519871"/>
            <a:ext cx="1095374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933426" y="1336357"/>
            <a:ext cx="228594" cy="16573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52516" y="1190625"/>
            <a:ext cx="1476338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076" b="1">
                <a:solidFill>
                  <a:srgbClr val="FFFFFF"/>
                </a:solidFill>
                <a:latin typeface="Roboto"/>
              </a:rPr>
              <a:t>Custom Containers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52516" y="1457325"/>
            <a:ext cx="1476338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94A3B8"/>
                </a:solidFill>
                <a:latin typeface="Roboto"/>
              </a:rPr>
              <a:t>begin()/end() methods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7228" y="1752599"/>
            <a:ext cx="3171745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CBD5E1"/>
                </a:solidFill>
                <a:latin typeface="Roboto"/>
              </a:rPr>
              <a:t>Quick integration with range-based for loops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33766" y="1038224"/>
            <a:ext cx="3514637" cy="1095374"/>
          </a:xfrm>
          <a:prstGeom prst="roundRect">
            <a:avLst>
              <a:gd name="adj" fmla="val 13913"/>
            </a:avLst>
          </a:prstGeom>
          <a:solidFill>
            <a:srgbClr val="1E293B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 Same Side Corner Rectangle 9"/>
          <p:cNvSpPr/>
          <p:nvPr/>
        </p:nvSpPr>
        <p:spPr>
          <a:xfrm rot="16200000">
            <a:off x="3852119" y="1519871"/>
            <a:ext cx="1095374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00459" y="1356360"/>
            <a:ext cx="228594" cy="12572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019549" y="1190625"/>
            <a:ext cx="1457288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076" b="1">
                <a:solidFill>
                  <a:srgbClr val="FFFFFF"/>
                </a:solidFill>
                <a:latin typeface="Roboto"/>
              </a:rPr>
              <a:t>Custom Iterators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19549" y="1457325"/>
            <a:ext cx="1457288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94A3B8"/>
                </a:solidFill>
                <a:latin typeface="Roboto"/>
              </a:rPr>
              <a:t>Complex data structures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4261" y="1752599"/>
            <a:ext cx="3171745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CBD5E1"/>
                </a:solidFill>
                <a:latin typeface="Roboto"/>
              </a:rPr>
              <a:t>Implement iterator interface manually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10324" y="1038224"/>
            <a:ext cx="3514637" cy="1095374"/>
          </a:xfrm>
          <a:prstGeom prst="roundRect">
            <a:avLst>
              <a:gd name="adj" fmla="val 13913"/>
            </a:avLst>
          </a:prstGeom>
          <a:solidFill>
            <a:srgbClr val="1E293B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 Same Side Corner Rectangle 15"/>
          <p:cNvSpPr/>
          <p:nvPr/>
        </p:nvSpPr>
        <p:spPr>
          <a:xfrm rot="16200000">
            <a:off x="7528677" y="1519871"/>
            <a:ext cx="1095374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77018" y="1362075"/>
            <a:ext cx="228594" cy="1143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696107" y="1190625"/>
            <a:ext cx="1533486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076" b="1">
                <a:solidFill>
                  <a:srgbClr val="FFFFFF"/>
                </a:solidFill>
                <a:latin typeface="Roboto"/>
              </a:rPr>
              <a:t>Structured Bindings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96107" y="1457325"/>
            <a:ext cx="1533486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94A3B8"/>
                </a:solidFill>
                <a:latin typeface="Roboto"/>
              </a:rPr>
              <a:t>C++17 feature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00819" y="1752599"/>
            <a:ext cx="3171745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CBD5E1"/>
                </a:solidFill>
                <a:latin typeface="Roboto"/>
              </a:rPr>
              <a:t>Clean member access syntax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6733" y="2324100"/>
            <a:ext cx="5352916" cy="1104900"/>
          </a:xfrm>
          <a:prstGeom prst="roundRect">
            <a:avLst>
              <a:gd name="adj" fmla="val 13793"/>
            </a:avLst>
          </a:prstGeom>
          <a:solidFill>
            <a:srgbClr val="1E293B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 Same Side Corner Rectangle 21"/>
          <p:cNvSpPr/>
          <p:nvPr/>
        </p:nvSpPr>
        <p:spPr>
          <a:xfrm rot="16200000">
            <a:off x="180323" y="2810510"/>
            <a:ext cx="1104900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933426" y="2616517"/>
            <a:ext cx="228594" cy="17716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352516" y="2476499"/>
            <a:ext cx="1323941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076" b="1">
                <a:solidFill>
                  <a:srgbClr val="FFFFFF"/>
                </a:solidFill>
                <a:latin typeface="Roboto"/>
              </a:rPr>
              <a:t>Enum Iteration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52516" y="2743200"/>
            <a:ext cx="1323941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94A3B8"/>
                </a:solidFill>
                <a:latin typeface="Roboto"/>
              </a:rPr>
              <a:t>Initializer lists / C++23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7228" y="3038475"/>
            <a:ext cx="5010024" cy="238124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CBD5E1"/>
                </a:solidFill>
                <a:latin typeface="Roboto"/>
              </a:rPr>
              <a:t>Use </a:t>
            </a:r>
            <a:r>
              <a:rPr sz="956" b="0">
                <a:solidFill>
                  <a:srgbClr val="F472B6"/>
                </a:solidFill>
                <a:latin typeface="Roboto Mono"/>
              </a:rPr>
              <a:t>{values}</a:t>
            </a:r>
            <a:r>
              <a:rPr sz="956" b="0">
                <a:solidFill>
                  <a:srgbClr val="CBD5E1"/>
                </a:solidFill>
                <a:latin typeface="Roboto"/>
              </a:rPr>
              <a:t> or </a:t>
            </a:r>
            <a:r>
              <a:rPr sz="956" b="0">
                <a:solidFill>
                  <a:srgbClr val="F472B6"/>
                </a:solidFill>
                <a:latin typeface="Roboto Mono"/>
              </a:rPr>
              <a:t>std::for_each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045" y="2324100"/>
            <a:ext cx="5352916" cy="1104900"/>
          </a:xfrm>
          <a:prstGeom prst="roundRect">
            <a:avLst>
              <a:gd name="adj" fmla="val 13793"/>
            </a:avLst>
          </a:prstGeom>
          <a:solidFill>
            <a:srgbClr val="1E293B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 Same Side Corner Rectangle 27"/>
          <p:cNvSpPr/>
          <p:nvPr/>
        </p:nvSpPr>
        <p:spPr>
          <a:xfrm rot="16200000">
            <a:off x="5685635" y="2810510"/>
            <a:ext cx="1104900" cy="1320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438739" y="2610802"/>
            <a:ext cx="228594" cy="188595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857828" y="2476499"/>
            <a:ext cx="1457288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</a:pPr>
            <a:r>
              <a:rPr sz="1076" b="1">
                <a:solidFill>
                  <a:srgbClr val="FFFFFF"/>
                </a:solidFill>
                <a:latin typeface="Roboto"/>
              </a:rPr>
              <a:t>Ranges Integration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7828" y="2743200"/>
            <a:ext cx="1457288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837" b="0">
                <a:solidFill>
                  <a:srgbClr val="94A3B8"/>
                </a:solidFill>
                <a:latin typeface="Roboto"/>
              </a:rPr>
              <a:t>C++20 library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62540" y="3038475"/>
            <a:ext cx="5010024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CBD5E1"/>
                </a:solidFill>
                <a:latin typeface="Roboto"/>
              </a:rPr>
              <a:t>Views and algorithms support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66733" y="3619499"/>
            <a:ext cx="10858228" cy="781050"/>
          </a:xfrm>
          <a:prstGeom prst="roundRect">
            <a:avLst>
              <a:gd name="adj" fmla="val 19512"/>
            </a:avLst>
          </a:prstGeom>
          <a:solidFill>
            <a:srgbClr val="1E293B">
              <a:alpha val="30000"/>
            </a:srgbClr>
          </a:solidFill>
          <a:ln w="825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28654" y="3781424"/>
            <a:ext cx="3438439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260"/>
              </a:spcAft>
            </a:pPr>
            <a:r>
              <a:rPr sz="837" b="0">
                <a:solidFill>
                  <a:srgbClr val="94A3B8"/>
                </a:solidFill>
                <a:latin typeface="Roboto"/>
              </a:rPr>
              <a:t>Standard Containers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8654" y="4010024"/>
            <a:ext cx="3438439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1">
                <a:solidFill>
                  <a:srgbClr val="FFFFFF"/>
                </a:solidFill>
                <a:latin typeface="Roboto"/>
              </a:rPr>
              <a:t>Use Built-in Support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81390" y="3781424"/>
            <a:ext cx="3438439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260"/>
              </a:spcAft>
            </a:pPr>
            <a:r>
              <a:rPr sz="837" b="0">
                <a:solidFill>
                  <a:srgbClr val="94A3B8"/>
                </a:solidFill>
                <a:latin typeface="Roboto"/>
              </a:rPr>
              <a:t>Custom Data Structures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81390" y="4010024"/>
            <a:ext cx="3438439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1">
                <a:solidFill>
                  <a:srgbClr val="FFFFFF"/>
                </a:solidFill>
                <a:latin typeface="Roboto"/>
              </a:rPr>
              <a:t>Implement begin()/end()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924601" y="3781424"/>
            <a:ext cx="3438439" cy="1904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300"/>
              </a:lnSpc>
              <a:spcBef>
                <a:spcPts val="0"/>
              </a:spcBef>
              <a:spcAft>
                <a:spcPts val="260"/>
              </a:spcAft>
            </a:pPr>
            <a:r>
              <a:rPr sz="837" b="0">
                <a:solidFill>
                  <a:srgbClr val="94A3B8"/>
                </a:solidFill>
                <a:latin typeface="Roboto"/>
              </a:rPr>
              <a:t>Complex Traversal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24601" y="4010024"/>
            <a:ext cx="3438439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1">
                <a:solidFill>
                  <a:srgbClr val="FFFFFF"/>
                </a:solidFill>
                <a:latin typeface="Roboto"/>
              </a:rPr>
              <a:t>Custom Iterators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66733" y="4552949"/>
            <a:ext cx="10858228" cy="2076449"/>
          </a:xfrm>
          <a:prstGeom prst="roundRect">
            <a:avLst>
              <a:gd name="adj" fmla="val 7339"/>
            </a:avLst>
          </a:prstGeom>
          <a:gradFill rotWithShape="1">
            <a:gsLst>
              <a:gs pos="0">
                <a:srgbClr val="3B82F6">
                  <a:alpha val="10000"/>
                </a:srgbClr>
              </a:gs>
              <a:gs pos="100000">
                <a:srgbClr val="F59E0B">
                  <a:alpha val="10000"/>
                </a:srgbClr>
              </a:gs>
            </a:gsLst>
            <a:lin ang="10800000" scaled="0"/>
          </a:gradFill>
          <a:ln w="8255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828654" y="4769692"/>
            <a:ext cx="285742" cy="233265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1228694" y="4714875"/>
            <a:ext cx="2066873" cy="266699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520"/>
              </a:spcAft>
            </a:pPr>
            <a:r>
              <a:rPr sz="1196" b="1">
                <a:solidFill>
                  <a:srgbClr val="FFFFFF"/>
                </a:solidFill>
                <a:latin typeface="Roboto"/>
              </a:rPr>
              <a:t>Final Recommendations</a:t>
            </a:r>
          </a:p>
        </p:txBody>
      </p:sp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1362040" y="5249811"/>
            <a:ext cx="171445" cy="149327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1609684" y="5172075"/>
            <a:ext cx="2809804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CBD5E1"/>
                </a:solidFill>
                <a:latin typeface="Roboto"/>
              </a:rPr>
              <a:t>Prefer standard containers when possible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6438739" y="5249811"/>
            <a:ext cx="171445" cy="149327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6686382" y="5172075"/>
            <a:ext cx="3324141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CBD5E1"/>
                </a:solidFill>
                <a:latin typeface="Roboto"/>
              </a:rPr>
              <a:t>Implement custom iterators only when necessary</a:t>
            </a:r>
          </a:p>
        </p:txBody>
      </p:sp>
      <p:pic>
        <p:nvPicPr>
          <p:cNvPr id="47" name="Picture 46" descr="image.png"/>
          <p:cNvPicPr>
            <a:picLocks noChangeAspect="1"/>
          </p:cNvPicPr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1362040" y="5687961"/>
            <a:ext cx="171445" cy="149327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609684" y="5610224"/>
            <a:ext cx="1924001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CBD5E1"/>
                </a:solidFill>
                <a:latin typeface="Roboto"/>
              </a:rPr>
              <a:t>Leverage C++17/20 features</a:t>
            </a:r>
          </a:p>
        </p:txBody>
      </p:sp>
      <p:pic>
        <p:nvPicPr>
          <p:cNvPr id="49" name="Picture 48" descr="image.png"/>
          <p:cNvPicPr>
            <a:picLocks noChangeAspect="1"/>
          </p:cNvPicPr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6438739" y="5687961"/>
            <a:ext cx="171445" cy="149327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6686382" y="5610224"/>
            <a:ext cx="1819229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CBD5E1"/>
                </a:solidFill>
                <a:latin typeface="Roboto"/>
              </a:rPr>
              <a:t>Use const auto&amp; by default</a:t>
            </a:r>
          </a:p>
        </p:txBody>
      </p:sp>
      <p:pic>
        <p:nvPicPr>
          <p:cNvPr id="51" name="Picture 50" descr="image.png"/>
          <p:cNvPicPr>
            <a:picLocks noChangeAspect="1"/>
          </p:cNvPicPr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1362040" y="6126111"/>
            <a:ext cx="171445" cy="149327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1609684" y="6048375"/>
            <a:ext cx="2219269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CBD5E1"/>
                </a:solidFill>
                <a:latin typeface="Roboto"/>
              </a:rPr>
              <a:t>Consider ranges for composition</a:t>
            </a:r>
          </a:p>
        </p:txBody>
      </p:sp>
      <p:pic>
        <p:nvPicPr>
          <p:cNvPr id="53" name="Picture 52" descr="image.png"/>
          <p:cNvPicPr>
            <a:picLocks noChangeAspect="1"/>
          </p:cNvPicPr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6438739" y="6126111"/>
            <a:ext cx="171445" cy="149327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6686382" y="6048375"/>
            <a:ext cx="1962100" cy="228600"/>
          </a:xfrm>
          <a:prstGeom prst="rect">
            <a:avLst/>
          </a:prstGeom>
          <a:noFill/>
        </p:spPr>
        <p:txBody>
          <a:bodyPr wrap="none" lIns="73152" tIns="54864" rIns="73152" bIns="54864" anchor="ctr">
            <a:sp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56" b="0">
                <a:solidFill>
                  <a:srgbClr val="CBD5E1"/>
                </a:solidFill>
                <a:latin typeface="Roboto"/>
              </a:rPr>
              <a:t>Follow iterator best practices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0" y="6781799"/>
            <a:ext cx="12191695" cy="76200"/>
          </a:xfrm>
          <a:prstGeom prst="rect">
            <a:avLst/>
          </a:prstGeom>
          <a:gradFill rotWithShape="1">
            <a:gsLst>
              <a:gs pos="0">
                <a:srgbClr val="3B82F6"/>
              </a:gs>
              <a:gs pos="50000">
                <a:srgbClr val="F59E0B"/>
              </a:gs>
              <a:gs pos="100000">
                <a:srgbClr val="3B82F6"/>
              </a:gs>
            </a:gsLst>
            <a:lin ang="1080000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MPOWERCHARTSPROPERTIES_A_0" val="AAAAAAH//////////wEAAAAAAAAAAAAAACoqIFRoaXMgaXMgYSBMaXRlREIgZmlsZSAqKgcEAP////8FAAAAAQAAAAAAAAAAAAAAAAAAAAAAAAAAAAAAAAAAAAAAAAAAAAAAAAABEQAAAFByb3BlcnR5RG9jdW1lbnRzAg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CAAAAAv//////////AQAAAAAAAAAAAAAAEQAAAFByb3BlcnR5RG9jdW1lbnRzAwAAAAAAAAAEAAAACQAAAF9pZD0kLl9pZAEDAAAAAAADAAAAAQADAAAAIwAAAENvbWJpSW5kZXg9JC5OYW1lICsgJ18nICsgJC5WZXJzaW9uAQUAAAAAAAUAAAABAAUAAAA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BgMBAQEBAQEBAQEBAQEBAQMAAAAAAAAAAwAAAAMAAAAA/////wUAtgsAAAAAAAAAAAAAIAD///////////////8AAAD///////////////8DAAAAAgD///////8DAAAAAwD///////8DAAAAAwD///////8DAAAAAwD///////8DAAAABAD///////8DAAAABA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BACAA////////////////AAAO////////AwAAAAQA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AgABAP///////wUAAAACABAAC3RZlOTn3BhCmiAjUsa//xAEAAAAAAADAAAAAAADAAAAAwADAAQA////////BQAAAAMAEAALB97b6dZ/sEOft8u0j+s/XwQAAAABAAMAAAACAAMAAAAEAAMAAAAAAAMAAAAEAAMAAAAAAAMAAAAEAAMAAAAAAAMAAAAEAAQABgD///////8FAAAABAAQAAugMFb6HfOMSrQaYi5J0S6UBAAAAAIAAwAAAAMAAwAAAAEAAwAAAAMA////////AwAAAAMA////////AwAAAAMA////////AwAAAAAA////////AwAAAAAA////////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AAAAEAAAAAP////8DAAMOAAAAAAAAAAAAAP/////GAMYAAAAFX2lkABAAAAAEdFmU5OfcGEKaICNSxr//EANEYXRhAFMAAAAIUHJlc2VudGF0aW9uU2Nhbm5lZEZvckxpbmtlZFNoYXBlcwAAAk51bWJlckZvcm1hdFNlcGFyYXRvck1vZGUACgAAAEF1dG9tYXRpYwAAAk5hbWUAJAAAAExpbmtlZFNoYXBlUHJlc2VudGF0aW9uU2V0dGluZ3NEYXRhABBWZXJzaW9uAAAAAAAJTGFzdFdyaXRlAEI6PF+bAQAAAAEA/////4MAgwAAAAVfaWQAEAAAAAQH3tvp1n+wQ5+3y7SP6z9fA0RhdGEAGwAAAARMaW5rZWRTaGFwZURhdGEABQAAAAAAAk5hbWUAGQAAAExpbmtlZFNoYXBlc0RhdGFQcm9wZXJ0eQAQVmVyc2lvbgAAAAAACUxhc3RXcml0ZQDQOTxfmwEAAAACAP////+DAIMAAAAFX2lkABAAAAAEoDBW+h3zjEq0GmIuSdEulANEYXRhABsAAAAETGlua2VkU2hhcGVEYXRhAAUAAAAAAAJOYW1lABkAAABMaW5rZWRTaGFwZXNEYXRhUHJvcGVydHkAEFZlcnNpb24AAQAAAAlMYXN0V3JpdGUAIjo8X5sB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FAAAAAwAAAAD/////BQDVCwAAAAAAAAAAAAAgAf///////////////wAAAP///////////////wUAAAACAP///////wUAAAACAP///////wUAAAACAP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wEAIAH///////////////8AAA7///////8FAAAABA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CAAMBAwAAAAIA////////JQAGTGlua2VkU2hhcGVQcmVzZW50YXRpb25TZXR0aW5nc0RhdGFfMAQAAAAAAAUAAAAAAAUAAAADAAUAAAAAAP///////wUAAAAAAP///////wMAAQEDAAAAAwD///////8aAAZMaW5rZWRTaGFwZXNEYXRhUHJvcGVydHlfMAQAAAABAAUAAAACAAUAAAAEAAQAAQEDAAAABAD///////8aAAZMaW5rZWRTaGFwZXNEYXRhUHJvcGVydHlfMQQAAAACAAUAAAADAAUAAAAB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"/>
  <p:tag name="EMPOWERCHARTSPROPERTIES_SLOT" val="A"/>
  <p:tag name="EMPOWERCHARTSPROPERTIES_LASTWRITEDATE" val="639024261412972861"/>
  <p:tag name="EMPOWERCHARTSPROPERTIES_A_LENGTH" val="24576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7e753c2c-bb14-4786-921b-97c6a6fc424f}" enabled="1" method="Standard" siteId="{3bd97919-57c3-48d3-9e9a-8e4c01614a8f}" contentBits="2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1942</Words>
  <Application>Microsoft Office PowerPoint</Application>
  <PresentationFormat>Widescreen</PresentationFormat>
  <Paragraphs>349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Arial</vt:lpstr>
      <vt:lpstr>Calibri</vt:lpstr>
      <vt:lpstr>Roboto</vt:lpstr>
      <vt:lpstr>Roboto Mono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Shivapuram, Bharath</cp:lastModifiedBy>
  <cp:revision>3</cp:revision>
  <dcterms:created xsi:type="dcterms:W3CDTF">2013-01-27T09:14:16Z</dcterms:created>
  <dcterms:modified xsi:type="dcterms:W3CDTF">2025-12-28T02:32:07Z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FooterLocations">
    <vt:lpwstr>Office Theme:8</vt:lpwstr>
  </property>
  <property fmtid="{D5CDD505-2E9C-101B-9397-08002B2CF9AE}" pid="3" name="ClassificationContentMarkingFooterText">
    <vt:lpwstr>Internal</vt:lpwstr>
  </property>
</Properties>
</file>