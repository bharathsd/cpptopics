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jp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49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33.png"/><Relationship Id="rId9" Type="http://schemas.openxmlformats.org/officeDocument/2006/relationships/image" Target="../media/image80.png"/><Relationship Id="rId10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73.png"/><Relationship Id="rId9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10224" y="761999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23961" y="3047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62460" y="914400"/>
            <a:ext cx="1066773" cy="10667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810104" y="1183329"/>
            <a:ext cx="571485" cy="528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9329" y="2286000"/>
            <a:ext cx="6553036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Range-Based For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3391" y="3276599"/>
            <a:ext cx="1504912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3348" b="1">
                <a:solidFill>
                  <a:srgbClr val="3B82F6"/>
                </a:solidFill>
                <a:latin typeface="Roboto"/>
                <a:rFonts ascii="Roboto" hAnsi="Roboto" eastAsia="Roboto" cs="Roboto"/>
              </a:rPr>
              <a:t>in 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2" y="4248150"/>
            <a:ext cx="1219169" cy="571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38479" y="4610099"/>
            <a:ext cx="451473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Clean, Efficient Iteration Introduced in C++11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340" y="5429250"/>
            <a:ext cx="971525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459" y="558164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262" y="5429250"/>
            <a:ext cx="1409664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381" y="5581649"/>
            <a:ext cx="93342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Modern C++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8323" y="5429250"/>
            <a:ext cx="781030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6442" y="5581649"/>
            <a:ext cx="30479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4D399"/>
                </a:solidFill>
                <a:latin typeface="Roboto"/>
                <a:rFonts ascii="Roboto" hAnsi="Roboto" eastAsia="Roboto" cs="Roboto"/>
              </a:rPr>
              <a:t>STL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Are Range-Based For Loops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53935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773" y="1390650"/>
            <a:ext cx="17906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C++11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773" y="1695449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Cleaner iteration syntax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343150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13673" y="2696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604135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19" y="2495550"/>
            <a:ext cx="27717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Less Boilerplate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19" y="2800350"/>
            <a:ext cx="27717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manual index or iterator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295650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13673" y="36487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3516630"/>
            <a:ext cx="228594" cy="2057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0119" y="3448049"/>
            <a:ext cx="28860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Less Error-Prone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3752849"/>
            <a:ext cx="28860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Eliminates off-by-one and other loop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48150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13673" y="4601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4470558"/>
            <a:ext cx="228594" cy="202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4400550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More Readable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4705350"/>
            <a:ext cx="27050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Clear intent: iterate over entire container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200650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13673" y="55537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5421630"/>
            <a:ext cx="228594" cy="2057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119" y="5353049"/>
            <a:ext cx="29526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19" y="5657850"/>
            <a:ext cx="29526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any type providing begin()/end()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52842"/>
            <a:ext cx="190495" cy="1232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451" y="1381124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Traditional For 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762125"/>
            <a:ext cx="5848203" cy="1438274"/>
          </a:xfrm>
          <a:prstGeom prst="roundRect">
            <a:avLst>
              <a:gd name="adj" fmla="val 105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92404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it = vec.</a:t>
            </a: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it != vec.</a:t>
            </a:r>
            <a:r>
              <a:rPr sz="1076" b="0">
                <a:solidFill>
                  <a:srgbClr val="FDE047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++it)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20027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elem = *it;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273" y="2505074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process element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6224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348110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451" y="342900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Range-Based For Loop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809999"/>
            <a:ext cx="5848203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397192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elem : vec)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7273" y="4267199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process element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53390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200650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5409247"/>
            <a:ext cx="228594" cy="21145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3625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Difference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5667374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Range-based loops automatically handle iterator lifecycle, bounds checking, and element access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2002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Syntax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92922"/>
            <a:ext cx="285742" cy="157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773" y="1619250"/>
            <a:ext cx="70483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95499"/>
            <a:ext cx="4629034" cy="1924049"/>
          </a:xfrm>
          <a:prstGeom prst="roundRect">
            <a:avLst>
              <a:gd name="adj" fmla="val 792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753" y="2295525"/>
            <a:ext cx="4228994" cy="809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554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554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554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range_declaration</a:t>
            </a:r>
            <a:r>
              <a:rPr sz="1554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1554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range_expression</a:t>
            </a:r>
            <a:r>
              <a:rPr sz="1554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45" y="3114675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loop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53" y="3438525"/>
            <a:ext cx="422899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238624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313673" y="45916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44738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0119" y="4391025"/>
            <a:ext cx="23907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range_declaration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19" y="4695824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Variable representing each element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5229225"/>
            <a:ext cx="4629034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13673" y="55822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546449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5381624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range_expression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5686425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Container or range to iterate over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5951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451" y="154305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Simple 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6758" y="1924049"/>
            <a:ext cx="5848203" cy="2181225"/>
          </a:xfrm>
          <a:prstGeom prst="roundRect">
            <a:avLst>
              <a:gd name="adj" fmla="val 698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6778" y="2124075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19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numbers = {</a:t>
            </a:r>
            <a:r>
              <a:rPr sz="119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1, 2, 3, 4, 5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6778" y="2552700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19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numbers)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6778" y="2857500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19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6778" y="3171825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6778" y="3590924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1 2 3 4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4295774"/>
            <a:ext cx="5848203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00579" y="449075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05372" y="4419600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Automatically handles iteration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943475"/>
            <a:ext cx="5848203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00579" y="51384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05372" y="5067299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any standard container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5591175"/>
            <a:ext cx="5848203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00579" y="57861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05372" y="5715000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and expressive syntax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9434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Iterating Over Standard Containers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907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828800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228850"/>
            <a:ext cx="5238619" cy="1514475"/>
          </a:xfrm>
          <a:prstGeom prst="roundRect">
            <a:avLst>
              <a:gd name="adj" fmla="val 1006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38125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vec = {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1, 2, 3, 4, 5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74320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vec)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3019424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29565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019549"/>
            <a:ext cx="228594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3943350"/>
            <a:ext cx="638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343400"/>
            <a:ext cx="5238619" cy="1514475"/>
          </a:xfrm>
          <a:prstGeom prst="roundRect">
            <a:avLst>
              <a:gd name="adj" fmla="val 1006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" y="451485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std::list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list = {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"a", "b", "c"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4867274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s : list)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514350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s &lt;&lt;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5419725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1704022"/>
            <a:ext cx="228594" cy="400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91135" y="159067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std::deque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342" y="1990724"/>
            <a:ext cx="5238619" cy="1514475"/>
          </a:xfrm>
          <a:prstGeom prst="roundRect">
            <a:avLst>
              <a:gd name="adj" fmla="val 1006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8263" y="215265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std::deque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deq = {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1.1, 2.2, 3.3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263" y="2505074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d : deq)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263" y="278130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d &lt;&lt;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263" y="3067050"/>
            <a:ext cx="491477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369569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095207" y="38868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388115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43531" y="3809999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 STL containers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342" y="432434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095207" y="45154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45098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43531" y="4438649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user-defined types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342" y="495299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095207" y="51441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51384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43531" y="5067299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Uses begin()/end() methods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6342" y="558164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095207" y="57727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57671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43531" y="5695949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Clean, readable syntax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3815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Iterating Over Associative Containers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02092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57325"/>
            <a:ext cx="7524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57375"/>
            <a:ext cx="5238619" cy="1981199"/>
          </a:xfrm>
          <a:prstGeom prst="roundRect">
            <a:avLst>
              <a:gd name="adj" fmla="val 769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01929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ages =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276474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"Alice"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30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}, 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"Bob"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25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543175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287654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[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age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] : ages)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143250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name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":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age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'\n'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409950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109084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1525" y="4038599"/>
            <a:ext cx="638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438649"/>
            <a:ext cx="5238619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54" y="4600575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std::set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unique = 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5, 3, 5, 1, 2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4943475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unique)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54" y="5210174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54" y="546734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54" y="5810249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1 2 3 5 (sorted)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342" y="1600200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933282" y="19532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82689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9729" y="1752599"/>
            <a:ext cx="26478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Ordered Containers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729" y="2057400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std::map, std::set iterate in sorted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342" y="2590799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933282" y="294385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2817495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9729" y="2743200"/>
            <a:ext cx="30860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Unordered Containers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729" y="3047999"/>
            <a:ext cx="30860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std::unordered_map: undefined iteration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3581400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933282" y="39344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3808094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19729" y="3733799"/>
            <a:ext cx="21906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Structured Bindings (C++17)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9729" y="4038599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[key, value] syntax for map pairs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342" y="4610099"/>
            <a:ext cx="5238619" cy="1447800"/>
          </a:xfrm>
          <a:prstGeom prst="roundRect">
            <a:avLst>
              <a:gd name="adj" fmla="val 1052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48263" y="4844863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14957" y="4781549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std::unordered_map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8263" y="516255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[k, v] : umap)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3056" y="5429250"/>
            <a:ext cx="22859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Process key-value pair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8263" y="565785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5527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Iterating Over Arrays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11642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66874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C-Style Array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66924"/>
            <a:ext cx="4629034" cy="1514475"/>
          </a:xfrm>
          <a:prstGeom prst="roundRect">
            <a:avLst>
              <a:gd name="adj" fmla="val 1006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228850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arr[] = {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1, 2, 3, 4, 5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581275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arr)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857500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143250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87953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3829050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std::array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229100"/>
            <a:ext cx="4629034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" y="4391025"/>
            <a:ext cx="430519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std::array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std_arr = {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10, 20, 30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5019675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x : std_arr)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5305425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5581649"/>
            <a:ext cx="43051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6758" y="1276350"/>
            <a:ext cx="5848203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323698" y="16294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67253" y="15030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0144" y="1428750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Works with Both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4" y="1733550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C-style arrays and std::array supported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2266950"/>
            <a:ext cx="5848203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323698" y="26200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67253" y="2493645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0144" y="2419349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Manual Size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4" y="2724150"/>
            <a:ext cx="24192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Array size automatically determined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3257550"/>
            <a:ext cx="5848203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323698" y="36106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67253" y="348424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10144" y="340995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Bounds 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144" y="371475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Prevents out-of-bounds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4248150"/>
            <a:ext cx="5848203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323698" y="46012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67253" y="4474845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10144" y="4400550"/>
            <a:ext cx="2838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Array Decay Handled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0144" y="470535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even when arrays decay to pointers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5314950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5538311"/>
            <a:ext cx="228594" cy="16287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1570" y="54673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570" y="577215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Range-based for loops are as fast as traditional iterator-based loops with modern compilers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1934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Using References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8024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240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 T&amp; - Read-Only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324100"/>
            <a:ext cx="4990975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486025"/>
            <a:ext cx="4667133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names = {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"Alice", "Bob"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3086100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name : names)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3352800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name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619499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29291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424815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T&amp; - Modification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648200"/>
            <a:ext cx="4990975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" y="4810124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name : names)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5076825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name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name;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5334000"/>
            <a:ext cx="46671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8699" y="1295399"/>
            <a:ext cx="5486262" cy="2476499"/>
          </a:xfrm>
          <a:prstGeom prst="roundRect">
            <a:avLst>
              <a:gd name="adj" fmla="val 6153"/>
            </a:avLst>
          </a:prstGeom>
          <a:solidFill>
            <a:srgbClr val="1E293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8699" y="1295399"/>
            <a:ext cx="5486262" cy="247649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8699" y="3962399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847564" y="41535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91095" y="41478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5887" y="4076699"/>
            <a:ext cx="31050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unnecessary copies - reference is faster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8699" y="4591050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847564" y="47821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91095" y="47765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95887" y="4705350"/>
            <a:ext cx="29336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Essential for large objects (strings, vectors)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8699" y="5219700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847564" y="54108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91095" y="540515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95887" y="5334000"/>
            <a:ext cx="29812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const&amp; ensures element cannot be modified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8699" y="5848350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847564" y="60394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91095" y="60338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5887" y="5962650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Non-const&amp; allows in-place modification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8763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Using Auto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67864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0668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Simplify Complex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343150"/>
            <a:ext cx="5238619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51460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data;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83845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[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key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] : data)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46" y="3105149"/>
            <a:ext cx="19240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Clean and 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333749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99383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39433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Less Verbose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343400"/>
            <a:ext cx="5238619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" y="451485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std::complex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nums;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4838699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num : nums)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46" y="5105400"/>
            <a:ext cx="31050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Much shorter than explicit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5334000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342" y="1381124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933282" y="17341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607820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19729" y="1533525"/>
            <a:ext cx="25526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Reduces Verbosity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729" y="1838324"/>
            <a:ext cx="25526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need to write complex type names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342" y="2371725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933282" y="27247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2598420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19729" y="2524125"/>
            <a:ext cx="30193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Prevents Type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9729" y="2828925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deduces correct type automatically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342" y="3362324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933282" y="37153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3589020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19729" y="3514725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Easier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9729" y="3819524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changes automatically update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342" y="4352924"/>
            <a:ext cx="523861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933282" y="47059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457962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19729" y="4505325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Works with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9729" y="4810124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Essential for generic 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342" y="5419725"/>
            <a:ext cx="5238619" cy="866775"/>
          </a:xfrm>
          <a:prstGeom prst="roundRect">
            <a:avLst>
              <a:gd name="adj" fmla="val 1758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48263" y="56368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91155" y="5581649"/>
            <a:ext cx="37718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1155" y="5886450"/>
            <a:ext cx="377180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read-only access to avoid copies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7911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Range-Based Loops with Custom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66386"/>
            <a:ext cx="228594" cy="220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543050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981199"/>
            <a:ext cx="4990975" cy="723900"/>
          </a:xfrm>
          <a:prstGeom prst="roundRect">
            <a:avLst>
              <a:gd name="adj" fmla="val 2105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370823" y="22771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177863"/>
            <a:ext cx="190495" cy="140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21" y="209549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21" y="23621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begin() and end()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819399"/>
            <a:ext cx="4990975" cy="723900"/>
          </a:xfrm>
          <a:prstGeom prst="roundRect">
            <a:avLst>
              <a:gd name="adj" fmla="val 2105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70823" y="31153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032872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2933699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Free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3200400"/>
            <a:ext cx="19335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ADL: begin(obj) and end(obj)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771900"/>
            <a:ext cx="4990975" cy="2381250"/>
          </a:xfrm>
          <a:prstGeom prst="roundRect">
            <a:avLst>
              <a:gd name="adj" fmla="val 64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54" y="3924299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MyContainer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54" y="4171950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54" y="4419600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int*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54" y="4667249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int*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54" y="4914900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54" y="5238749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container)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54" y="5486400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5734050"/>
            <a:ext cx="466713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38699" y="1612582"/>
            <a:ext cx="228594" cy="165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43491" y="156210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Iterator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8699" y="1962149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847564" y="21532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91095" y="21476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95887" y="2076449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Must satisfy InputIterator concept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8699" y="2590799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847564" y="27819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91095" y="27762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5887" y="2705099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Support prefix increment (++it)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8699" y="3219449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847564" y="34105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91095" y="340490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95887" y="333374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Support dereferencing (*it)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8699" y="3848099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847564" y="40392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91095" y="40335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95887" y="3962399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Support comparison (it != end)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8699" y="4552949"/>
            <a:ext cx="5486262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00619" y="4779645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43511" y="4724399"/>
            <a:ext cx="44671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Pattern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3511" y="5029200"/>
            <a:ext cx="44671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 containers typically hold an underlying standard container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8699" y="5600700"/>
            <a:ext cx="5486262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62520" y="578615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67313" y="5734050"/>
            <a:ext cx="438139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C++20 introduces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ranges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library for more flexible iteration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8574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38224"/>
            <a:ext cx="5333866" cy="2133599"/>
          </a:xfrm>
          <a:prstGeom prst="roundRect">
            <a:avLst>
              <a:gd name="adj" fmla="val 714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8654" y="1259681"/>
            <a:ext cx="228594" cy="185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45" y="120015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Modifying During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1545" y="1504950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Undefined Behavior!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654" y="1809749"/>
            <a:ext cx="5010024" cy="876299"/>
          </a:xfrm>
          <a:prstGeom prst="roundRect">
            <a:avLst>
              <a:gd name="adj" fmla="val 8695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1924049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vec)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51" y="2143125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vec.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push_back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(x); </a:t>
            </a:r>
            <a:r>
              <a:rPr sz="837" b="0">
                <a:solidFill>
                  <a:srgbClr val="64748B"/>
                </a:solidFill>
                <a:latin typeface="Roboto Mono"/>
                <a:rFonts ascii="Roboto Mono" hAnsi="Roboto Mono" eastAsia="Roboto Mono" cs="Roboto Mono"/>
              </a:rPr>
              <a:t>// Don't do this!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51" y="2362199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095" y="1038224"/>
            <a:ext cx="5333866" cy="2133599"/>
          </a:xfrm>
          <a:prstGeom prst="roundRect">
            <a:avLst>
              <a:gd name="adj" fmla="val 7142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353016" y="1259681"/>
            <a:ext cx="228594" cy="1857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95907" y="1200150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Lifetime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5907" y="1504950"/>
            <a:ext cx="16954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Container May Be Destroyed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3016" y="1809749"/>
            <a:ext cx="5010024" cy="876299"/>
          </a:xfrm>
          <a:prstGeom prst="roundRect">
            <a:avLst>
              <a:gd name="adj" fmla="val 8695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7313" y="1924049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ref =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get_temp_container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313" y="2143125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ref) {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313" y="2362199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 Mono"/>
                <a:rFonts ascii="Roboto Mono" hAnsi="Roboto Mono" eastAsia="Roboto Mono" cs="Roboto Mono"/>
              </a:rPr>
              <a:t>// Container may be destroyed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362324"/>
            <a:ext cx="5333866" cy="2209800"/>
          </a:xfrm>
          <a:prstGeom prst="roundRect">
            <a:avLst>
              <a:gd name="adj" fmla="val 6896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357949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1545" y="352425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vs auto&amp; Confusion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545" y="3829050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B923C"/>
                </a:solidFill>
                <a:latin typeface="Roboto"/>
                <a:rFonts ascii="Roboto" hAnsi="Roboto" eastAsia="Roboto" cs="Roboto"/>
              </a:rPr>
              <a:t>Performance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654" y="4133849"/>
            <a:ext cx="5010024" cy="952499"/>
          </a:xfrm>
          <a:prstGeom prst="roundRect">
            <a:avLst>
              <a:gd name="adj" fmla="val 8000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951" y="4248150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big_vec) {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51" y="4467224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 Mono"/>
                <a:rFonts ascii="Roboto Mono" hAnsi="Roboto Mono" eastAsia="Roboto Mono" cs="Roboto Mono"/>
              </a:rPr>
              <a:t>// Copies every element!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51" y="4762500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&amp; x : big_vec) { 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3362324"/>
            <a:ext cx="5333866" cy="2209800"/>
          </a:xfrm>
          <a:prstGeom prst="roundRect">
            <a:avLst>
              <a:gd name="adj" fmla="val 6896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53016" y="35794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95907" y="3524250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Forgetting const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5907" y="3829050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B923C"/>
                </a:solidFill>
                <a:latin typeface="Roboto"/>
                <a:rFonts ascii="Roboto" hAnsi="Roboto" eastAsia="Roboto" cs="Roboto"/>
              </a:rPr>
              <a:t>Accidental Modification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3016" y="4133849"/>
            <a:ext cx="5010024" cy="876299"/>
          </a:xfrm>
          <a:prstGeom prst="roundRect">
            <a:avLst>
              <a:gd name="adj" fmla="val 8695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7313" y="4248150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s : strings)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313" y="4467224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s =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""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</a:t>
            </a:r>
            <a:r>
              <a:rPr sz="837" b="0">
                <a:solidFill>
                  <a:srgbClr val="64748B"/>
                </a:solidFill>
                <a:latin typeface="Roboto Mono"/>
                <a:rFonts ascii="Roboto Mono" hAnsi="Roboto Mono" eastAsia="Roboto Mono" cs="Roboto Mono"/>
              </a:rPr>
              <a:t>// Accidental!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313" y="4686300"/>
            <a:ext cx="478143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5762625"/>
            <a:ext cx="10858228" cy="866775"/>
          </a:xfrm>
          <a:prstGeom prst="roundRect">
            <a:avLst>
              <a:gd name="adj" fmla="val 1758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597979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71545" y="5924549"/>
            <a:ext cx="68102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1545" y="6229350"/>
            <a:ext cx="681020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Always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read-only access to avoid copies and prevent accidental modifications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147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Considerations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569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04999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Copy vs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305049"/>
            <a:ext cx="5238619" cy="1552574"/>
          </a:xfrm>
          <a:prstGeom prst="roundRect">
            <a:avLst>
              <a:gd name="adj" fmla="val 981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466975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vec(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10000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"large string"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771775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✓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x : vec) {}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3009900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No copies - Fast!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276599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✗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vec)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505199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Copies 10000 strings - Slow!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048124"/>
            <a:ext cx="5238619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94649" y="4220208"/>
            <a:ext cx="476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248" y="4162424"/>
            <a:ext cx="42385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Modern compilers optimize reference overhead for small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638674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75598" y="4829809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852147"/>
            <a:ext cx="190495" cy="1064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752974"/>
            <a:ext cx="38384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Move semantics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std::move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transfer semantics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267324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75598" y="5458459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545838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381624"/>
            <a:ext cx="35622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Large objects: always use references to avoid copies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1604962"/>
            <a:ext cx="228594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91135" y="154305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1943100"/>
            <a:ext cx="5238619" cy="2333624"/>
          </a:xfrm>
          <a:prstGeom prst="roundRect">
            <a:avLst>
              <a:gd name="adj" fmla="val 653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86342" y="4457700"/>
            <a:ext cx="5238619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22C55E">
                  <a:alpha val="10000"/>
                </a:srgbClr>
              </a:gs>
              <a:gs pos="100000">
                <a:srgbClr val="22C55E">
                  <a:alpha val="5000"/>
                </a:srgbClr>
              </a:gs>
            </a:gsLst>
            <a:lin scaled="0" ang="10800000"/>
          </a:gra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48263" y="4701708"/>
            <a:ext cx="190495" cy="1596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53056" y="46291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const auto&amp; by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3056" y="49339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Safest and fastest for most types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342" y="5429250"/>
            <a:ext cx="5238619" cy="714375"/>
          </a:xfrm>
          <a:prstGeom prst="roundRect">
            <a:avLst>
              <a:gd name="adj" fmla="val 2133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0164" y="56337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14957" y="5562600"/>
            <a:ext cx="4686182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optimization: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Modern compilers optimize away reference overhead for small types like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44806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Ranges Integration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77788"/>
            <a:ext cx="190495" cy="140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426" y="151447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Filter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57375"/>
            <a:ext cx="4990975" cy="12192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555" y="1981199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filtered = data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(is_even);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55" y="2257425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filtered)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55" y="2486025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55" y="2714625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272677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3228975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Transform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571875"/>
            <a:ext cx="4990975" cy="1447800"/>
          </a:xfrm>
          <a:prstGeom prst="roundRect">
            <a:avLst>
              <a:gd name="adj" fmla="val 1052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555" y="3695699"/>
            <a:ext cx="4743331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transformed = data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(square);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55" y="4190999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transformed)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55" y="4429125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55" y="4657725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5172075"/>
            <a:ext cx="4990975" cy="981074"/>
          </a:xfrm>
          <a:prstGeom prst="roundRect">
            <a:avLst>
              <a:gd name="adj" fmla="val 155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555" y="5295899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chain = data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(is_even)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" y="5524499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(square);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55" y="5791200"/>
            <a:ext cx="47433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chain) {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8699" y="1181099"/>
            <a:ext cx="5486262" cy="1714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8699" y="3047999"/>
            <a:ext cx="5486262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780890" y="33058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91095" y="3236258"/>
            <a:ext cx="190495" cy="1568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95887" y="3162299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Composability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5887" y="3390899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Combine operations with pipe operator (|)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8699" y="3809999"/>
            <a:ext cx="5486262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780890" y="40678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91095" y="4008063"/>
            <a:ext cx="190495" cy="1372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5887" y="3924299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5887" y="4152899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Processing occurs only when needed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8699" y="4572000"/>
            <a:ext cx="5486262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780890" y="48298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91095" y="4763060"/>
            <a:ext cx="190495" cy="1512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5887" y="46863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Zero-Cost Abstraction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5887" y="49149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temporary allocations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8699" y="5372100"/>
            <a:ext cx="5486262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00619" y="5587365"/>
            <a:ext cx="228594" cy="21717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43511" y="5543550"/>
            <a:ext cx="48195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Ranges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3511" y="5848350"/>
            <a:ext cx="481952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views::filter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views::transform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views::take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views::drop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58141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&amp;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744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38299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Range-Based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3834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75598" y="22294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241447"/>
            <a:ext cx="171445" cy="127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215265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Iterating entire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628900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75598" y="28200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831997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274320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Simple iteration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21944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75598" y="34105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422547"/>
            <a:ext cx="171445" cy="1272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773" y="3333749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Read-only or modify-in-place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013834"/>
            <a:ext cx="228594" cy="1257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1525" y="394335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Traditional For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343400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75598" y="45345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546497"/>
            <a:ext cx="171445" cy="1272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773" y="445770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Need index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933950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75598" y="51250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137047"/>
            <a:ext cx="171445" cy="1272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66773" y="5048250"/>
            <a:ext cx="25621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Need iterator for advanced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52449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75598" y="57156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727597"/>
            <a:ext cx="171445" cy="1272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6773" y="5638799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Modifying container size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86342" y="1545431"/>
            <a:ext cx="228594" cy="1857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91135" y="150495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Core Best Practices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342" y="1904999"/>
            <a:ext cx="5238619" cy="714375"/>
          </a:xfrm>
          <a:prstGeom prst="roundRect">
            <a:avLst>
              <a:gd name="adj" fmla="val 21333"/>
            </a:avLst>
          </a:prstGeom>
          <a:gradFill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0164" y="2096060"/>
            <a:ext cx="190495" cy="1512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6858" y="2019299"/>
            <a:ext cx="281932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1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 by Default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6858" y="2305049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Avoids copies, prevents accidental modification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342" y="2686050"/>
            <a:ext cx="5238619" cy="714375"/>
          </a:xfrm>
          <a:prstGeom prst="roundRect">
            <a:avLst>
              <a:gd name="adj" fmla="val 21333"/>
            </a:avLst>
          </a:prstGeom>
          <a:gradFill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0164" y="2896160"/>
            <a:ext cx="190495" cy="1512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76858" y="2819399"/>
            <a:ext cx="197162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1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auto&amp;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 for Modification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6858" y="3086100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Explicit intent to modify elements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6342" y="356234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095207" y="375348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3750608"/>
            <a:ext cx="190495" cy="15688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05432" y="3676649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Never modify container during iteration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342" y="4152899"/>
            <a:ext cx="5238619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095207" y="43440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4350963"/>
            <a:ext cx="190495" cy="1372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05432" y="4267199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Consider performance for large objects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6342" y="4819650"/>
            <a:ext cx="5238619" cy="13716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22C55E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scaled="0" ang="10800000"/>
          </a:gra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48263" y="5031581"/>
            <a:ext cx="228594" cy="185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91155" y="4972050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Bottom 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91155" y="5276850"/>
            <a:ext cx="4571885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Range-based for loops make code cleaner, safer, and more maintainable. Use them whenever you need to iterate over an entire container.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6003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Iterating Over Enums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516856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76375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76424"/>
            <a:ext cx="5238619" cy="1181099"/>
          </a:xfrm>
          <a:prstGeom prst="roundRect">
            <a:avLst>
              <a:gd name="adj" fmla="val 12903"/>
            </a:avLst>
          </a:prstGeom>
          <a:solidFill>
            <a:srgbClr val="EF4444">
              <a:alpha val="1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038349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enum class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Color { Red, Green, Blue 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381250"/>
            <a:ext cx="24669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for(Color c : Color) 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815" y="2381250"/>
            <a:ext cx="192400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Roboto Mono"/>
                <a:rFonts ascii="Roboto Mono" hAnsi="Roboto Mono" eastAsia="Roboto Mono" cs="Roboto Mono"/>
              </a:rPr>
              <a:t>// Compilation error!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2647949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enum class doesn't support range-based for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3001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3248024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Solution 1: Initializer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590924"/>
            <a:ext cx="5238619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555" y="37147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(Color c : {Color::Red, Color::Green, Color::Blue})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55" y="395287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&gt;(c)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55" y="418147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7384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26" y="4686300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Solution 2: Underlying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029200"/>
            <a:ext cx="5238619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555" y="515302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&gt;(Color::Red);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55" y="53911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i &lt;=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&gt;(Color::Blue); ++i)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55" y="56197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55" y="58483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15792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91135" y="1543050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Alternative Approaches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342" y="19431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6028533" y="2200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2139763"/>
            <a:ext cx="190495" cy="1400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05432" y="205740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C++23: std::for_each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432" y="2286000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Native enum iteration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2705099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028533" y="29629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2886355"/>
            <a:ext cx="190495" cy="17088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05432" y="2819399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Third-party Libraries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5432" y="3047999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Boost.EnumReflection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86342" y="3589804"/>
            <a:ext cx="190495" cy="17369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53036" y="35433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C++23: std::for_each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342" y="3924299"/>
            <a:ext cx="5238619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0164" y="404812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std::for_each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enum_range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&gt;([] (Color c)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0164" y="4276725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&gt;(c)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0164" y="45148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6342" y="5057775"/>
            <a:ext cx="5238619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48263" y="5274944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91155" y="5219700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1155" y="5524499"/>
            <a:ext cx="457188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initializer lists for small enums or wait for C++23 std::for_each with enum_range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290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User-Defined Data Structures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98370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62174"/>
            <a:ext cx="21430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Matrix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562224"/>
            <a:ext cx="5238619" cy="2952750"/>
          </a:xfrm>
          <a:prstGeom prst="roundRect">
            <a:avLst>
              <a:gd name="adj" fmla="val 5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724150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Matrix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962274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data;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3190874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size_t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rows, cols;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429000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657600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data.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886200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data.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4124324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54" y="4429125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Matrix m(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4657725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m)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4895849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54" y="5124449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86342" y="120681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91135" y="1162050"/>
            <a:ext cx="22764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Traversal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342" y="15621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028533" y="1819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175876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43531" y="1676400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Row-Major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531" y="1904999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Left to right, top to bottom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23241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028533" y="2581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529167"/>
            <a:ext cx="190495" cy="1232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43531" y="2438400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Column-Major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3531" y="2667000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Top to bottom, left to right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342" y="30861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6028533" y="3343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3332093"/>
            <a:ext cx="190495" cy="4141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43531" y="32004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Diagonal Traversal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3531" y="34290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 access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342" y="3924299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028533" y="41821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4115360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3531" y="403859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Iterator Adapters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3531" y="4267199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Reverse, filtered views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342" y="46863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6028533" y="4944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4867555"/>
            <a:ext cx="190495" cy="17088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43531" y="48006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Containers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531" y="50292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levels of iteration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6342" y="5448300"/>
            <a:ext cx="5238619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48263" y="56559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91155" y="5600700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91155" y="5905500"/>
            <a:ext cx="457188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 iterators enable advanced traversal while maintaining range-based for syntax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0292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Iterating Struct Members and User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506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User-Defined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114550"/>
            <a:ext cx="5238619" cy="2381250"/>
          </a:xfrm>
          <a:prstGeom prst="roundRect">
            <a:avLst>
              <a:gd name="adj" fmla="val 64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276474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struct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Person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524125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name;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771775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age;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019424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362324"/>
            <a:ext cx="100962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590924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"Alice"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3838574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"Bob"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54" y="4086225"/>
            <a:ext cx="49147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766422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468630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 Member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029200"/>
            <a:ext cx="5238619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555" y="515302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p : people)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55" y="5381624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p.name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": "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p.age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'\n'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" y="5619750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2082164"/>
            <a:ext cx="228594" cy="2171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91135" y="2057400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C++17: Structured Bindings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342" y="2457450"/>
            <a:ext cx="5238619" cy="1019174"/>
          </a:xfrm>
          <a:prstGeom prst="roundRect">
            <a:avLst>
              <a:gd name="adj" fmla="val 1495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8263" y="2619374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[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name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age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] : people)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263" y="2847974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name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": "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age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'\n'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263" y="3086100"/>
            <a:ext cx="49147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342" y="3667124"/>
            <a:ext cx="5238619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48263" y="3878579"/>
            <a:ext cx="228594" cy="20573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91155" y="3829050"/>
            <a:ext cx="30479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C++23: std::for_each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1155" y="4133849"/>
            <a:ext cx="30479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Native reflection for iterating struct members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4676775"/>
            <a:ext cx="523861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133308" y="48298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48307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8283" y="4752974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member extraction syntax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342" y="5191125"/>
            <a:ext cx="523861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33308" y="534415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534506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8283" y="5267324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and readable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4672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Iterators for User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8494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42875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Iterator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288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08924" y="20866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025463"/>
            <a:ext cx="190495" cy="140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21" y="194310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Prefix Increment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21" y="2171700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Iterator&amp; operator++()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590799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08924" y="28486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7762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2705099"/>
            <a:ext cx="8477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2933699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T&amp; operator*()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35280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408924" y="36106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3529852"/>
            <a:ext cx="190495" cy="1792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3921" y="3467100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21" y="3695699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bool operator!=(Iterator&amp;)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190999"/>
            <a:ext cx="5238619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54" y="4362450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Iterator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54" y="4572000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* ptr;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4791075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public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54" y="5010149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operator*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*ptr;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54" y="5219700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Iterator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operator++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 ++ptr;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*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this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54" y="5438774"/>
            <a:ext cx="4914777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operator!=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Iterator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other) {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ptr != other.ptr;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54" y="5876925"/>
            <a:ext cx="49147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86342" y="16363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91135" y="1600200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Implementation Strategy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200025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028533" y="22580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2196913"/>
            <a:ext cx="190495" cy="140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43531" y="2114550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Hold Pointer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531" y="234315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Iterator stores position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342" y="2762249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028533" y="302005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2958913"/>
            <a:ext cx="190495" cy="1400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43531" y="2876549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Return 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3531" y="310514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Dereference returns T&amp;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342" y="3524250"/>
            <a:ext cx="5238619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028533" y="378205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3720913"/>
            <a:ext cx="190495" cy="14007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43531" y="36385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Return *this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531" y="386714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Chain increment calls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342" y="4362450"/>
            <a:ext cx="5238619" cy="1724024"/>
          </a:xfrm>
          <a:prstGeom prst="roundRect">
            <a:avLst>
              <a:gd name="adj" fmla="val 88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48263" y="4579620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91155" y="4524374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1155" y="4867274"/>
            <a:ext cx="41432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std::iterator_traits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standard interface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1155" y="5143500"/>
            <a:ext cx="41432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Mark iterator category (e.g.,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std::input_iterator_tag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1155" y="5419725"/>
            <a:ext cx="41432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Support all InputIterator operations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91155" y="5686425"/>
            <a:ext cx="41432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Consider C++20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type safety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0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9909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Advanced Patterns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38224"/>
            <a:ext cx="3514637" cy="1095374"/>
          </a:xfrm>
          <a:prstGeom prst="roundRect">
            <a:avLst>
              <a:gd name="adj" fmla="val 1391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85086" y="1519871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336357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2516" y="1190625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2516" y="145732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begin()/end()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752599"/>
            <a:ext cx="31717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Quick integration with range-based for loops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3766" y="1038224"/>
            <a:ext cx="3514637" cy="1095374"/>
          </a:xfrm>
          <a:prstGeom prst="roundRect">
            <a:avLst>
              <a:gd name="adj" fmla="val 1391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3852119" y="1519871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1356360"/>
            <a:ext cx="228594" cy="1257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19549" y="1190625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Iterators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9549" y="145732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Complex 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261" y="1752599"/>
            <a:ext cx="31717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Implement iterator interface manually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324" y="1038224"/>
            <a:ext cx="3514637" cy="1095374"/>
          </a:xfrm>
          <a:prstGeom prst="roundRect">
            <a:avLst>
              <a:gd name="adj" fmla="val 1391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7528677" y="1519871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77018" y="1362075"/>
            <a:ext cx="228594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96107" y="1190625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Structured Bindings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6107" y="145732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C++17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819" y="1752599"/>
            <a:ext cx="31717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member access syntax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2324100"/>
            <a:ext cx="5352916" cy="1104900"/>
          </a:xfrm>
          <a:prstGeom prst="roundRect">
            <a:avLst>
              <a:gd name="adj" fmla="val 1379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80323" y="2810510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616517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52516" y="2476499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Enum Iteration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2516" y="2743200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Initializer lists / C++23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28" y="3038475"/>
            <a:ext cx="501002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{values}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or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std::for_each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045" y="2324100"/>
            <a:ext cx="5352916" cy="1104900"/>
          </a:xfrm>
          <a:prstGeom prst="roundRect">
            <a:avLst>
              <a:gd name="adj" fmla="val 1379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685635" y="2810510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2610802"/>
            <a:ext cx="228594" cy="1885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7828" y="247649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7828" y="2743200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C++20 library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540" y="3038475"/>
            <a:ext cx="50100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Views and algorithms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3619499"/>
            <a:ext cx="10858228" cy="781050"/>
          </a:xfrm>
          <a:prstGeom prst="roundRect">
            <a:avLst>
              <a:gd name="adj" fmla="val 19512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654" y="3781424"/>
            <a:ext cx="3438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Standard Containers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54" y="4010024"/>
            <a:ext cx="3438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Built-in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1390" y="3781424"/>
            <a:ext cx="3438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Custom Data Structures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1390" y="4010024"/>
            <a:ext cx="3438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 begin()/end()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4601" y="3781424"/>
            <a:ext cx="3438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Complex Traversal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4601" y="4010024"/>
            <a:ext cx="34384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 Iterators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4552949"/>
            <a:ext cx="10858228" cy="2076449"/>
          </a:xfrm>
          <a:prstGeom prst="roundRect">
            <a:avLst>
              <a:gd name="adj" fmla="val 733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" y="4769692"/>
            <a:ext cx="285742" cy="23326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28694" y="4714875"/>
            <a:ext cx="20668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362040" y="524981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609684" y="5172075"/>
            <a:ext cx="28098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Prefer standard containers when possible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5249811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86382" y="5172075"/>
            <a:ext cx="33241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Implement custom iterators only when necessary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362040" y="5687961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9684" y="5610224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Leverage C++17/20 features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5687961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86382" y="5610224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const auto&amp; by default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362040" y="6126111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609684" y="6048375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Consider ranges for composition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6126111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86382" y="6048375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Follow iterator best practices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