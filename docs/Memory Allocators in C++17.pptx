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6.png"/><Relationship Id="rId4" Type="http://schemas.openxmlformats.org/officeDocument/2006/relationships/image" Target="../media/image44.png"/><Relationship Id="rId5" Type="http://schemas.openxmlformats.org/officeDocument/2006/relationships/image" Target="../media/image15.png"/><Relationship Id="rId6" Type="http://schemas.openxmlformats.org/officeDocument/2006/relationships/image" Target="../media/image45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5.png"/><Relationship Id="rId4" Type="http://schemas.openxmlformats.org/officeDocument/2006/relationships/image" Target="../media/image4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3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44.png"/><Relationship Id="rId5" Type="http://schemas.openxmlformats.org/officeDocument/2006/relationships/image" Target="../media/image60.png"/><Relationship Id="rId6" Type="http://schemas.openxmlformats.org/officeDocument/2006/relationships/image" Target="../media/image9.png"/><Relationship Id="rId7" Type="http://schemas.openxmlformats.org/officeDocument/2006/relationships/image" Target="../media/image61.png"/><Relationship Id="rId8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48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38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5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8671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Allocators in C++17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04900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Allocators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0975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52896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62500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4421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5412" y="2057400"/>
            <a:ext cx="695307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3" y="2171700"/>
            <a:ext cx="37146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PMR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86376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35492"/>
            <a:ext cx="457188" cy="3489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71645" y="3752849"/>
            <a:ext cx="4952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070" y="4095749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Polymorphic Memory 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09231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369756"/>
            <a:ext cx="457188" cy="803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71965" y="3752849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0975" y="4095749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Allocation Strategies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04839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206917"/>
            <a:ext cx="457188" cy="4060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77078" y="3752849"/>
            <a:ext cx="187637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Scoped Allocators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028" y="4095749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Object Hierarchy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048250"/>
            <a:ext cx="10858228" cy="1514475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332029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286375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C++17 Memory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705475"/>
            <a:ext cx="988670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PMR (Polymorphic Memory Resources) provides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allocators,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performance, and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scoped allocators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object hierarchies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48646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Memory Allocators in C++17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Polymorphic Memory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2555"/>
            <a:ext cx="190495" cy="1708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 namespace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resources &amp; allocators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21473"/>
            <a:ext cx="190495" cy="1008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Single allocator for all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 Memory Pools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Fast allocation &amp; deallocation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Thread-Safe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Synchronized memory pools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5754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50495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C++17 PMR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943100"/>
            <a:ext cx="5848203" cy="1504950"/>
          </a:xfrm>
          <a:prstGeom prst="roundRect">
            <a:avLst>
              <a:gd name="adj" fmla="val 1012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990323" y="262953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154" y="2057400"/>
            <a:ext cx="55815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Before C++17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2497393"/>
            <a:ext cx="171445" cy="1106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76798" y="24003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Different allocators per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4917" y="2724150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efficient memory pools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4917" y="3047999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Object hierarchy memory overhead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524250"/>
            <a:ext cx="5848203" cy="1504950"/>
          </a:xfrm>
          <a:prstGeom prst="roundRect">
            <a:avLst>
              <a:gd name="adj" fmla="val 1012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4990323" y="4210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29154" y="3638550"/>
            <a:ext cx="55815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With C++17 PMR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29154" y="405918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76798" y="3981449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Polymorphic allocators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303" y="430530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pool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303" y="4629150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Thread-safe pool implementations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0292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5236845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1815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55244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PMR solves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object hierarchy memory problems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 allocators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 memory pools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909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std::allocator_traits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7880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438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std::allocator_traits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Allocator Meta-Programming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18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Allocator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Meta-programming for allocators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3074"/>
            <a:ext cx="190495" cy="614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Type Definitions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value_type, pointer,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7336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Allocator-Aware Generic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7336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Write code independent of allocator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Uniform allocator interface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706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00200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Type Definitions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38349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09800"/>
            <a:ext cx="25621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allocator information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514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62249"/>
            <a:ext cx="552436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value_type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std::allocator_traits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value_type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257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std::allocator_traits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790949"/>
            <a:ext cx="5848203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962399"/>
            <a:ext cx="365750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if allocator supports rebinding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2671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is_rebinding_alloc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5148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std::allocator_traits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is_always_equal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9339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141594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0863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4292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std::allocator_traits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information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allocator-aware generic code, allowing you to write code that works with any allocator type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528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std::scoped_allocator_adaptor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964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Scoped Allocator Adaptor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61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Object Hierarchy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Share memory within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3074"/>
            <a:ext cx="190495" cy="614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Within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Deallocates with original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0355"/>
            <a:ext cx="190495" cy="170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Wrap any allocator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0954"/>
            <a:ext cx="190495" cy="1736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Safe for Containers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 object support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5754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50495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Scoped Allocator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943100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124075"/>
            <a:ext cx="379085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Adapt allocator for object hierarchy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ScopedAlloc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std::scoped_allocator_adaptor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43300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724274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Usage in container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086225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ScopedIntAlloc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std::scoped_allocator_adaptor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772025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989194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9339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27685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scoped_allocator_adaptor enables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object hierarchy support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by sharing memory within scope while deallocating with original allocator - essential for nested containers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9914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std::pmr (Polymorphic Memory Resources)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 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Polymorphic Memory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Swappable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Allocator changed without recompiling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22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Single allocator for all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7358"/>
            <a:ext cx="190495" cy="156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Object Hierarchy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Single allocator for nested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664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Configurable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Perfect for libraries and plugins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896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19174"/>
            <a:ext cx="28479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 Memory Resource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57325"/>
            <a:ext cx="5848203" cy="1981199"/>
          </a:xfrm>
          <a:prstGeom prst="roundRect">
            <a:avLst>
              <a:gd name="adj" fmla="val 769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38299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Base memory_resource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52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193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virtual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~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virtual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virtual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543300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3724274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Memory resource hierarchy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048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314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bytes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572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838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257800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4749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4197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5762625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std::pmr::memory_resource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polymorphic allocator interface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swap memory strategies at runtime, support object hierarchies with single allocator, perfect for libraries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41988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std::pmr::memory_resource - Base class for PMR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memory_resource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Base Interface for PMR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18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Abstract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Define allocation/deallocation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48355"/>
            <a:ext cx="190495" cy="1708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Polymorphic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Inherit for custom allocators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Virtual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allocate(), deallocate()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Swappable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Change memory strategy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802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09724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memory_resource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47874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09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std::pmr::memory_resource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deallocate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43300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724274"/>
            <a:ext cx="48576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All PMR allocators inherit from memory_resource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038599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848225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5029200"/>
            <a:ext cx="42766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Memory resource can be swapped at 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53435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6483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45768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std::pmr::polymorphic_allocator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Polymorphic Allocator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Type-Erased PMR Allocator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821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5716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Same allocator for different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81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Swappable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30764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Change memory strategy without recompiling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memory_resource-Based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8574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Uses PMR memory resource for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45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Container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4669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std::vector, std::map, etc.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515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81074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Polymorphic Allocator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19225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00200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Define polymorphic allocator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240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PolymorphicAlloc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181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47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std::pmr::memory_resource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*&gt;;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99084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171825"/>
            <a:ext cx="388610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allocator with memory resource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4861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std::pmr::memory_resource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8290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PolymorphicAlloc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371975"/>
            <a:ext cx="5848203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552949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in standard container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867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PolymorphicAlloc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95899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13069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4578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00725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Polymorphic allocator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type-erased allocation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using memory_resource - swap memory strategies at runtime, perfect for libraries and plugins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9530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std::pmr::unsynchronized_pool_resource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Efficient Same-Sized Allocations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9363"/>
            <a:ext cx="190495" cy="137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Fast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Minimal overhead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Reduced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Pre-allocated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Same-Sized Objects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Ideal for vectors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Unsynchronized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Not thread-safe by default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706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00125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38274"/>
            <a:ext cx="5848203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581149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memory pool with block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914525"/>
            <a:ext cx="36956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std::pmr::unsynchronized_pool_resource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1621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64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upstream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657475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2800350"/>
            <a:ext cx="39813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polymorphic allocator with pool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31242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339089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6480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152899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4295774"/>
            <a:ext cx="39813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in vector for frequent allocations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6196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48768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51435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5244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41669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6864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60293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unsynchronized_pool_resource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fast allocation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minimal fragmentation - perfect for same-sized objects and frequent allocations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5339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std::pmr::synchronized_pool_resource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Thread-Safe Memory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Synchronized Pool Resource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821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Mutex protected 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65163"/>
            <a:ext cx="190495" cy="137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Still 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Fast pool-based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vs Unsynchronized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Adds thread safety with overhead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45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Same Pool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polymorphic_allocator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8420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771525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Thread-Safe Pool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20967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390650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synchronized pool 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704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std::pmr::synchronized_pool_resource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 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1024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066924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Thread-safe, mutex-protected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581275"/>
            <a:ext cx="5848203" cy="1533525"/>
          </a:xfrm>
          <a:prstGeom prst="roundRect">
            <a:avLst>
              <a:gd name="adj" fmla="val 993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2762249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polymorphic allocator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086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352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686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229100"/>
            <a:ext cx="5848203" cy="1533525"/>
          </a:xfrm>
          <a:prstGeom prst="roundRect">
            <a:avLst>
              <a:gd name="adj" fmla="val 993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410074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in thread-safe container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733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991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334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7530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970269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915025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Comparison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6257925"/>
            <a:ext cx="3733706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unsynchronized_pool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: Fastest but not thread-safe</a:t>
            </a:r>
            <a:r>
              <a:rPr sz="1104"/>
              <a:t>
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synchronized_pool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: Thread-safe with minimal overhead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36254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std::pmr::monotonic_buffer_resource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Monotonic Memory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Monotonic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9363"/>
            <a:ext cx="190495" cy="137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Very Fast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Sequential growth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Deallocation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deallocation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Buffer Sequential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Grows from buffer sequentially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4255"/>
            <a:ext cx="190495" cy="1708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Temporary Allocations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Ideal for temporary objects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610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90599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Monotonic Buffer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28750"/>
            <a:ext cx="5848203" cy="1904999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09724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monotonic buffer 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716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char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buffer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[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4096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];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3145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std::pmr::monotonic_buffer_resource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571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buffer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sizeof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buffer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914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Fast, no deallocation overhead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448049"/>
            <a:ext cx="5848203" cy="1828800"/>
          </a:xfrm>
          <a:prstGeom prst="roundRect">
            <a:avLst>
              <a:gd name="adj" fmla="val 8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638550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with polymorphic allocator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909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MonotonicAlloc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2576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514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resource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857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All allocations from resource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86375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0354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448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79120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monotonic_buffer_resource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extremely fast allocation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no deallocation overhead - perfect for temporary allocations where entire buffer is discarded at once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7433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Memory Resources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PMR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Creating Own Memory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2555"/>
            <a:ext cx="190495" cy="1708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Inherit from memory_resource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Override allocate/deallocate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62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Allocation Strategies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pools, arena allocators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2572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Memory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Specialized allocation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Configurable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Swap strategies at runtime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3752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304800"/>
            <a:ext cx="30574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Memory Resource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742950"/>
            <a:ext cx="5848203" cy="1924049"/>
          </a:xfrm>
          <a:prstGeom prst="roundRect">
            <a:avLst>
              <a:gd name="adj" fmla="val 792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91440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Inherit from memory_resource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257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custom_resource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std::pmr::memory_resource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504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bytes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alignment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752599"/>
            <a:ext cx="552436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deallocate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bytes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alignment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override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247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781300"/>
            <a:ext cx="5848203" cy="1504950"/>
          </a:xfrm>
          <a:prstGeom prst="roundRect">
            <a:avLst>
              <a:gd name="adj" fmla="val 1012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2952750"/>
            <a:ext cx="447663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custom resource with polymorphic allocator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2956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custom_resource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new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custom_resource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6194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38671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400550"/>
            <a:ext cx="5848203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8679" y="4572000"/>
            <a:ext cx="32955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Swap memory strategies at runtime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9149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std::pmr::memory_resource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current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257800"/>
            <a:ext cx="33812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Later change to different resource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562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current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new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alternative_resource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981699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1893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61341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647700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Custom memory resources allow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specialized allocation strategies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runtime swappable interfaces - perfect for memory pools, arena allocators, and custom allocation patterns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Allocators in Standard Containers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26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7717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Allocators in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7717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Standard Container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94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Allocators as container args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62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Seamless PMR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Allocator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 objects use same allocator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4669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allocator requirements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944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2394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Container Allocator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62100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43075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PMR allocator with 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66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std::pmr::polymorphic_allocator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00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pool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All allocations use pool resource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286125"/>
            <a:ext cx="5848203" cy="1866899"/>
          </a:xfrm>
          <a:prstGeom prst="roundRect">
            <a:avLst>
              <a:gd name="adj" fmla="val 816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467100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scoped allocator with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78142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ScopedAlloc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std::scoped_allocator_adaptor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std::allocator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391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ScopedAlloc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7243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Allocator propagates to nested values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5153024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370194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81570" y="53149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570" y="565785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Standard containers support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allocators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as template parameters. PMR allocators integrate seamlessly and propagate to nested objects automatically.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100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 Usage Patterns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Pool vs Regular Allocators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Memory Allocation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0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Pool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9050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Fast, reduced fragmentation, cache locality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2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Same-Sized 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Vectors, small structs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Frequent Allocations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Temporary objects, high-frequency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3600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NOT to Use Pools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3600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Varying sizes, individual deallocation, scarce memory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38212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76299"/>
            <a:ext cx="32479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Pool vs Regular Allocator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14450"/>
            <a:ext cx="2886002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1492966"/>
            <a:ext cx="171445" cy="1382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48223" y="1447800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00579" y="1857375"/>
            <a:ext cx="152396" cy="95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29174" y="1771650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Fast allocation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00579" y="2143125"/>
            <a:ext cx="152396" cy="95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29174" y="2057400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Reduced fragmentation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00579" y="2428875"/>
            <a:ext cx="152396" cy="952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29174" y="234315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cache locality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38959" y="1314450"/>
            <a:ext cx="2886002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762780" y="1492966"/>
            <a:ext cx="171445" cy="13826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10424" y="1447800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Regular Allocator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62780" y="1857375"/>
            <a:ext cx="152396" cy="952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91375" y="1771650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Flexible sizes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62780" y="2143125"/>
            <a:ext cx="152396" cy="952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91375" y="2057400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Individual deallocation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62780" y="2428875"/>
            <a:ext cx="152396" cy="9524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91375" y="2343150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fixed block size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2838450"/>
            <a:ext cx="5848203" cy="1352549"/>
          </a:xfrm>
          <a:prstGeom prst="roundRect">
            <a:avLst>
              <a:gd name="adj" fmla="val 1126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066524" y="3448684"/>
            <a:ext cx="1352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29154" y="2952750"/>
            <a:ext cx="55815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Memory Pool When: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29154" y="3350078"/>
            <a:ext cx="152396" cy="816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57748" y="3257550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Allocating many same-sized objects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29154" y="3635828"/>
            <a:ext cx="152396" cy="8164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057748" y="3543300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Frequent allocations/deallocations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29154" y="3921578"/>
            <a:ext cx="152396" cy="816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057748" y="3829050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Object lifetime is predictable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76758" y="4305300"/>
            <a:ext cx="5848203" cy="1352549"/>
          </a:xfrm>
          <a:prstGeom prst="roundRect">
            <a:avLst>
              <a:gd name="adj" fmla="val 1126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5066524" y="4915534"/>
            <a:ext cx="1352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29154" y="4419600"/>
            <a:ext cx="55815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Memory Pool When: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29154" y="4816928"/>
            <a:ext cx="152396" cy="816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57748" y="4724399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Objects have widely varying sizes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29154" y="5102678"/>
            <a:ext cx="152396" cy="8164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057748" y="5010149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Need individual deallocation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29154" y="5388428"/>
            <a:ext cx="152396" cy="8164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57748" y="5295899"/>
            <a:ext cx="18097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is constrained/scarce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56578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838679" y="5865495"/>
            <a:ext cx="228594" cy="19430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181570" y="58102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Pattern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1570" y="61531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same-sized, frequently allocated objects. 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regular allocators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varying sizes or individual deallocation needs. 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147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Considerations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55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When to Use Memory Pools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94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10-100x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 same-sized 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62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24859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24859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Polymorphic adds pointer indirection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Cache Locality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9335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Pools improve cache locality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Synchronized vs unsynchronized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5444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09674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Benchmarks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47825"/>
            <a:ext cx="5848203" cy="1724024"/>
          </a:xfrm>
          <a:prstGeom prst="roundRect">
            <a:avLst>
              <a:gd name="adj" fmla="val 88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828800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Memory pool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190749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Regular Allocator: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8959" y="2190749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~100 cycles/allocation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524125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Memory Pool: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8959" y="2524125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~10 cycles/allocation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943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10x faster for pools!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486150"/>
            <a:ext cx="5848203" cy="1828800"/>
          </a:xfrm>
          <a:prstGeom prst="roundRect">
            <a:avLst>
              <a:gd name="adj" fmla="val 8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3667124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PMR overhead vs flexibility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0195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PMR Overhead: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286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~2-4% slower than regular allocator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6291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PMR Benefit: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8863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Type-erased, runtime swappable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3149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3211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4768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Trade-off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581977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Memory pools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10-100x speed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same-sized allocations. PMR adds flexibility with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minimal overhead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(~2-4%) for runtime configurability.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979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Allocator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Choose Right Allocator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Match allocator to 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22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PMR for Type Erasure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Polymorphic allocation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Pools for Same-Sized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Vector/small struct allocations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Measure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Profile allocation patterns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54931"/>
            <a:ext cx="228594" cy="1857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00150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1550" y="1466849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Memory Management Mistakes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2000250"/>
            <a:ext cx="5848203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418949" y="22580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2153210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57748" y="2076449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Forgetting to Deallocate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7748" y="234315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leaks in custom resources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724150"/>
            <a:ext cx="5848203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418949" y="29819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287150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57748" y="2800350"/>
            <a:ext cx="24097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Using Wrong Allocator 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7748" y="3067050"/>
            <a:ext cx="24097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Mismatched allocator requirements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3448049"/>
            <a:ext cx="5848203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418949" y="37058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3623422"/>
            <a:ext cx="190495" cy="1064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57748" y="3524250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 Checking Compatibility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7748" y="3790949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Resource allocator mismatch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4171950"/>
            <a:ext cx="5848203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418949" y="44297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91055" y="4324910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57748" y="4248150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Leaks with PMR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7748" y="451485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to release resources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76758" y="4819650"/>
            <a:ext cx="5848203" cy="165735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38679" y="5027294"/>
            <a:ext cx="228594" cy="19430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181570" y="49720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Recommendations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1570" y="5314950"/>
            <a:ext cx="5181470" cy="990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Choose the right allocator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your use case. 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PMR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you need type erasure or runtime configurability. 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pools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same-sized frequent allocations. Always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measure and profile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to verify performance benefits.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07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25730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Allocators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523999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574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1723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170470"/>
            <a:ext cx="171445" cy="1548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095499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std::allocator_traits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4574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2572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2576051"/>
            <a:ext cx="171445" cy="1437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49555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std::scoped_allocator_adaptor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8575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2972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2978866"/>
            <a:ext cx="171445" cy="1382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2895600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std::pmr namespace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2575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372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37891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295650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std::pmr::memory_resource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6576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3772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380108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3695699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std::pmr::polymorphic_allocator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0576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172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179016"/>
            <a:ext cx="171445" cy="13826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095749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unsynchronized_pool_resource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4577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45726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4568005"/>
            <a:ext cx="171445" cy="16038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4495799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synchronized_pool_resource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4857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49726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4998474"/>
            <a:ext cx="171445" cy="995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4895849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monotonic_buffer_resource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257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51798" y="53727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2931" y="537363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0575" y="5295899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 memory resources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56578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1798" y="57727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2931" y="5775068"/>
            <a:ext cx="171445" cy="14656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575" y="5695949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Allocators in containers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60579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51798" y="61728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42931" y="6186180"/>
            <a:ext cx="171445" cy="12443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0575" y="6095999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Performance &amp; best practices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676758" y="1504473"/>
            <a:ext cx="228594" cy="1914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981550" y="1466849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20192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61823" y="21342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52956" y="213513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00599" y="2057400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memory management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24193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61823" y="25342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52956" y="2562839"/>
            <a:ext cx="171445" cy="940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00599" y="2457450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Type-erased polymorphic allocators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28193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61823" y="29343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52956" y="2940766"/>
            <a:ext cx="171445" cy="1382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00599" y="2857500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Memory pools for performance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32194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61823" y="33343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52956" y="3335286"/>
            <a:ext cx="171445" cy="14932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00599" y="3257550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Runtime configurable strategies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36194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61823" y="37344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52956" y="3747780"/>
            <a:ext cx="171445" cy="12443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00599" y="3657600"/>
            <a:ext cx="20859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10-100x performance improvement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40195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561823" y="41344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52956" y="4136768"/>
            <a:ext cx="171445" cy="14656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00599" y="4057650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container compatibility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6758" y="441960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5561823" y="4534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52956" y="4529905"/>
            <a:ext cx="171445" cy="16038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000599" y="4457700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modern C++ features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6758" y="4781549"/>
            <a:ext cx="5848203" cy="1438274"/>
          </a:xfrm>
          <a:prstGeom prst="roundRect">
            <a:avLst>
              <a:gd name="adj" fmla="val 1059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 rot="16200000">
            <a:off x="5023661" y="5434646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867253" y="4989194"/>
            <a:ext cx="228594" cy="19430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210144" y="4933950"/>
            <a:ext cx="516242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0144" y="5314950"/>
            <a:ext cx="5162420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C++17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PMR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memory pools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efficient, type-safe, configurable memory management with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10-100x performance improvement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same-sized allocations!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