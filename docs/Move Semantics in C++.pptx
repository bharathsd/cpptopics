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9.png"/><Relationship Id="rId1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3.png"/><Relationship Id="rId10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9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9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6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9.png"/><Relationship Id="rId8" Type="http://schemas.openxmlformats.org/officeDocument/2006/relationships/image" Target="../media/image6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18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13.png"/><Relationship Id="rId11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24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01944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Semantics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19174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Semantics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19389" y="1971675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81310" y="2085975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915" y="1971675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2836" y="2085975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3826" y="1971675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5747" y="2085975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C++14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5352" y="1971675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7273" y="2085975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8739" y="1971675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659" y="2085975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0264" y="1971675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2185" y="2085975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3176" y="1971675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5097" y="2085975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C++20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2943225"/>
            <a:ext cx="3467013" cy="1581149"/>
          </a:xfrm>
          <a:prstGeom prst="roundRect">
            <a:avLst>
              <a:gd name="adj" fmla="val 9638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71645" y="3252035"/>
            <a:ext cx="457188" cy="3158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81150" y="3752849"/>
            <a:ext cx="838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3961" y="4057650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 unnecessary copies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943225"/>
            <a:ext cx="3467013" cy="1581149"/>
          </a:xfrm>
          <a:prstGeom prst="roundRect">
            <a:avLst>
              <a:gd name="adj" fmla="val 9638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67253" y="3271586"/>
            <a:ext cx="457188" cy="27672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05292" y="3752849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Resource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0995" y="405765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ownership efficiently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7948" y="2943225"/>
            <a:ext cx="3467013" cy="1581149"/>
          </a:xfrm>
          <a:prstGeom prst="roundRect">
            <a:avLst>
              <a:gd name="adj" fmla="val 9638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62860" y="3289634"/>
            <a:ext cx="457188" cy="24063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29494" y="3752849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9474" y="405765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Zero-cost abstractions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829175"/>
            <a:ext cx="10858228" cy="18288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112954"/>
            <a:ext cx="342891" cy="28969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00139" y="5067299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0139" y="5486400"/>
            <a:ext cx="9886702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Move semantics enable efficient resource transfer in C++ by allowing objects to "move" resources from one object to another instead of copying them. Introduced in C++11, it's a fundamental feature for writing performant, modern C++ code.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46721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Move Semantics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24037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47825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What is Move Semantics?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14525"/>
            <a:ext cx="2200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C++11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447924"/>
            <a:ext cx="4629034" cy="942975"/>
          </a:xfrm>
          <a:prstGeom prst="roundRect">
            <a:avLst>
              <a:gd name="adj" fmla="val 1616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609850"/>
            <a:ext cx="430519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Transfer ownership of resources from one object to another instead of copying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5814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51774" y="38963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79463"/>
            <a:ext cx="190495" cy="137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3695699"/>
            <a:ext cx="22097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Avoid Deep Copies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21" y="4000500"/>
            <a:ext cx="22097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expensive memory allocation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4196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51774" y="47345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610660"/>
            <a:ext cx="190495" cy="1512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21" y="4533900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4838699"/>
            <a:ext cx="2238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memory ownership directly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2578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51774" y="55727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5471272"/>
            <a:ext cx="190495" cy="106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537210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21" y="56769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Especially for large objects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2004059"/>
            <a:ext cx="228594" cy="12572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1550" y="1933574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Copy vs Move Example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6758" y="2333624"/>
            <a:ext cx="5848203" cy="2038349"/>
          </a:xfrm>
          <a:prstGeom prst="roundRect">
            <a:avLst>
              <a:gd name="adj" fmla="val 747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8679" y="24955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str1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"Hello, World!"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838450"/>
            <a:ext cx="27431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Copy - allocates new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0670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str2 = str1;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409950"/>
            <a:ext cx="26478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Move - transfers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36385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str3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std::move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(str1);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3981449"/>
            <a:ext cx="411469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str1 is now in valid but unspecified state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4524374"/>
            <a:ext cx="5848203" cy="1228725"/>
          </a:xfrm>
          <a:prstGeom prst="roundRect">
            <a:avLst>
              <a:gd name="adj" fmla="val 1240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4741545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81570" y="4686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570" y="5029200"/>
            <a:ext cx="5181470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Move semantics enables efficient resource transfer by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stealing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resources from source objects rather than copying them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22889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Lvalues vs Rvalues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3366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57450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Fundamental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724150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Memory Model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329267"/>
            <a:ext cx="190495" cy="123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26" y="32575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Lvalue (Left Value)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6004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513699" y="37534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54386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674" y="3676649"/>
            <a:ext cx="8096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Has a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1148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13699" y="42678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268736"/>
            <a:ext cx="171445" cy="149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8674" y="4190999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Persistent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6291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13699" y="47821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794147"/>
            <a:ext cx="171445" cy="1272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674" y="4705350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Appears on left of assignment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448360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43451" y="1390650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Rvalue (Right Value)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6758" y="17335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23724" y="1886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1887486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38699" y="1809749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Temporary object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2478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23724" y="24009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91055" y="2412897"/>
            <a:ext cx="171445" cy="1272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8699" y="2324100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Appears on right of assignment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27622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23724" y="29152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91055" y="2927247"/>
            <a:ext cx="171445" cy="1272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38699" y="2838450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Result of expression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676758" y="3442334"/>
            <a:ext cx="228594" cy="1257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81550" y="33718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Examples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733799"/>
            <a:ext cx="5848203" cy="1314450"/>
          </a:xfrm>
          <a:prstGeom prst="roundRect">
            <a:avLst>
              <a:gd name="adj" fmla="val 115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0579" y="38480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40957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x is lvalue, 5 is rvalue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0579" y="4419600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0579" y="466724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 is lvalue, "hello" is rvalue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200650"/>
            <a:ext cx="5848203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38679" y="5408295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3530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Semantics Foundation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5657850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semantics relies on lvalue/rvalue distinction to efficiently transfer resources without copying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39071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Copy vs Move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6791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228850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Copy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95550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Traditional Deep Copy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2895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75598" y="32200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22001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143250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Allocates new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65760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75598" y="38487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834652"/>
            <a:ext cx="190495" cy="1792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3771900"/>
            <a:ext cx="21906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Copies all elements from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75598" y="44773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717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4400550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Source remains unchanged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91490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475598" y="51060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112963"/>
            <a:ext cx="190495" cy="1372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5029200"/>
            <a:ext cx="12001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Complexity: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O(n)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00212"/>
            <a:ext cx="228594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152399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Operation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1550" y="1790700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Resource Transfer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6758" y="2286000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8679" y="24574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a(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1000000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800350"/>
            <a:ext cx="338129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Copy - O(n) - allocates and copies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0289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b = a;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371850"/>
            <a:ext cx="329556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Move - O(1) - transfers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36004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c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std::move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(a);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41528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523724" y="43059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4368589"/>
            <a:ext cx="171445" cy="258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38699" y="4229100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Transfers resource ownership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46672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523724" y="48202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91055" y="4823951"/>
            <a:ext cx="171445" cy="1437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38699" y="4743450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Source in valid but unspecified state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1815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523724" y="53346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91055" y="5336918"/>
            <a:ext cx="171445" cy="14656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38699" y="525780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Much faster than copy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5619750"/>
            <a:ext cx="5848203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00579" y="5799604"/>
            <a:ext cx="190495" cy="17369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05372" y="5772150"/>
            <a:ext cx="31336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is O(1)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types with move constructors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18167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Constructors and Move Assignment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45506"/>
            <a:ext cx="228594" cy="185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105024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Constructor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466975"/>
            <a:ext cx="4629034" cy="476249"/>
          </a:xfrm>
          <a:prstGeom prst="roundRect">
            <a:avLst>
              <a:gd name="adj" fmla="val 32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555" y="2590799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&amp;&amp; other) 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158966"/>
            <a:ext cx="228594" cy="1971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1525" y="3124200"/>
            <a:ext cx="23430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Assignment Operator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486150"/>
            <a:ext cx="4629034" cy="476249"/>
          </a:xfrm>
          <a:prstGeom prst="roundRect">
            <a:avLst>
              <a:gd name="adj" fmla="val 32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555" y="3600450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operator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=(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&amp;&amp; other) 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1148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513699" y="42678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265970"/>
            <a:ext cx="171445" cy="1548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8674" y="4190999"/>
            <a:ext cx="244786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strong guarantee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6291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513699" y="47821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794147"/>
            <a:ext cx="171445" cy="1272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8674" y="470535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Rule of Five applies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51435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513699" y="5296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291905"/>
            <a:ext cx="171445" cy="1603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28674" y="5219700"/>
            <a:ext cx="27717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Generated automatically for simple types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413384"/>
            <a:ext cx="228594" cy="12572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1550" y="34290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Implementation Example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6758" y="742950"/>
            <a:ext cx="5848203" cy="4286250"/>
          </a:xfrm>
          <a:prstGeom prst="roundRect">
            <a:avLst>
              <a:gd name="adj" fmla="val 355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8679" y="9144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11620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char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data;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14096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16573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&amp;&amp; other)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049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data = other.data;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1526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other.data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nullptr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4003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6479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operator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=(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&amp;&amp; other)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28956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this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!= &amp;other)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1432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delete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[] data;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3908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data = other.data;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6385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other.data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nullptr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38862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1338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*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this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3814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46291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181599"/>
            <a:ext cx="5848203" cy="2152650"/>
          </a:xfrm>
          <a:prstGeom prst="roundRect">
            <a:avLst>
              <a:gd name="adj" fmla="val 707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408295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81570" y="5353049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Implementation Tips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5887986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24421" y="5810249"/>
            <a:ext cx="18382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Always mark as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noexcept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6249936"/>
            <a:ext cx="171445" cy="14932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124421" y="6172200"/>
            <a:ext cx="175255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std::swap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swap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6611886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124421" y="6534150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Follow Rule of Five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6973836"/>
            <a:ext cx="171445" cy="14932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124421" y="6896099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Leave source in valid state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7621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The Rule of Five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9363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2288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Rule of Five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955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C++11 Extension of Rule of Three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28950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23223" y="3172460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030" y="3105149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75" y="3124200"/>
            <a:ext cx="7143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Destructor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524250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23223" y="3667760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030" y="3600450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75" y="3619499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Copy Constructor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019549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23223" y="4163059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030" y="4095749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75" y="41148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Copy Assignment Operator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514850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23223" y="4658360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030" y="4591050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75" y="461009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Constructor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010149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23223" y="5153659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030" y="5086350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575" y="5105400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Assignment Operator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76758" y="14801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409699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Class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809749"/>
            <a:ext cx="5848203" cy="2305049"/>
          </a:xfrm>
          <a:prstGeom prst="roundRect">
            <a:avLst>
              <a:gd name="adj" fmla="val 661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9811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MyClass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2288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4764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~MyClass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7241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MyClass&amp;);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9718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MyClass&amp;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operator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=(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MyClass&amp;);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2194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(MyClass&amp;&amp;)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4671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MyClass&amp;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operator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=(MyClass&amp;&amp;)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7147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267199"/>
            <a:ext cx="5848203" cy="1285875"/>
          </a:xfrm>
          <a:prstGeom prst="roundRect">
            <a:avLst>
              <a:gd name="adj" fmla="val 11851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38679" y="449389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4438649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4743450"/>
            <a:ext cx="21144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If you define one, define all five!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38679" y="5176557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05372" y="5143500"/>
            <a:ext cx="51338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Modern compilers: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Can generate move ops using defaulted copy operations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5562600"/>
            <a:ext cx="5848203" cy="714375"/>
          </a:xfrm>
          <a:prstGeom prst="roundRect">
            <a:avLst>
              <a:gd name="adj" fmla="val 21333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00579" y="5828179"/>
            <a:ext cx="190495" cy="17369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67273" y="5676900"/>
            <a:ext cx="5333866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Always mark move functions as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noexcept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strong exception safety guarantee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169540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std::move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78606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60985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What is std::move?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876549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Rvalue Reference 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4099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37249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60101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524250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Casts to Rvalue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829050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Enables move semantics for object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2862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46012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474508"/>
            <a:ext cx="190495" cy="1568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4400550"/>
            <a:ext cx="27907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Doesn't Actually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4705350"/>
            <a:ext cx="27907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Just casts - move happens in constructor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1956435"/>
            <a:ext cx="228594" cy="1257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81550" y="1885950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Usage Example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6758" y="2286000"/>
            <a:ext cx="5848203" cy="1466849"/>
          </a:xfrm>
          <a:prstGeom prst="roundRect">
            <a:avLst>
              <a:gd name="adj" fmla="val 1038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8679" y="24574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str1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"Hello, World!"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8679" y="2800350"/>
            <a:ext cx="192400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Efficient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8679" y="30289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str2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std::move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(str1);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8679" y="3371850"/>
            <a:ext cx="411469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str1 is now in valid but unspecified state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396049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1550" y="3924299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Mistakes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6758" y="43243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523724" y="44773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4497643"/>
            <a:ext cx="171445" cy="1106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38699" y="4400550"/>
            <a:ext cx="25335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Using std::move when copy is needed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48386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523724" y="49917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5011993"/>
            <a:ext cx="171445" cy="1106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8699" y="4914900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Using on const objects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53530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523724" y="55060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5526343"/>
            <a:ext cx="171445" cy="1106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38699" y="542925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doesn't support move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5907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RVO and NRVO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818923"/>
            <a:ext cx="228594" cy="1914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667000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933699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Return Value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76599"/>
            <a:ext cx="4629034" cy="457200"/>
          </a:xfrm>
          <a:prstGeom prst="roundRect">
            <a:avLst>
              <a:gd name="adj" fmla="val 3333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04173" y="3439159"/>
            <a:ext cx="457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29" y="3390899"/>
            <a:ext cx="43623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Eliminates copy when returning prvalue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069079"/>
            <a:ext cx="228594" cy="2057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1525" y="3924299"/>
            <a:ext cx="22954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NRVO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25" y="4190999"/>
            <a:ext cx="22954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Named Return Value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533900"/>
            <a:ext cx="4629034" cy="457200"/>
          </a:xfrm>
          <a:prstGeom prst="roundRect">
            <a:avLst>
              <a:gd name="adj" fmla="val 3333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04173" y="4696460"/>
            <a:ext cx="457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29" y="4648200"/>
            <a:ext cx="43623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Eliminates copy when returning named local variable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1289797"/>
            <a:ext cx="190495" cy="1064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451" y="1209674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RVO Example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76758" y="1552574"/>
            <a:ext cx="5848203" cy="1181099"/>
          </a:xfrm>
          <a:prstGeom prst="roundRect">
            <a:avLst>
              <a:gd name="adj" fmla="val 129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0579" y="1676400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createString()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0579" y="1904999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9174" y="216217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RVO - no 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0579" y="2371725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2918572"/>
            <a:ext cx="190495" cy="10645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451" y="2838450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NRVO Example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3181350"/>
            <a:ext cx="5848203" cy="1409699"/>
          </a:xfrm>
          <a:prstGeom prst="roundRect">
            <a:avLst>
              <a:gd name="adj" fmla="val 108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0579" y="3305174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createNamed()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0579" y="3543300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MyString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s(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0579" y="3771900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9174" y="4019549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NRVO - no copy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0579" y="4238624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4705350"/>
            <a:ext cx="5848203" cy="1752599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38679" y="4922520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1570" y="4867274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Compiler Optimizations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364111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86322" y="5286375"/>
            <a:ext cx="31907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away copies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even without std::move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726061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86322" y="5648325"/>
            <a:ext cx="2600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Mandatory in C++17 for specific cases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6088011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86322" y="6010274"/>
            <a:ext cx="22764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Disabled in debug builds (usually)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2765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Perfect Forwarding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269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362199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Perfect Forwarding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628900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Preserve Value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1242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2772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289197"/>
            <a:ext cx="171445" cy="127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674" y="3200400"/>
            <a:ext cx="176208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Universal Reference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T&amp;&amp;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6385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791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811843"/>
            <a:ext cx="171445" cy="1106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674" y="3714750"/>
            <a:ext cx="189542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std::forward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Casts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1528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3059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326193"/>
            <a:ext cx="171445" cy="1106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8674" y="4229100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Preserves L/Rvalue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591050"/>
            <a:ext cx="4629034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90555" y="47765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5347" y="4724399"/>
            <a:ext cx="4076598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Universal references can be lvalues OR rvalues depending on template argument deduction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34683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1276350"/>
            <a:ext cx="24859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Perfect Forwarding Template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1676400"/>
            <a:ext cx="5848203" cy="1562100"/>
          </a:xfrm>
          <a:prstGeom prst="roundRect">
            <a:avLst>
              <a:gd name="adj" fmla="val 975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1838324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2085975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wrapper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(T&amp;&amp; arg)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3471" y="2352675"/>
            <a:ext cx="24669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Preserves value 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581275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target_func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std::forward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(arg));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2828925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76758" y="3433202"/>
            <a:ext cx="190495" cy="18209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451" y="3390899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Use Cases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7337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523724" y="38868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91055" y="3891884"/>
            <a:ext cx="171445" cy="14103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38699" y="3809999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Generic wrapper functions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42481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523724" y="44011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91055" y="4402086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38699" y="4324349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Template constructors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47625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523724" y="4915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791055" y="4916436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38699" y="4838699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Factory functions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5353049"/>
            <a:ext cx="5848203" cy="1057275"/>
          </a:xfrm>
          <a:prstGeom prst="roundRect">
            <a:avLst>
              <a:gd name="adj" fmla="val 14414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00579" y="5528982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67273" y="5495924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0579" y="5819775"/>
            <a:ext cx="5600559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Always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std::forward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when you have a universal reference argument to preserve its value category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910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Move Semantics in Standard Library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793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228850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STL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95550"/>
            <a:ext cx="18859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Move-Optimized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2895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75598" y="32200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227013"/>
            <a:ext cx="190495" cy="137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143250"/>
            <a:ext cx="24192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Containers use moves for efficiency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65760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75598" y="38487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862667"/>
            <a:ext cx="190495" cy="123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3771900"/>
            <a:ext cx="22764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Moves over copies when 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75598" y="44773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61902"/>
            <a:ext cx="190495" cy="182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4400550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std::move enables efficient transfer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91490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475598" y="51060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111563"/>
            <a:ext cx="190495" cy="1400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5029200"/>
            <a:ext cx="21621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vector, map, set, etc.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956435"/>
            <a:ext cx="228594" cy="125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18859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Examples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2286000"/>
            <a:ext cx="5848203" cy="1962149"/>
          </a:xfrm>
          <a:prstGeom prst="roundRect">
            <a:avLst>
              <a:gd name="adj" fmla="val 776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679" y="24384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vec;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2781300"/>
            <a:ext cx="25621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Move inserted efficiently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30099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vec.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push_back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352800"/>
            <a:ext cx="238119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Move used for insertion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5814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temp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"world"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38290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vec.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insert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(vec.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std::move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(temp));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4400550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642484"/>
            <a:ext cx="228594" cy="12572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81570" y="45529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Real-World Usage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570" y="4895849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Standard library containers automatically optimize moves over copies when possible, making them highly efficient for resource transfers in vector, map, set operations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6252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 and Common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888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552700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 Moves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3143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513699" y="3296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08247"/>
            <a:ext cx="171445" cy="127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674" y="3219449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Returning from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657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13699" y="3810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822597"/>
            <a:ext cx="171445" cy="127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8674" y="3733799"/>
            <a:ext cx="26193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Passing to functions accepting rvalues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1719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13699" y="43249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327268"/>
            <a:ext cx="171445" cy="1465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8674" y="4248150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 container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6863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13699" y="48393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859593"/>
            <a:ext cx="171445" cy="1106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8674" y="476250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 large types and resources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040731"/>
            <a:ext cx="228594" cy="1857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2000250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255270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542773" y="26866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2713264"/>
            <a:ext cx="152396" cy="9797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19649" y="2628900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std::move on const objects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8959" y="255270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8504974" y="26866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53256" y="2713264"/>
            <a:ext cx="152396" cy="9797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1850" y="2628900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Using when copy needed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02895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542773" y="31629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3189514"/>
            <a:ext cx="152396" cy="979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19649" y="3105149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Forgetting noexcept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38959" y="302895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8504974" y="31629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53256" y="3189514"/>
            <a:ext cx="152396" cy="9797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81850" y="3105149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on temporaries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3581400"/>
            <a:ext cx="5848203" cy="2114550"/>
          </a:xfrm>
          <a:prstGeom prst="roundRect">
            <a:avLst>
              <a:gd name="adj" fmla="val 720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3804761"/>
            <a:ext cx="228594" cy="16287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81570" y="3733799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Tips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4230636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86322" y="4152899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Profile your code before optimizing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38679" y="4592586"/>
            <a:ext cx="171445" cy="1493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86322" y="4514850"/>
            <a:ext cx="25621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Trust RVO - don't premature std::move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495453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86322" y="4876800"/>
            <a:ext cx="24192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move semantics for large types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38679" y="5316486"/>
            <a:ext cx="171445" cy="14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086322" y="5238749"/>
            <a:ext cx="21621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compilers optimize well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888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3840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705099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Move Semantics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385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391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858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314700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Lvalues vs rvalues distinction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528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058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002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3829050"/>
            <a:ext cx="17049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Copy vs move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671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202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4343400"/>
            <a:ext cx="23907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constructors and assignment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7815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345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9289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4857750"/>
            <a:ext cx="127631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std::move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6758" y="23241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23724" y="24771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91055" y="247145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5847" y="2400300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RVO/NRVO optimization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8384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23724" y="29914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298580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5847" y="2914650"/>
            <a:ext cx="272408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Perfect forwarding with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std::forward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33528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23724" y="35058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91055" y="350015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5847" y="3429000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semantics in STL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943350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76778" y="4185751"/>
            <a:ext cx="285742" cy="23909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14917" y="4133849"/>
            <a:ext cx="501002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4917" y="4514850"/>
            <a:ext cx="5010024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Embrace 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move semantics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in modern C++ for efficient resource transfer and improved performance!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