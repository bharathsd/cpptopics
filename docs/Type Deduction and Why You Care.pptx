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17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6733" y="1428750"/>
            <a:ext cx="1285842" cy="3429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428750"/>
            <a:ext cx="12858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CppCon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076449"/>
            <a:ext cx="7676958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 Type Deduction and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3827" b="1">
                <a:solidFill>
                  <a:srgbClr val="2196F3"/>
                </a:solidFill>
                <a:latin typeface="Roboto"/>
                <a:rFonts ascii="Roboto" hAnsi="Roboto" eastAsia="Roboto" cs="Roboto"/>
              </a:rPr>
              <a:t>Why You Care</a:t>
            </a:r>
            <a:r>
              <a:rPr sz="382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375284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120"/>
              </a:spcAft>
            </a:pPr>
            <a:r>
              <a:rPr sz="1315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Understanding C++11/14 Type Deduction Mechanics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4514850"/>
            <a:ext cx="914377" cy="38100"/>
          </a:xfrm>
          <a:prstGeom prst="roundRect">
            <a:avLst>
              <a:gd name="adj" fmla="val 20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5079546"/>
            <a:ext cx="285742" cy="2041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4933950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Scott Meyers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73" y="5200650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Software Development Consultant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24681" y="219074"/>
            <a:ext cx="2800279" cy="4000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3302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24681" y="4524374"/>
            <a:ext cx="2800279" cy="2114550"/>
          </a:xfrm>
          <a:prstGeom prst="roundRect">
            <a:avLst>
              <a:gd name="adj" fmla="val 72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24701" y="4819650"/>
            <a:ext cx="228594" cy="114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494" y="4762500"/>
            <a:ext cx="7429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Topics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24701" y="5270944"/>
            <a:ext cx="133346" cy="880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34246" y="5181599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Template Type Deduction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24701" y="5613844"/>
            <a:ext cx="133346" cy="880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34246" y="5524499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Universal References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24701" y="5956744"/>
            <a:ext cx="133346" cy="880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34246" y="5867399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auto and decltype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24701" y="6299644"/>
            <a:ext cx="133346" cy="880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34246" y="6210299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Lambda Captures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3716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Why You 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763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53" y="1447800"/>
            <a:ext cx="2190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3" y="1276350"/>
            <a:ext cx="56577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13" y="1619250"/>
            <a:ext cx="56577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Template type deduction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13" y="1924049"/>
            <a:ext cx="56577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Generally just works · Detailed understanding rarely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3812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753" y="2552700"/>
            <a:ext cx="2190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13" y="2381250"/>
            <a:ext cx="56577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13" y="2724150"/>
            <a:ext cx="56577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Scope expands dramatically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13" y="3067050"/>
            <a:ext cx="552436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6813" y="3067050"/>
            <a:ext cx="5524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auto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5447" y="3067050"/>
            <a:ext cx="466713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5447" y="3067050"/>
            <a:ext cx="4667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T&amp;&amp;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8359" y="3067050"/>
            <a:ext cx="704832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8359" y="3067050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lambda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389" y="3067050"/>
            <a:ext cx="866753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389" y="3067050"/>
            <a:ext cx="8667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decltype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6813" y="3409950"/>
            <a:ext cx="56577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Just works less frequently · Six sets of rules!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38671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753" y="4038599"/>
            <a:ext cx="2190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13" y="3867149"/>
            <a:ext cx="56577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6813" y="4210049"/>
            <a:ext cx="56577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More usage contexts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6813" y="4552949"/>
            <a:ext cx="1104872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6813" y="4552949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auto return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47883" y="4552949"/>
            <a:ext cx="1352516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7883" y="4552949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decltype(auto)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76598" y="4552949"/>
            <a:ext cx="1190595" cy="266699"/>
          </a:xfrm>
          <a:prstGeom prst="roundRect">
            <a:avLst>
              <a:gd name="adj" fmla="val 28571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6598" y="4552949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lambda param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6813" y="4895849"/>
            <a:ext cx="56577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Same rulesets · More chances for confusion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3" y="5429250"/>
            <a:ext cx="6457788" cy="952499"/>
          </a:xfrm>
          <a:prstGeom prst="roundRect">
            <a:avLst>
              <a:gd name="adj" fmla="val 16000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56524" y="5839459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5674994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38219" y="5619750"/>
            <a:ext cx="48766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8219" y="5924549"/>
            <a:ext cx="48766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Rules increasingly important to understand as complexity grows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05512" y="1162050"/>
            <a:ext cx="4019449" cy="5353049"/>
          </a:xfrm>
          <a:prstGeom prst="roundRect">
            <a:avLst>
              <a:gd name="adj" fmla="val 5687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58008" y="1455672"/>
            <a:ext cx="285742" cy="21285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19949" y="142875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Reference 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3631" y="1847849"/>
            <a:ext cx="35432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Effective Modern C++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43631" y="2266950"/>
            <a:ext cx="3543211" cy="361949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3631" y="6076950"/>
            <a:ext cx="35432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By Scott Meyers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1489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The C++ Type Deduction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14425"/>
            <a:ext cx="3467013" cy="4600575"/>
          </a:xfrm>
          <a:prstGeom prst="roundRect">
            <a:avLst>
              <a:gd name="adj" fmla="val 6593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4852" y="13525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19149" y="1518285"/>
            <a:ext cx="228594" cy="1257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4437" y="1352549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37" y="1619250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C++98 &amp; C++11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52" y="22383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47" y="2162174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47" y="2466975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ParamType = T, T&amp;, T*, T&amp;&amp;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852" y="2924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5347" y="2847974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47" y="3152775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Same as template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852" y="36099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47" y="3533774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Lambda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47" y="3838574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Implicit return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852" y="42957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5347" y="4219575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Lambda param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347" y="4524374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Auto parameters (C++14)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2340" y="1114425"/>
            <a:ext cx="3467013" cy="4600575"/>
          </a:xfrm>
          <a:prstGeom prst="roundRect">
            <a:avLst>
              <a:gd name="adj" fmla="val 6593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0459" y="13525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14757" y="1509712"/>
            <a:ext cx="228594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10044" y="1352549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Reference/Pointer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0044" y="1619250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C++11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00459" y="22383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0955" y="2162174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T&amp;/T*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0955" y="2466975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Non-universal reference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0459" y="2924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0955" y="2847974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T&amp;&amp;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0955" y="3152775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Universal reference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00459" y="36099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0955" y="3533774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Lambda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0955" y="3838574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By value/reference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00459" y="42957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0955" y="4219575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Init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0955" y="4524374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C++14 generalized capture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7948" y="1114425"/>
            <a:ext cx="3467013" cy="4600575"/>
          </a:xfrm>
          <a:prstGeom prst="roundRect">
            <a:avLst>
              <a:gd name="adj" fmla="val 6593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96067" y="13525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10364" y="1478279"/>
            <a:ext cx="228594" cy="2057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05652" y="1352549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Special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5652" y="1619250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C++11 &amp; C++14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96067" y="22383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6562" y="2162174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decltype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562" y="2466975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Declared type rules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6067" y="2924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6562" y="2847974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decltype(auto)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6562" y="3152775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C++14 hybrid rules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96067" y="36099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6562" y="3533774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auto return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6562" y="3838574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C++14 function return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96067" y="42957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6562" y="4219575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Braced init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6562" y="4524374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auto-only rule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6733" y="5943600"/>
            <a:ext cx="10858228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427973" y="61823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6151245"/>
            <a:ext cx="228594" cy="19430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00119" y="6115050"/>
            <a:ext cx="4238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Note:</a:t>
            </a: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Different contexts follow different deduction rules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5910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Type Deduction Basics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27760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038224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General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495424"/>
            <a:ext cx="10858228" cy="1581149"/>
          </a:xfrm>
          <a:prstGeom prst="roundRect">
            <a:avLst>
              <a:gd name="adj" fmla="val 963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753" y="1695449"/>
            <a:ext cx="10458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template&lt;typename 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53" y="1962149"/>
            <a:ext cx="10458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void </a:t>
            </a: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ParamType</a:t>
            </a: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53" y="2362199"/>
            <a:ext cx="3600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Mono"/>
                <a:rFonts ascii="Roboto Mono" hAnsi="Roboto Mono" eastAsia="Roboto Mono" cs="Roboto Mono"/>
              </a:rPr>
              <a:t>// Deduce T and ParamType from expr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53" y="2609850"/>
            <a:ext cx="10458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(expr);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3604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3305174"/>
            <a:ext cx="21335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Three General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762374"/>
            <a:ext cx="3495587" cy="2667000"/>
          </a:xfrm>
          <a:prstGeom prst="roundRect">
            <a:avLst>
              <a:gd name="adj" fmla="val 857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6753" y="39623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624" y="4019549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040" y="4019549"/>
            <a:ext cx="5619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Ref/Ptr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53" y="4619625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53" y="4848225"/>
            <a:ext cx="30955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T&amp; / T*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53" y="5229225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53" y="5457825"/>
            <a:ext cx="30955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T&amp;&amp;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6753" y="6057900"/>
            <a:ext cx="152396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5347" y="5962650"/>
            <a:ext cx="24192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Reference or pointer (non-universal)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816" y="3762374"/>
            <a:ext cx="3495587" cy="2667000"/>
          </a:xfrm>
          <a:prstGeom prst="roundRect">
            <a:avLst>
              <a:gd name="adj" fmla="val 857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2836" y="39623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6182" y="4019549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123" y="4019549"/>
            <a:ext cx="7238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Universal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2836" y="4619625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2836" y="4848225"/>
            <a:ext cx="30955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T&amp;&amp;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2836" y="5229225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Treated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2836" y="5457825"/>
            <a:ext cx="30955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Universal reference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52836" y="6019800"/>
            <a:ext cx="152396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81430" y="5924549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Can bind to lvalues &amp; rvalues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9374" y="3762374"/>
            <a:ext cx="3495587" cy="2667000"/>
          </a:xfrm>
          <a:prstGeom prst="roundRect">
            <a:avLst>
              <a:gd name="adj" fmla="val 857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394" y="39623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2265" y="4019549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4681" y="4019549"/>
            <a:ext cx="6762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394" y="4619625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394" y="4848225"/>
            <a:ext cx="30955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394" y="5229225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Not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394" y="5457825"/>
            <a:ext cx="30955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T&amp; / T* / T&amp;&amp;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29394" y="6057900"/>
            <a:ext cx="152396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57988" y="5962650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Neither reference nor pointer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6657975"/>
            <a:ext cx="10858228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427973" y="689673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6865620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00119" y="6829425"/>
            <a:ext cx="46004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Insight:</a:t>
            </a: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Each case follows different type deduction rules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7626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Non-Universal Reference/Pointer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47482"/>
            <a:ext cx="190495" cy="162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426" y="1095374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476375"/>
            <a:ext cx="5848203" cy="952499"/>
          </a:xfrm>
          <a:prstGeom prst="roundRect">
            <a:avLst>
              <a:gd name="adj" fmla="val 16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1638299"/>
            <a:ext cx="55243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template&lt;typename 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1952624"/>
            <a:ext cx="55243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void </a:t>
            </a:r>
            <a:r>
              <a:rPr sz="1315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315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T&amp;</a:t>
            </a: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param);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68268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2619374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Deduction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000375"/>
            <a:ext cx="5848203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030" y="31908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25" y="3114675"/>
            <a:ext cx="310507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If expr's type is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reference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, ignore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619499"/>
            <a:ext cx="5848203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030" y="3809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25" y="3733799"/>
            <a:ext cx="390515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Pattern-match expr's type against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ParamType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38624"/>
            <a:ext cx="5848203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030" y="44291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4352924"/>
            <a:ext cx="180970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the deduced type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01407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26" y="493395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Variable Declarations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314950"/>
            <a:ext cx="5848203" cy="1257300"/>
          </a:xfrm>
          <a:prstGeom prst="roundRect">
            <a:avLst>
              <a:gd name="adj" fmla="val 121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654" y="5476875"/>
            <a:ext cx="55243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 = 22;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54" y="5791200"/>
            <a:ext cx="55243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cx = x;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54" y="6095999"/>
            <a:ext cx="55243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rx = x;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95927" y="1320613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62620" y="1257300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Calls &amp;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95927" y="1676400"/>
            <a:ext cx="4629034" cy="1238249"/>
          </a:xfrm>
          <a:prstGeom prst="roundRect">
            <a:avLst>
              <a:gd name="adj" fmla="val 1230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342843" y="2229484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422" y="1828800"/>
            <a:ext cx="42861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f(x);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422" y="2171700"/>
            <a:ext cx="428614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422" y="2495550"/>
            <a:ext cx="428614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int&amp;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95927" y="3067050"/>
            <a:ext cx="4629034" cy="1238249"/>
          </a:xfrm>
          <a:prstGeom prst="roundRect">
            <a:avLst>
              <a:gd name="adj" fmla="val 1230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342843" y="3620134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422" y="3219449"/>
            <a:ext cx="42861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f(cx);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422" y="3562349"/>
            <a:ext cx="428614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422" y="3886200"/>
            <a:ext cx="428614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95927" y="4457700"/>
            <a:ext cx="4629034" cy="1238249"/>
          </a:xfrm>
          <a:prstGeom prst="roundRect">
            <a:avLst>
              <a:gd name="adj" fmla="val 1230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342843" y="5010784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422" y="4610099"/>
            <a:ext cx="42861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f(rx);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422" y="4952999"/>
            <a:ext cx="428614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422" y="5276850"/>
            <a:ext cx="428614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95927" y="5886450"/>
            <a:ext cx="462903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6704792" y="60775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48323" y="607190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15017" y="6000750"/>
            <a:ext cx="170493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Note: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not a reference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81912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and Non-URef Reference/Pointer Variables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87905"/>
            <a:ext cx="228594" cy="205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2257425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657475"/>
            <a:ext cx="4629034" cy="952499"/>
          </a:xfrm>
          <a:prstGeom prst="roundRect">
            <a:avLst>
              <a:gd name="adj" fmla="val 16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819399"/>
            <a:ext cx="430519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plays the role of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in template type deduction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880597"/>
            <a:ext cx="190495" cy="1064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426" y="3800475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Variable Declarations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181474"/>
            <a:ext cx="4629034" cy="1257300"/>
          </a:xfrm>
          <a:prstGeom prst="roundRect">
            <a:avLst>
              <a:gd name="adj" fmla="val 121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54" y="4343400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 = 22;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4648200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cx = x;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54" y="4962525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rx = x;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192853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451" y="1876424"/>
            <a:ext cx="2800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Variable Declarations &amp;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76758" y="2295525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0579" y="2419349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 v1 = x;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579" y="2762249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v1 ≡ </a:t>
            </a:r>
            <a:r>
              <a:rPr sz="95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int&amp;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77058" y="2295525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0879" y="2419349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 v2 = cx;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0879" y="2762249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v2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6758" y="3276599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0579" y="3400425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 v3 = rx;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0579" y="3743325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v3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7058" y="3276599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0879" y="3400425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const auto&amp; v4 = x;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0879" y="3743325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v4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4257675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0579" y="4381499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const auto&amp; v5 = cx;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0579" y="4724399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v5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77058" y="4257675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0879" y="4381499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const auto&amp; v6 = rx;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0879" y="4724399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v6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5276850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485623" y="54679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29154" y="54623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95847" y="5391150"/>
            <a:ext cx="404802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Pattern: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≡ deduced type,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&amp;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= reference,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= const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6384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Universal References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47482"/>
            <a:ext cx="190495" cy="162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426" y="1095374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Universal Reference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476375"/>
            <a:ext cx="5238619" cy="952499"/>
          </a:xfrm>
          <a:prstGeom prst="roundRect">
            <a:avLst>
              <a:gd name="adj" fmla="val 16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1638299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template&lt;typename 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1952624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void </a:t>
            </a:r>
            <a:r>
              <a:rPr sz="1315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315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T&amp;&amp;</a:t>
            </a: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param);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68268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2619374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Special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000375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030" y="31908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25" y="3114675"/>
            <a:ext cx="349558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Treated like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normal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reference,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619499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030" y="3809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25" y="3733799"/>
            <a:ext cx="28669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If </a:t>
            </a: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expr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lvalue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deduced as </a:t>
            </a:r>
            <a:r>
              <a:rPr sz="119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E&amp;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38624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030" y="44291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4352924"/>
            <a:ext cx="349558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Reference-collapsing yields </a:t>
            </a:r>
            <a:r>
              <a:rPr sz="119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E&amp;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for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param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01407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26" y="493395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Variable Declarations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314950"/>
            <a:ext cx="5238619" cy="1257300"/>
          </a:xfrm>
          <a:prstGeom prst="roundRect">
            <a:avLst>
              <a:gd name="adj" fmla="val 121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654" y="5476875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 = 22;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54" y="5791200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cx = x;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54" y="6095999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rx = x;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768163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53036" y="704849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Calls &amp;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342" y="1123949"/>
            <a:ext cx="5238619" cy="1162050"/>
          </a:xfrm>
          <a:prstGeom prst="roundRect">
            <a:avLst>
              <a:gd name="adj" fmla="val 13114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771357" y="163893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8739" y="1238249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f(x);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5377" y="1238249"/>
            <a:ext cx="4952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lvalue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39" y="1581149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int&amp;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8739" y="1904999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86EFAC"/>
                </a:solidFill>
                <a:latin typeface="Roboto Mono"/>
                <a:rFonts ascii="Roboto Mono" hAnsi="Roboto Mono" eastAsia="Roboto Mono" cs="Roboto Mono"/>
              </a:rPr>
              <a:t>int&amp;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6342" y="2400300"/>
            <a:ext cx="5238619" cy="1162050"/>
          </a:xfrm>
          <a:prstGeom prst="roundRect">
            <a:avLst>
              <a:gd name="adj" fmla="val 13114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771357" y="2915285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8739" y="2514600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f(cx);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5377" y="2514600"/>
            <a:ext cx="4952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lvalue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739" y="2857500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8739" y="3181350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342" y="3676649"/>
            <a:ext cx="5238619" cy="1162050"/>
          </a:xfrm>
          <a:prstGeom prst="roundRect">
            <a:avLst>
              <a:gd name="adj" fmla="val 13114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771357" y="419163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8739" y="379094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f(rx);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5377" y="3790949"/>
            <a:ext cx="4952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lvalue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8739" y="4133849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8739" y="4457700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6342" y="4952999"/>
            <a:ext cx="5238619" cy="1162050"/>
          </a:xfrm>
          <a:prstGeom prst="roundRect">
            <a:avLst>
              <a:gd name="adj" fmla="val 13114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771357" y="546798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8739" y="50672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f(22);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96327" y="5067299"/>
            <a:ext cx="5143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rvalue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8739" y="5410199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8739" y="5734050"/>
            <a:ext cx="497192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int&amp;&amp;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86342" y="6267449"/>
            <a:ext cx="5238619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6009482" y="654430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6452907"/>
            <a:ext cx="190495" cy="1624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05432" y="6381749"/>
            <a:ext cx="4705232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Rule: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Lvalue arguments get reference collapsing, rvalues get universal reference behavior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6384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By-Value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976032"/>
            <a:ext cx="190495" cy="162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426" y="923924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By-Value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304925"/>
            <a:ext cx="5238619" cy="1295399"/>
          </a:xfrm>
          <a:prstGeom prst="roundRect">
            <a:avLst>
              <a:gd name="adj" fmla="val 1176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1466849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template&lt;typename 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1781174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void </a:t>
            </a:r>
            <a:r>
              <a:rPr sz="1315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315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315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171700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Mono"/>
                <a:rFonts ascii="Roboto Mono" hAnsi="Roboto Mono" eastAsia="Roboto Mono" cs="Roboto Mono"/>
              </a:rPr>
              <a:t>// param passed by value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854138"/>
            <a:ext cx="190495" cy="140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3426" y="2790824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Deduction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171825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030" y="33623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25" y="3286125"/>
            <a:ext cx="319079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If </a:t>
            </a: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expr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's type is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reference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, ignore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790949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030" y="39814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25" y="3905249"/>
            <a:ext cx="339081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If </a:t>
            </a: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expr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</a:t>
            </a: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or </a:t>
            </a: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volatile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, ignore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410074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030" y="46005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525" y="4524374"/>
            <a:ext cx="114297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the result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185522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26" y="510540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Variable Declarations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486400"/>
            <a:ext cx="5238619" cy="1257300"/>
          </a:xfrm>
          <a:prstGeom prst="roundRect">
            <a:avLst>
              <a:gd name="adj" fmla="val 121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654" y="5648325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 = 22;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54" y="5962650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cx = x;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54" y="6267449"/>
            <a:ext cx="49147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rx = x;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682438"/>
            <a:ext cx="190495" cy="1400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53036" y="619124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Calls &amp;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342" y="1038224"/>
            <a:ext cx="5238619" cy="1238249"/>
          </a:xfrm>
          <a:prstGeom prst="roundRect">
            <a:avLst>
              <a:gd name="adj" fmla="val 1230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733258" y="1591308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6838" y="1190625"/>
            <a:ext cx="48957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f(x);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1533525"/>
            <a:ext cx="48957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838" y="1847849"/>
            <a:ext cx="48957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6342" y="2428875"/>
            <a:ext cx="5238619" cy="1238249"/>
          </a:xfrm>
          <a:prstGeom prst="roundRect">
            <a:avLst>
              <a:gd name="adj" fmla="val 1230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733258" y="2981959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6838" y="2581275"/>
            <a:ext cx="48957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f(cx);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2924175"/>
            <a:ext cx="48957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838" y="3238500"/>
            <a:ext cx="48957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6342" y="3819524"/>
            <a:ext cx="5238619" cy="1238249"/>
          </a:xfrm>
          <a:prstGeom prst="roundRect">
            <a:avLst>
              <a:gd name="adj" fmla="val 1230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733258" y="4372608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6838" y="3971925"/>
            <a:ext cx="48957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f(rx);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6838" y="4314825"/>
            <a:ext cx="48957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6838" y="4629150"/>
            <a:ext cx="489572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 ≡ 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6342" y="5248275"/>
            <a:ext cx="5238619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5795170" y="5739447"/>
            <a:ext cx="1114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76838" y="5474969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19729" y="5400675"/>
            <a:ext cx="45528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9729" y="5705475"/>
            <a:ext cx="4552836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Top-level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/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volatile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always stripped when deducing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for by-value parameters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86342" y="6515100"/>
            <a:ext cx="5238619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0164" y="6716661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657808" y="6638924"/>
            <a:ext cx="440043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Note: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expr's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reference-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const-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qualifiers always dropped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3340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Non-Reference Non-Pointer auto Variables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35380"/>
            <a:ext cx="228594" cy="205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104900"/>
            <a:ext cx="7429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504950"/>
            <a:ext cx="4629034" cy="952499"/>
          </a:xfrm>
          <a:prstGeom prst="roundRect">
            <a:avLst>
              <a:gd name="adj" fmla="val 16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1666874"/>
            <a:ext cx="430519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drops top-level </a:t>
            </a: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reference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qualifiers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702858"/>
            <a:ext cx="190495" cy="1568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426" y="264794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Important Note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028950"/>
            <a:ext cx="4629034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030" y="32194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25" y="3143250"/>
            <a:ext cx="322889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never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deduced to be a reference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648074"/>
            <a:ext cx="4629034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030" y="38385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25" y="3762374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Must be manually added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257675"/>
            <a:ext cx="4629034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030" y="4448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525" y="4371975"/>
            <a:ext cx="31050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If present, uses by-reference rulesets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023597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3426" y="4943475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Variable Declarations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5324474"/>
            <a:ext cx="4629034" cy="1257300"/>
          </a:xfrm>
          <a:prstGeom prst="roundRect">
            <a:avLst>
              <a:gd name="adj" fmla="val 121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654" y="5486400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 = 22;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54" y="5800725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cx = x;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54" y="6105525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rx = x;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59515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451" y="1543050"/>
            <a:ext cx="2800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Variable Declarations &amp;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1962149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0579" y="2085975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v1 = x;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0579" y="2428875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v1 ≡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77058" y="1962149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0879" y="2085975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v2 = cx;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0879" y="2428875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v2 ≡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943225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0579" y="3067050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v3 = rx;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3409950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v3 ≡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77058" y="2943225"/>
            <a:ext cx="2847903" cy="828675"/>
          </a:xfrm>
          <a:prstGeom prst="roundRect">
            <a:avLst>
              <a:gd name="adj" fmla="val 183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00879" y="3067050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v4 = rx;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0879" y="3409950"/>
            <a:ext cx="2600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v4 ≡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3924299"/>
            <a:ext cx="2847903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337986" y="4263071"/>
            <a:ext cx="809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9154" y="4038599"/>
            <a:ext cx="25812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 v5 = rx;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9154" y="4381499"/>
            <a:ext cx="258121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v5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77058" y="3924299"/>
            <a:ext cx="2847903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8338286" y="4263071"/>
            <a:ext cx="809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9454" y="4038599"/>
            <a:ext cx="25812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auto&amp;&amp; v6 = rx;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9454" y="4381499"/>
            <a:ext cx="258121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v6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int&amp;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76758" y="4924424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485623" y="5115559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29154" y="5109882"/>
            <a:ext cx="190495" cy="16248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095847" y="5038724"/>
            <a:ext cx="470523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Pattern: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alone drops qualifiers,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&amp;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or </a:t>
            </a:r>
            <a:r>
              <a:rPr sz="95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&amp;&amp;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activates reference rules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76758" y="5591175"/>
            <a:ext cx="5848203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00579" y="5792736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048223" y="5715000"/>
            <a:ext cx="46385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/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reference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qualifiers always dropped unless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&amp;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or </a:t>
            </a:r>
            <a:r>
              <a:rPr sz="956" b="0">
                <a:solidFill>
                  <a:srgbClr val="D1D5DB"/>
                </a:solidFill>
                <a:latin typeface="Roboto Mono"/>
                <a:rFonts ascii="Roboto Mono" hAnsi="Roboto Mono" eastAsia="Roboto Mono" cs="Roboto Mono"/>
              </a:rPr>
              <a:t>&amp;&amp;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used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889612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 Expressions vs. Expressions Containing const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8242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133475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Top-Level vs. Embedded const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533525"/>
            <a:ext cx="4629034" cy="952499"/>
          </a:xfrm>
          <a:prstGeom prst="roundRect">
            <a:avLst>
              <a:gd name="adj" fmla="val 16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1695449"/>
            <a:ext cx="430519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Top-level </a:t>
            </a: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means </a:t>
            </a: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modifies the object itself, not what it points to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756647"/>
            <a:ext cx="190495" cy="1064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426" y="2676524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057525"/>
            <a:ext cx="4629034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54" y="3219449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int* const param1;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524250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int*</a:t>
            </a:r>
            <a:r>
              <a:rPr sz="101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param2;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54" y="3819524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int*</a:t>
            </a:r>
            <a:r>
              <a:rPr sz="101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param3;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4907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26" y="4438649"/>
            <a:ext cx="8572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819650"/>
            <a:ext cx="4629034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030" y="50101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525" y="4933950"/>
            <a:ext cx="40003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Applies only to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non-reference non-pointer</a:t>
            </a: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429250"/>
            <a:ext cx="4629034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030" y="56197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25" y="5543550"/>
            <a:ext cx="292410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By-value: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ignored in deducing </a:t>
            </a: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6048375"/>
            <a:ext cx="4629034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030" y="62388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525" y="6162675"/>
            <a:ext cx="234309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By-reference: </a:t>
            </a: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7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preserved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548092"/>
            <a:ext cx="190495" cy="1232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451" y="1476375"/>
            <a:ext cx="21430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Deduction Comparison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1895474"/>
            <a:ext cx="5848203" cy="1543050"/>
          </a:xfrm>
          <a:prstGeom prst="roundRect">
            <a:avLst>
              <a:gd name="adj" fmla="val 987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971273" y="2600959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7253" y="2047874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By-Value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3931" y="2047874"/>
            <a:ext cx="6286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T = auto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7253" y="2390774"/>
            <a:ext cx="55053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p1 = param1;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7253" y="2771775"/>
            <a:ext cx="550531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p1's type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253" y="3047999"/>
            <a:ext cx="550531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param1's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ignored (top-level)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90924"/>
            <a:ext cx="5848203" cy="1543050"/>
          </a:xfrm>
          <a:prstGeom prst="roundRect">
            <a:avLst>
              <a:gd name="adj" fmla="val 9876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4971273" y="4296409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67253" y="3743325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By-Reference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8208" y="3743325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T = auto&amp;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7253" y="4086225"/>
            <a:ext cx="55053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 p2 = param1;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253" y="4467224"/>
            <a:ext cx="550531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p2's type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int* const&amp;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253" y="4743450"/>
            <a:ext cx="550531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param1's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 preserved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324474"/>
            <a:ext cx="5848203" cy="866775"/>
          </a:xfrm>
          <a:prstGeom prst="roundRect">
            <a:avLst>
              <a:gd name="adj" fmla="val 17582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309411" y="5691821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67253" y="5551170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0144" y="5476875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0144" y="5781674"/>
            <a:ext cx="464808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Top-level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/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volatile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ignored by-value, preserved by-reference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4002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Special Cases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21901"/>
            <a:ext cx="228594" cy="232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400175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Special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00225"/>
            <a:ext cx="4990975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030" y="19907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25" y="1914525"/>
            <a:ext cx="33812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Expressions that are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arrays or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409825"/>
            <a:ext cx="4990975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030" y="26003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25" y="2524125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Have special deduction rules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1096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26" y="3057525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Two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438525"/>
            <a:ext cx="4990975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27961" y="3777297"/>
            <a:ext cx="809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29" y="3552825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Case 1: By-Value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3895724"/>
            <a:ext cx="472428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Decays to a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pointer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before type deduction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362450"/>
            <a:ext cx="4990975" cy="800100"/>
          </a:xfrm>
          <a:prstGeom prst="roundRect">
            <a:avLst>
              <a:gd name="adj" fmla="val 1904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332723" y="469646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29" y="4476750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Case 2: By-Reference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29" y="4819650"/>
            <a:ext cx="47242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Array/function type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is deduced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395072"/>
            <a:ext cx="190495" cy="1064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3426" y="5314950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Array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5695949"/>
            <a:ext cx="4990975" cy="590549"/>
          </a:xfrm>
          <a:prstGeom prst="roundRect">
            <a:avLst>
              <a:gd name="adj" fmla="val 2580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54" y="5857875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char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name[] = </a:t>
            </a:r>
            <a:r>
              <a:rPr sz="1196" b="0">
                <a:solidFill>
                  <a:srgbClr val="FDBA74"/>
                </a:solidFill>
                <a:latin typeface="Roboto Mono"/>
                <a:rFonts ascii="Roboto Mono" hAnsi="Roboto Mono" eastAsia="Roboto Mono" cs="Roboto Mono"/>
              </a:rPr>
              <a:t>"J. P. Briggs"</a:t>
            </a:r>
            <a:r>
              <a:rPr sz="119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38699" y="1210921"/>
            <a:ext cx="190495" cy="356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5392" y="1095374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Deduction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8699" y="1476375"/>
            <a:ext cx="5486262" cy="1076325"/>
          </a:xfrm>
          <a:prstGeom prst="roundRect">
            <a:avLst>
              <a:gd name="adj" fmla="val 1415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566577" y="1948497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1095" y="1590675"/>
            <a:ext cx="52195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arr1 = name;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095" y="1933574"/>
            <a:ext cx="521956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arr1's type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char*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095" y="2209800"/>
            <a:ext cx="52195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decays to pointer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8699" y="2667000"/>
            <a:ext cx="5486262" cy="1076325"/>
          </a:xfrm>
          <a:prstGeom prst="roundRect">
            <a:avLst>
              <a:gd name="adj" fmla="val 1415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66577" y="3139122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1095" y="2781300"/>
            <a:ext cx="52195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auto&amp; arr2 = name;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095" y="3124200"/>
            <a:ext cx="521956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arr2's type ≡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char(&amp;)[13]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095" y="3400425"/>
            <a:ext cx="52195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array type deduced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38699" y="3975847"/>
            <a:ext cx="190495" cy="10645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05392" y="3895724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Example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8699" y="4276725"/>
            <a:ext cx="5486262" cy="1133475"/>
          </a:xfrm>
          <a:prstGeom prst="roundRect">
            <a:avLst>
              <a:gd name="adj" fmla="val 1344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619" y="4438649"/>
            <a:ext cx="516242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someFunc(</a:t>
            </a:r>
            <a:r>
              <a:rPr sz="101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0619" y="4724399"/>
            <a:ext cx="516242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f1 = someFunc;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00619" y="5000625"/>
            <a:ext cx="516242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auto&amp;</a:t>
            </a:r>
            <a:r>
              <a:rPr sz="101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f2 = someFunc;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8699" y="5562600"/>
            <a:ext cx="2685982" cy="1009649"/>
          </a:xfrm>
          <a:prstGeom prst="roundRect">
            <a:avLst>
              <a:gd name="adj" fmla="val 1509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2520" y="5686425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f1's 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2520" y="5953124"/>
            <a:ext cx="2438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void (*)(int)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2520" y="6257925"/>
            <a:ext cx="2438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decays to pointer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38979" y="5562600"/>
            <a:ext cx="2685982" cy="1009649"/>
          </a:xfrm>
          <a:prstGeom prst="roundRect">
            <a:avLst>
              <a:gd name="adj" fmla="val 1509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2800" y="5686425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f2's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2800" y="5953124"/>
            <a:ext cx="2438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void (&amp;)(int)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2800" y="6257925"/>
            <a:ext cx="2438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function type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5531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Type Deduction with Braced Initializers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38287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476375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vs. auto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76424"/>
            <a:ext cx="5238619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030" y="20669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25" y="1990724"/>
            <a:ext cx="25050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Template type deduction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486025"/>
            <a:ext cx="5238619" cy="504824"/>
          </a:xfrm>
          <a:prstGeom prst="roundRect">
            <a:avLst>
              <a:gd name="adj" fmla="val 30188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030" y="26765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25" y="2600325"/>
            <a:ext cx="367655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19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deduces </a:t>
            </a:r>
            <a:r>
              <a:rPr sz="119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std::initializer_list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261472"/>
            <a:ext cx="190495" cy="1064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26" y="318135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-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562349"/>
            <a:ext cx="5238619" cy="1200150"/>
          </a:xfrm>
          <a:prstGeom prst="roundRect">
            <a:avLst>
              <a:gd name="adj" fmla="val 1269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654" y="3724274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template&lt;typename 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" y="3990974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void </a:t>
            </a: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7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76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param);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54" y="4333875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f({ 1, 2, 3 }); // error!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995022"/>
            <a:ext cx="190495" cy="1064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3426" y="4914900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- Success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295899"/>
            <a:ext cx="2562160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555" y="5419725"/>
            <a:ext cx="231451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x1 {1, 2, 3};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55" y="5705475"/>
            <a:ext cx="231451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x1 ≡ </a:t>
            </a:r>
            <a:r>
              <a:rPr sz="837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std::initializer_list&lt;int&gt;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3191" y="5295899"/>
            <a:ext cx="2562160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7013" y="5419725"/>
            <a:ext cx="231451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x2 = {1, 2, 3};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7013" y="5705475"/>
            <a:ext cx="231451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x2 ≡ </a:t>
            </a:r>
            <a:r>
              <a:rPr sz="837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std::initializer_list&lt;int&gt;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1270186"/>
            <a:ext cx="190495" cy="1456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53036" y="1209674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Braced Initializer 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342" y="1590675"/>
            <a:ext cx="5238619" cy="1209674"/>
          </a:xfrm>
          <a:prstGeom prst="roundRect">
            <a:avLst>
              <a:gd name="adj" fmla="val 1259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747545" y="2129472"/>
            <a:ext cx="1209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6838" y="1743075"/>
            <a:ext cx="48957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Deduction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6838" y="2085975"/>
            <a:ext cx="48957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{...}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is expression of type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std::initializer_list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2419349"/>
            <a:ext cx="48957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Cannot deduce 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342" y="2914650"/>
            <a:ext cx="5238619" cy="1209674"/>
          </a:xfrm>
          <a:prstGeom prst="roundRect">
            <a:avLst>
              <a:gd name="adj" fmla="val 1259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747545" y="3453447"/>
            <a:ext cx="1209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6838" y="3067050"/>
            <a:ext cx="48957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Deduction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838" y="3409950"/>
            <a:ext cx="48957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Special rule: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{...}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→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std::initializer_list&lt;T&gt;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3743325"/>
            <a:ext cx="48957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4ADE80"/>
                </a:solidFill>
                <a:latin typeface="Roboto"/>
                <a:rFonts ascii="Roboto" hAnsi="Roboto" eastAsia="Roboto" cs="Roboto"/>
              </a:rPr>
              <a:t>T deduced from elements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86342" y="432883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53036" y="4276725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Capture Note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342" y="4657725"/>
            <a:ext cx="5238619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0164" y="4859286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57808" y="4781549"/>
            <a:ext cx="454331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Lambda init captures (C++14) follow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rules, not template rules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6342" y="5343525"/>
            <a:ext cx="5238619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795170" y="5834697"/>
            <a:ext cx="1114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76838" y="5574506"/>
            <a:ext cx="228594" cy="18573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19729" y="5495924"/>
            <a:ext cx="45528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9729" y="5800725"/>
            <a:ext cx="4552836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has special handling for braced initializers that template type deduction doesn't provide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2957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Captures and decltype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75261"/>
            <a:ext cx="228594" cy="49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466849"/>
            <a:ext cx="27812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Capture Type Deduction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66899"/>
            <a:ext cx="4990975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351774" y="21818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9129" y="20574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9624" y="1981199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2286000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Uses template type deduction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743200"/>
            <a:ext cx="4990975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51774" y="30581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129" y="29336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624" y="2857500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24" y="3162299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Uses by-value rules (strips const)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619499"/>
            <a:ext cx="4990975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51774" y="39344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29" y="3809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624" y="3733799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Init Capture (C++14)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24" y="4038599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Uses auto rules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614022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26" y="4533900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decltype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914900"/>
            <a:ext cx="4990975" cy="485775"/>
          </a:xfrm>
          <a:prstGeom prst="roundRect">
            <a:avLst>
              <a:gd name="adj" fmla="val 31372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555" y="5048250"/>
            <a:ext cx="474333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decltype(name)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≡ declared type of </a:t>
            </a:r>
            <a:r>
              <a:rPr sz="956" b="0">
                <a:solidFill>
                  <a:srgbClr val="93C5FD"/>
                </a:solidFill>
                <a:latin typeface="Roboto Mono"/>
                <a:rFonts ascii="Roboto Mono" hAnsi="Roboto Mono" eastAsia="Roboto Mono" cs="Roboto Mono"/>
              </a:rPr>
              <a:t>name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5524499"/>
            <a:ext cx="4990975" cy="695325"/>
          </a:xfrm>
          <a:prstGeom prst="roundRect">
            <a:avLst>
              <a:gd name="adj" fmla="val 21917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85111" y="5806121"/>
            <a:ext cx="695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5716536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6773" y="5638799"/>
            <a:ext cx="4476638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Unlike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never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drops top-level const or reference qualifiers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38699" y="1229005"/>
            <a:ext cx="190495" cy="17088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05392" y="1181099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decltype(auto)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8699" y="1562100"/>
            <a:ext cx="5486262" cy="561974"/>
          </a:xfrm>
          <a:prstGeom prst="roundRect">
            <a:avLst>
              <a:gd name="adj" fmla="val 2711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823752" y="1777047"/>
            <a:ext cx="5619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9194" y="1714500"/>
            <a:ext cx="514337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C++14 feature: Uses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type deduction rules for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return types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38699" y="2356597"/>
            <a:ext cx="190495" cy="10645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05392" y="2276474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 Examples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8699" y="2657475"/>
            <a:ext cx="2685982" cy="733424"/>
          </a:xfrm>
          <a:prstGeom prst="roundRect">
            <a:avLst>
              <a:gd name="adj" fmla="val 20779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2520" y="2781300"/>
            <a:ext cx="2438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auto x = expr;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2520" y="3076574"/>
            <a:ext cx="2438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Drops const/ref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38979" y="2657475"/>
            <a:ext cx="2685982" cy="733424"/>
          </a:xfrm>
          <a:prstGeom prst="roundRect">
            <a:avLst>
              <a:gd name="adj" fmla="val 20779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2800" y="2781300"/>
            <a:ext cx="2438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decltype(x) = expr;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2800" y="3076574"/>
            <a:ext cx="2438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"/>
                <a:rFonts ascii="Roboto" hAnsi="Roboto" eastAsia="Roboto" cs="Roboto"/>
              </a:rPr>
              <a:t>Keeps declared type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38699" y="3623422"/>
            <a:ext cx="190495" cy="1064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05392" y="3543300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Capture Example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8699" y="3924299"/>
            <a:ext cx="5486262" cy="1295399"/>
          </a:xfrm>
          <a:prstGeom prst="roundRect">
            <a:avLst>
              <a:gd name="adj" fmla="val 1176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0619" y="4086225"/>
            <a:ext cx="516242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const int</a:t>
            </a: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 = 42;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0619" y="4333875"/>
            <a:ext cx="516242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260"/>
              </a:spcBef>
              <a:spcAft>
                <a:spcPts val="0"/>
              </a:spcAft>
            </a:pPr>
            <a:r>
              <a:rPr sz="897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l = [x] { </a:t>
            </a:r>
            <a:r>
              <a:rPr sz="897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5E7EB"/>
                </a:solidFill>
                <a:latin typeface="Roboto Mono"/>
                <a:rFonts ascii="Roboto Mono" hAnsi="Roboto Mono" eastAsia="Roboto Mono" cs="Roboto Mono"/>
              </a:rPr>
              <a:t> x; };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619" y="4600575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// x captured by 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0619" y="4848225"/>
            <a:ext cx="24859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// Type: int (const stripped)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8699" y="5372100"/>
            <a:ext cx="5486262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47527" y="5863272"/>
            <a:ext cx="1114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29194" y="5603081"/>
            <a:ext cx="228594" cy="1857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572085" y="5524499"/>
            <a:ext cx="48004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085" y="5829300"/>
            <a:ext cx="4800479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D8B4FE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preserves declared types, </a:t>
            </a:r>
            <a:r>
              <a:rPr sz="95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D1D5DB"/>
                </a:solidFill>
                <a:latin typeface="Roboto"/>
                <a:rFonts ascii="Roboto" hAnsi="Roboto" eastAsia="Roboto" cs="Roboto"/>
              </a:rPr>
              <a:t> modifies them for deduced variables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