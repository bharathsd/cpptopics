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64.png"/><Relationship Id="rId9" Type="http://schemas.openxmlformats.org/officeDocument/2006/relationships/image" Target="../media/image65.png"/><Relationship Id="rId10" Type="http://schemas.openxmlformats.org/officeDocument/2006/relationships/image" Target="../media/image6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Relationship Id="rId8" Type="http://schemas.openxmlformats.org/officeDocument/2006/relationships/image" Target="../media/image72.png"/><Relationship Id="rId9" Type="http://schemas.openxmlformats.org/officeDocument/2006/relationships/image" Target="../media/image73.png"/><Relationship Id="rId10" Type="http://schemas.openxmlformats.org/officeDocument/2006/relationships/image" Target="../media/image74.png"/><Relationship Id="rId11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93B"/>
            </a:gs>
            <a:gs pos="50000">
              <a:srgbClr val="0F172A"/>
            </a:gs>
            <a:gs pos="100000">
              <a:srgbClr val="1E3A5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B82F6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B82F6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5448163" y="1139952"/>
            <a:ext cx="609584" cy="46329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210144" y="1232188"/>
            <a:ext cx="533386" cy="2788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95567" y="1904999"/>
            <a:ext cx="5600559" cy="1523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200"/>
              </a:lnSpc>
              <a:spcBef>
                <a:spcPts val="0"/>
              </a:spcBef>
              <a:spcAft>
                <a:spcPts val="1560"/>
              </a:spcAft>
            </a:pPr>
            <a:r>
              <a:rPr sz="382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3827" b="1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std::mdspan</a:t>
            </a:r>
            <a:r>
              <a:rPr sz="1104"/>
              <a:t>
</a:t>
            </a:r>
            <a:r>
              <a:rPr sz="382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382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in C++23</a:t>
            </a:r>
            <a:r>
              <a:rPr sz="382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5181470" y="3657600"/>
            <a:ext cx="1828754" cy="381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5567" y="3924299"/>
            <a:ext cx="560055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2080"/>
              </a:spcAft>
            </a:pPr>
            <a:r>
              <a:rPr sz="1435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Multidimensional Array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5567" y="4533900"/>
            <a:ext cx="5600559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3120"/>
              </a:spcAft>
            </a:pPr>
            <a:r>
              <a:rPr sz="119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 Non-owning, zero-cost abstraction for multidimensional views</a:t>
            </a:r>
            <a:r>
              <a:rPr sz="1104"/>
              <a:t>
</a:t>
            </a:r>
            <a:r>
              <a:rPr sz="119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 of contiguous data in C++23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724181" y="5614707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90875" y="5600700"/>
            <a:ext cx="111439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Container Header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410064" y="5610505"/>
            <a:ext cx="190495" cy="17088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76758" y="5600700"/>
            <a:ext cx="94295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C++23 Feature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924501" y="5617508"/>
            <a:ext cx="190495" cy="15688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91195" y="5600700"/>
            <a:ext cx="12763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Multiple Dimensions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421946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What is </a:t>
            </a:r>
            <a:r>
              <a:rPr sz="2392" b="1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std::mdspan</a:t>
            </a: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?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420592"/>
            <a:ext cx="266693" cy="2261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575" y="2362199"/>
            <a:ext cx="489572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75" y="2781300"/>
            <a:ext cx="489572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Non-owning multidimensional view of contiguous data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09584" y="3373092"/>
            <a:ext cx="266693" cy="2261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0575" y="3314700"/>
            <a:ext cx="447663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75" y="3733799"/>
            <a:ext cx="447663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Solves the multidimensional array problem in C++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09584" y="4364106"/>
            <a:ext cx="266693" cy="1681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90575" y="4276725"/>
            <a:ext cx="394325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Analogy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575" y="4695824"/>
            <a:ext cx="394325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Like </a:t>
            </a:r>
            <a:r>
              <a:rPr sz="1196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std::span</a:t>
            </a: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but for multiple dimensions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91195" y="1590675"/>
            <a:ext cx="4390915" cy="3019424"/>
          </a:xfrm>
          <a:prstGeom prst="roundRect">
            <a:avLst>
              <a:gd name="adj" fmla="val 7570"/>
            </a:avLst>
          </a:prstGeom>
          <a:solidFill>
            <a:srgbClr val="1F2937">
              <a:alpha val="5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429314" y="1893570"/>
            <a:ext cx="228594" cy="194309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429314" y="24384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19809" y="2333624"/>
            <a:ext cx="204782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5E7EB"/>
                </a:solidFill>
                <a:latin typeface="Inter"/>
                <a:rFonts ascii="Inter" hAnsi="Inter" eastAsia="Inter" cs="Inter"/>
              </a:rPr>
              <a:t>No memory ownership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29314" y="287654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9809" y="2771775"/>
            <a:ext cx="185732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5E7EB"/>
                </a:solidFill>
                <a:latin typeface="Inter"/>
                <a:rFonts ascii="Inter" hAnsi="Inter" eastAsia="Inter" cs="Inter"/>
              </a:rPr>
              <a:t>Lightweight wrapper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9314" y="33147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19809" y="3209925"/>
            <a:ext cx="195257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5E7EB"/>
                </a:solidFill>
                <a:latin typeface="Inter"/>
                <a:rFonts ascii="Inter" hAnsi="Inter" eastAsia="Inter" cs="Inter"/>
              </a:rPr>
              <a:t>Zero-cost abstraction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29314" y="375284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19809" y="3648074"/>
            <a:ext cx="220021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5E7EB"/>
                </a:solidFill>
                <a:latin typeface="Inter"/>
                <a:rFonts ascii="Inter" hAnsi="Inter" eastAsia="Inter" cs="Inter"/>
              </a:rPr>
              <a:t>Works with existing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29314" y="41909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9809" y="4086225"/>
            <a:ext cx="207639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5E7EB"/>
                </a:solidFill>
                <a:latin typeface="Inter"/>
                <a:rFonts ascii="Inter" hAnsi="Inter" eastAsia="Inter" cs="Inter"/>
              </a:rPr>
              <a:t>Flexible memory layout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91195" y="4838699"/>
            <a:ext cx="4390915" cy="1238249"/>
          </a:xfrm>
          <a:prstGeom prst="roundRect">
            <a:avLst>
              <a:gd name="adj" fmla="val 12307"/>
            </a:avLst>
          </a:prstGeom>
          <a:solidFill>
            <a:srgbClr val="1F2937">
              <a:alpha val="4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91215" y="5038724"/>
            <a:ext cx="3990875" cy="838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"Multidimensional arrays have long been a pain point for C++ developers. std::mdspan provides a powerful, efficient solution."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581010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Key Terminology and Concepts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247775"/>
            <a:ext cx="5105272" cy="1866899"/>
          </a:xfrm>
          <a:prstGeom prst="roundRect">
            <a:avLst>
              <a:gd name="adj" fmla="val 8163"/>
            </a:avLst>
          </a:prstGeom>
          <a:solidFill>
            <a:srgbClr val="1F293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257825" y="2115184"/>
            <a:ext cx="18668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38179" y="1535181"/>
            <a:ext cx="266693" cy="168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19169" y="1438274"/>
            <a:ext cx="600059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Rank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179" y="1885950"/>
            <a:ext cx="468618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Number of dimensions in the array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179" y="2276474"/>
            <a:ext cx="4686182" cy="647699"/>
          </a:xfrm>
          <a:prstGeom prst="roundRect">
            <a:avLst>
              <a:gd name="adj" fmla="val 11764"/>
            </a:avLst>
          </a:prstGeom>
          <a:solidFill>
            <a:srgbClr val="11182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476" y="2333624"/>
            <a:ext cx="4457588" cy="5333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mdspan&lt;int, extents&lt;3, 4, 5&gt;&gt; // rank =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584" y="3343275"/>
            <a:ext cx="5105272" cy="1866899"/>
          </a:xfrm>
          <a:prstGeom prst="roundRect">
            <a:avLst>
              <a:gd name="adj" fmla="val 8163"/>
            </a:avLst>
          </a:prstGeom>
          <a:solidFill>
            <a:srgbClr val="1F293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-257825" y="4210684"/>
            <a:ext cx="18668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8179" y="3642277"/>
            <a:ext cx="266693" cy="14494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19169" y="3533774"/>
            <a:ext cx="781030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Extent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179" y="3981449"/>
            <a:ext cx="468618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Size of each dimension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179" y="4371975"/>
            <a:ext cx="4686182" cy="647699"/>
          </a:xfrm>
          <a:prstGeom prst="roundRect">
            <a:avLst>
              <a:gd name="adj" fmla="val 11764"/>
            </a:avLst>
          </a:prstGeom>
          <a:solidFill>
            <a:srgbClr val="11182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476" y="4429125"/>
            <a:ext cx="4457588" cy="5333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extent(0) = 3, extent(1) = 4, extent(2) = 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584" y="5438774"/>
            <a:ext cx="2476438" cy="981074"/>
          </a:xfrm>
          <a:prstGeom prst="roundRect">
            <a:avLst>
              <a:gd name="adj" fmla="val 15533"/>
            </a:avLst>
          </a:prstGeom>
          <a:solidFill>
            <a:srgbClr val="1F293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185087" y="5863271"/>
            <a:ext cx="9810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0079" y="5650230"/>
            <a:ext cx="228594" cy="20573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04872" y="5591175"/>
            <a:ext cx="130489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Static Extent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79" y="5981699"/>
            <a:ext cx="213354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Known at compile 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38419" y="5438774"/>
            <a:ext cx="2476438" cy="981074"/>
          </a:xfrm>
          <a:prstGeom prst="roundRect">
            <a:avLst>
              <a:gd name="adj" fmla="val 15533"/>
            </a:avLst>
          </a:prstGeom>
          <a:solidFill>
            <a:srgbClr val="1F293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2813922" y="5863271"/>
            <a:ext cx="9810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428914" y="5670232"/>
            <a:ext cx="228594" cy="16573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733706" y="5591175"/>
            <a:ext cx="160968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Dynamic Extent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8914" y="5981699"/>
            <a:ext cx="213354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Known at runtime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76838" y="1390650"/>
            <a:ext cx="5105272" cy="4876800"/>
          </a:xfrm>
          <a:prstGeom prst="roundRect">
            <a:avLst>
              <a:gd name="adj" fmla="val 4687"/>
            </a:avLst>
          </a:prstGeom>
          <a:solidFill>
            <a:srgbClr val="1F2937">
              <a:alpha val="4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791155" y="1782417"/>
            <a:ext cx="266693" cy="226115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791155" y="2305049"/>
            <a:ext cx="761980" cy="761999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3B82F6"/>
              </a:gs>
              <a:gs pos="100000">
                <a:srgbClr val="2563E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000699" y="2564852"/>
            <a:ext cx="342891" cy="24239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705532" y="2400300"/>
            <a:ext cx="356226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X Axis (Row)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05532" y="2724150"/>
            <a:ext cx="356226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First dimension index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91155" y="3219449"/>
            <a:ext cx="761980" cy="761999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06B6D4"/>
              </a:gs>
              <a:gs pos="100000">
                <a:srgbClr val="0891B2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000699" y="3479252"/>
            <a:ext cx="342891" cy="24239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705532" y="3314700"/>
            <a:ext cx="356226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Y Axis (Column)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05532" y="3638550"/>
            <a:ext cx="356226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Second dimension index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91155" y="4133849"/>
            <a:ext cx="761980" cy="761999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60A5FA"/>
              </a:gs>
              <a:gs pos="100000">
                <a:srgbClr val="22D3EE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000699" y="4393652"/>
            <a:ext cx="342891" cy="24239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705532" y="4229100"/>
            <a:ext cx="356226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Z Axis (Depth)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05532" y="4552949"/>
            <a:ext cx="356226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Third dimension index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91155" y="5372100"/>
            <a:ext cx="4476638" cy="590549"/>
          </a:xfrm>
          <a:prstGeom prst="roundRect">
            <a:avLst>
              <a:gd name="adj" fmla="val 25806"/>
            </a:avLst>
          </a:prstGeom>
          <a:solidFill>
            <a:srgbClr val="11182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3551" y="5524499"/>
            <a:ext cx="417184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md[i, j, k] → element at (i, j, 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597202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Template Parameters and Types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390650"/>
            <a:ext cx="5181470" cy="3038475"/>
          </a:xfrm>
          <a:prstGeom prst="roundRect">
            <a:avLst>
              <a:gd name="adj" fmla="val 7523"/>
            </a:avLst>
          </a:prstGeom>
          <a:solidFill>
            <a:srgbClr val="111827">
              <a:alpha val="6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47703" y="1721588"/>
            <a:ext cx="247643" cy="13822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09584" y="4657725"/>
            <a:ext cx="2533586" cy="752475"/>
          </a:xfrm>
          <a:prstGeom prst="roundRect">
            <a:avLst>
              <a:gd name="adj" fmla="val 20253"/>
            </a:avLst>
          </a:prstGeom>
          <a:solidFill>
            <a:srgbClr val="1F293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266367" y="5000942"/>
            <a:ext cx="75247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931" y="4772025"/>
            <a:ext cx="228594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31" y="5038724"/>
            <a:ext cx="228594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Element 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57468" y="4657725"/>
            <a:ext cx="2533586" cy="752475"/>
          </a:xfrm>
          <a:prstGeom prst="roundRect">
            <a:avLst>
              <a:gd name="adj" fmla="val 20253"/>
            </a:avLst>
          </a:prstGeom>
          <a:solidFill>
            <a:srgbClr val="1F293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2914251" y="5000942"/>
            <a:ext cx="75247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90815" y="4772025"/>
            <a:ext cx="228594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Extents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0815" y="5038724"/>
            <a:ext cx="228594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Dimensions &amp; Sizes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" y="5524499"/>
            <a:ext cx="2533586" cy="752475"/>
          </a:xfrm>
          <a:prstGeom prst="roundRect">
            <a:avLst>
              <a:gd name="adj" fmla="val 20253"/>
            </a:avLst>
          </a:prstGeom>
          <a:solidFill>
            <a:srgbClr val="1F293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266367" y="5867716"/>
            <a:ext cx="75247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931" y="5638799"/>
            <a:ext cx="228594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LayoutPolicy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31" y="5905500"/>
            <a:ext cx="228594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Memory Layout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57468" y="5524499"/>
            <a:ext cx="2533586" cy="752475"/>
          </a:xfrm>
          <a:prstGeom prst="roundRect">
            <a:avLst>
              <a:gd name="adj" fmla="val 20253"/>
            </a:avLst>
          </a:prstGeom>
          <a:solidFill>
            <a:srgbClr val="1F293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2914251" y="5867716"/>
            <a:ext cx="75247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90815" y="5638799"/>
            <a:ext cx="228594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AccessorPolicy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0815" y="5905500"/>
            <a:ext cx="228594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Element Access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00639" y="1401417"/>
            <a:ext cx="266693" cy="226115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400639" y="1885950"/>
            <a:ext cx="2533586" cy="790574"/>
          </a:xfrm>
          <a:prstGeom prst="roundRect">
            <a:avLst>
              <a:gd name="adj" fmla="val 19277"/>
            </a:avLst>
          </a:prstGeom>
          <a:solidFill>
            <a:srgbClr val="1F2937">
              <a:alpha val="5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4461" y="2019299"/>
            <a:ext cx="228594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extents_type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4461" y="2305049"/>
            <a:ext cx="228594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Dimensions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48523" y="1885950"/>
            <a:ext cx="2533586" cy="790574"/>
          </a:xfrm>
          <a:prstGeom prst="roundRect">
            <a:avLst>
              <a:gd name="adj" fmla="val 19277"/>
            </a:avLst>
          </a:prstGeom>
          <a:solidFill>
            <a:srgbClr val="1F2937">
              <a:alpha val="5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72345" y="2019299"/>
            <a:ext cx="228594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layout_type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2345" y="2305049"/>
            <a:ext cx="228594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Layout policy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639" y="2800350"/>
            <a:ext cx="2533586" cy="790574"/>
          </a:xfrm>
          <a:prstGeom prst="roundRect">
            <a:avLst>
              <a:gd name="adj" fmla="val 19277"/>
            </a:avLst>
          </a:prstGeom>
          <a:solidFill>
            <a:srgbClr val="1F2937">
              <a:alpha val="5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4461" y="2914650"/>
            <a:ext cx="228594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accessor_type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4461" y="3200400"/>
            <a:ext cx="228594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Accessor policy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48523" y="2800350"/>
            <a:ext cx="2533586" cy="790574"/>
          </a:xfrm>
          <a:prstGeom prst="roundRect">
            <a:avLst>
              <a:gd name="adj" fmla="val 19277"/>
            </a:avLst>
          </a:prstGeom>
          <a:solidFill>
            <a:srgbClr val="1F2937">
              <a:alpha val="5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72345" y="2914650"/>
            <a:ext cx="228594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element_type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72345" y="3200400"/>
            <a:ext cx="228594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T with cv-qualifiers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639" y="3695699"/>
            <a:ext cx="2533586" cy="790574"/>
          </a:xfrm>
          <a:prstGeom prst="roundRect">
            <a:avLst>
              <a:gd name="adj" fmla="val 19277"/>
            </a:avLst>
          </a:prstGeom>
          <a:solidFill>
            <a:srgbClr val="1F2937">
              <a:alpha val="5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24461" y="3829050"/>
            <a:ext cx="228594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value_type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4461" y="4114800"/>
            <a:ext cx="228594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T without cv-qualifiers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48523" y="3695699"/>
            <a:ext cx="2533586" cy="790574"/>
          </a:xfrm>
          <a:prstGeom prst="roundRect">
            <a:avLst>
              <a:gd name="adj" fmla="val 19277"/>
            </a:avLst>
          </a:prstGeom>
          <a:solidFill>
            <a:srgbClr val="1F2937">
              <a:alpha val="5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72345" y="3829050"/>
            <a:ext cx="228594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index_type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72345" y="4114800"/>
            <a:ext cx="228594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Signed index type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639" y="4610099"/>
            <a:ext cx="2533586" cy="790574"/>
          </a:xfrm>
          <a:prstGeom prst="roundRect">
            <a:avLst>
              <a:gd name="adj" fmla="val 19277"/>
            </a:avLst>
          </a:prstGeom>
          <a:solidFill>
            <a:srgbClr val="1F2937">
              <a:alpha val="5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4461" y="4724399"/>
            <a:ext cx="228594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size_type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4461" y="5010149"/>
            <a:ext cx="228594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Unsigned size type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48523" y="4610099"/>
            <a:ext cx="2533586" cy="790574"/>
          </a:xfrm>
          <a:prstGeom prst="roundRect">
            <a:avLst>
              <a:gd name="adj" fmla="val 19277"/>
            </a:avLst>
          </a:prstGeom>
          <a:solidFill>
            <a:srgbClr val="1F2937">
              <a:alpha val="5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72345" y="4724399"/>
            <a:ext cx="228594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rank_type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72345" y="5010149"/>
            <a:ext cx="228594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Dimension count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639" y="5543550"/>
            <a:ext cx="2533586" cy="790574"/>
          </a:xfrm>
          <a:prstGeom prst="roundRect">
            <a:avLst>
              <a:gd name="adj" fmla="val 19277"/>
            </a:avLst>
          </a:prstGeom>
          <a:solidFill>
            <a:srgbClr val="1F2937">
              <a:alpha val="5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24461" y="5676900"/>
            <a:ext cx="228594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data_handle_type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4461" y="5962650"/>
            <a:ext cx="228594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Pointer to data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48523" y="5543550"/>
            <a:ext cx="2533586" cy="790574"/>
          </a:xfrm>
          <a:prstGeom prst="roundRect">
            <a:avLst>
              <a:gd name="adj" fmla="val 19277"/>
            </a:avLst>
          </a:prstGeom>
          <a:solidFill>
            <a:srgbClr val="1F2937">
              <a:alpha val="5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72345" y="5676900"/>
            <a:ext cx="228594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reference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72345" y="5962650"/>
            <a:ext cx="228594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Element reference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0"/>
            <a:ext cx="319079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Creating mdspan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994327"/>
            <a:ext cx="266693" cy="14494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09584" y="1447800"/>
            <a:ext cx="5181470" cy="1590675"/>
          </a:xfrm>
          <a:prstGeom prst="roundRect">
            <a:avLst>
              <a:gd name="adj" fmla="val 9580"/>
            </a:avLst>
          </a:prstGeom>
          <a:solidFill>
            <a:srgbClr val="111827">
              <a:alpha val="6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71505" y="1667261"/>
            <a:ext cx="209544" cy="1897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7248" y="1609724"/>
            <a:ext cx="140013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Static Extents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584" y="3190874"/>
            <a:ext cx="5181470" cy="1590675"/>
          </a:xfrm>
          <a:prstGeom prst="roundRect">
            <a:avLst>
              <a:gd name="adj" fmla="val 9580"/>
            </a:avLst>
          </a:prstGeom>
          <a:solidFill>
            <a:srgbClr val="111827">
              <a:alpha val="6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71505" y="3428742"/>
            <a:ext cx="209544" cy="1529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7248" y="3352800"/>
            <a:ext cx="170493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Dynamic Extents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584" y="4933950"/>
            <a:ext cx="5181470" cy="3819524"/>
          </a:xfrm>
          <a:prstGeom prst="roundRect">
            <a:avLst>
              <a:gd name="adj" fmla="val 3990"/>
            </a:avLst>
          </a:prstGeom>
          <a:solidFill>
            <a:srgbClr val="111827">
              <a:alpha val="6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71505" y="5171817"/>
            <a:ext cx="209544" cy="1529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57248" y="5086350"/>
            <a:ext cx="260978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From Different Containers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00639" y="1963392"/>
            <a:ext cx="266693" cy="22611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400639" y="2457450"/>
            <a:ext cx="5181470" cy="1933574"/>
          </a:xfrm>
          <a:prstGeom prst="roundRect">
            <a:avLst>
              <a:gd name="adj" fmla="val 7881"/>
            </a:avLst>
          </a:prstGeom>
          <a:solidFill>
            <a:srgbClr val="1F293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499892" y="3358197"/>
            <a:ext cx="19335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234" y="2647949"/>
            <a:ext cx="476238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Static Extents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234" y="321944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81630" y="3105149"/>
            <a:ext cx="270503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Size known at compile 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234" y="360997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1630" y="3495675"/>
            <a:ext cx="324794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Specified as template arguments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234" y="40005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81630" y="3886200"/>
            <a:ext cx="251453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Smaller memory footprint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639" y="4581524"/>
            <a:ext cx="5181470" cy="1933574"/>
          </a:xfrm>
          <a:prstGeom prst="roundRect">
            <a:avLst>
              <a:gd name="adj" fmla="val 7881"/>
            </a:avLst>
          </a:prstGeom>
          <a:solidFill>
            <a:srgbClr val="1F293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5499892" y="5482271"/>
            <a:ext cx="19335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234" y="4772025"/>
            <a:ext cx="476238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Dynamic Extents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234" y="534352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1630" y="5229225"/>
            <a:ext cx="219069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Size known at runtime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9234" y="57340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81630" y="5619750"/>
            <a:ext cx="299077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Passed as function arguments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29234" y="612457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81630" y="6010274"/>
            <a:ext cx="227641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Stores size information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639" y="6705600"/>
            <a:ext cx="5181470" cy="1038224"/>
          </a:xfrm>
          <a:prstGeom prst="roundRect">
            <a:avLst>
              <a:gd name="adj" fmla="val 14678"/>
            </a:avLst>
          </a:prstGeom>
          <a:solidFill>
            <a:srgbClr val="111827">
              <a:alpha val="5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2560" y="7077075"/>
            <a:ext cx="158111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Size Comparison: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39079" y="6867524"/>
            <a:ext cx="447663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39079" y="7324724"/>
            <a:ext cx="44766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bytes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515337" y="7137082"/>
            <a:ext cx="228594" cy="16573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972525" y="6867524"/>
            <a:ext cx="447663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525" y="7324724"/>
            <a:ext cx="44766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bytes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280027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Layout Policies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316106"/>
            <a:ext cx="266693" cy="16813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09584" y="1771650"/>
            <a:ext cx="5181470" cy="1457325"/>
          </a:xfrm>
          <a:prstGeom prst="roundRect">
            <a:avLst>
              <a:gd name="adj" fmla="val 10457"/>
            </a:avLst>
          </a:prstGeom>
          <a:solidFill>
            <a:srgbClr val="111827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53038" y="2434272"/>
            <a:ext cx="1457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8179" y="2050732"/>
            <a:ext cx="228594" cy="1657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2971" y="1962149"/>
            <a:ext cx="133346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layout_right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179" y="2419349"/>
            <a:ext cx="476238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Row-Major (C/C++ Style)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179" y="2781300"/>
            <a:ext cx="476238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Rightmost index varies fastest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584" y="3390899"/>
            <a:ext cx="5181470" cy="1457325"/>
          </a:xfrm>
          <a:prstGeom prst="roundRect">
            <a:avLst>
              <a:gd name="adj" fmla="val 10457"/>
            </a:avLst>
          </a:prstGeom>
          <a:solidFill>
            <a:srgbClr val="111827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-53038" y="4053521"/>
            <a:ext cx="1457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38179" y="3669982"/>
            <a:ext cx="228594" cy="16573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2971" y="3581400"/>
            <a:ext cx="117154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layout_left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179" y="4038599"/>
            <a:ext cx="476238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Column-Major (Fortran/Matlab)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179" y="4400550"/>
            <a:ext cx="476238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Leftmost index varies fastest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4991100"/>
            <a:ext cx="5181470" cy="1457325"/>
          </a:xfrm>
          <a:prstGeom prst="roundRect">
            <a:avLst>
              <a:gd name="adj" fmla="val 10457"/>
            </a:avLst>
          </a:prstGeom>
          <a:solidFill>
            <a:srgbClr val="111827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-53038" y="5653722"/>
            <a:ext cx="1457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38179" y="5264467"/>
            <a:ext cx="228594" cy="1771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42971" y="5181599"/>
            <a:ext cx="1447763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layout_stride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179" y="5638799"/>
            <a:ext cx="476238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Custom Strides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179" y="6000750"/>
            <a:ext cx="476238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Generalized with per-dimension strides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00639" y="1544292"/>
            <a:ext cx="266693" cy="226115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400639" y="2028825"/>
            <a:ext cx="5181470" cy="1819275"/>
          </a:xfrm>
          <a:prstGeom prst="roundRect">
            <a:avLst>
              <a:gd name="adj" fmla="val 12565"/>
            </a:avLst>
          </a:prstGeom>
          <a:solidFill>
            <a:srgbClr val="111827">
              <a:alpha val="5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759" y="2266950"/>
            <a:ext cx="470523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Data: {1, 2, 3, 4}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38759" y="2638425"/>
            <a:ext cx="470523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1040"/>
              </a:spcAft>
            </a:pPr>
            <a:r>
              <a:rPr sz="107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Shape: 2×2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639" y="4000500"/>
            <a:ext cx="2514537" cy="2200275"/>
          </a:xfrm>
          <a:prstGeom prst="roundRect">
            <a:avLst>
              <a:gd name="adj" fmla="val 6926"/>
            </a:avLst>
          </a:prstGeom>
          <a:solidFill>
            <a:srgbClr val="1F2937">
              <a:alpha val="5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2560" y="4162424"/>
            <a:ext cx="219069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315" b="1">
                <a:solidFill>
                  <a:srgbClr val="60A5FA"/>
                </a:solidFill>
                <a:latin typeface="Inter"/>
                <a:rFonts ascii="Inter" hAnsi="Inter" eastAsia="Inter" cs="Inter"/>
              </a:rPr>
              <a:t>layout_right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62560" y="4591050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2560" y="4591050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3551" y="4600575"/>
            <a:ext cx="59053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m[0,0]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62560" y="4972050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62560" y="4972050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3551" y="4981574"/>
            <a:ext cx="53338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m[0,1]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62560" y="5353049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62560" y="5353049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3551" y="5362575"/>
            <a:ext cx="55243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m[1,0]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62560" y="5734050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2560" y="5734050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3551" y="5743575"/>
            <a:ext cx="49528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m[1,1]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67573" y="4000500"/>
            <a:ext cx="2514537" cy="2200275"/>
          </a:xfrm>
          <a:prstGeom prst="roundRect">
            <a:avLst>
              <a:gd name="adj" fmla="val 6926"/>
            </a:avLst>
          </a:prstGeom>
          <a:solidFill>
            <a:srgbClr val="1F2937">
              <a:alpha val="5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29494" y="4162424"/>
            <a:ext cx="219069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sz="1315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layout_left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29494" y="4591050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29494" y="4591050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10484" y="4600575"/>
            <a:ext cx="53338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n[0,0]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29494" y="4972050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29494" y="4972050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10484" y="4981574"/>
            <a:ext cx="48576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n[0,1]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29494" y="5353049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29494" y="5353049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10484" y="5362575"/>
            <a:ext cx="49528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n[1,0]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229494" y="5734050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29494" y="5734050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10484" y="5743575"/>
            <a:ext cx="44766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n[1,1]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0"/>
            <a:ext cx="377180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Accessing Elements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470702"/>
            <a:ext cx="266693" cy="14494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09584" y="2924175"/>
            <a:ext cx="5181470" cy="2571750"/>
          </a:xfrm>
          <a:prstGeom prst="roundRect">
            <a:avLst>
              <a:gd name="adj" fmla="val 5925"/>
            </a:avLst>
          </a:prstGeom>
          <a:solidFill>
            <a:srgbClr val="111827">
              <a:alpha val="6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584" y="5638799"/>
            <a:ext cx="5181470" cy="1000125"/>
          </a:xfrm>
          <a:prstGeom prst="roundRect">
            <a:avLst>
              <a:gd name="adj" fmla="val 15238"/>
            </a:avLst>
          </a:prstGeom>
          <a:solidFill>
            <a:srgbClr val="1E3A8A">
              <a:alpha val="20000"/>
            </a:srgbClr>
          </a:solidFill>
          <a:ln w="825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71505" y="5865495"/>
            <a:ext cx="228594" cy="1943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6298" y="5800725"/>
            <a:ext cx="153348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C++23 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05" y="6191250"/>
            <a:ext cx="485762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Comma-separated indices in </a:t>
            </a:r>
            <a:r>
              <a:rPr sz="1196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[]</a:t>
            </a: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operator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00639" y="953742"/>
            <a:ext cx="266693" cy="22611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639" y="1447800"/>
            <a:ext cx="5181470" cy="2428875"/>
          </a:xfrm>
          <a:prstGeom prst="roundRect">
            <a:avLst>
              <a:gd name="adj" fmla="val 6274"/>
            </a:avLst>
          </a:prstGeom>
          <a:solidFill>
            <a:srgbClr val="111827">
              <a:alpha val="6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62560" y="1619250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2560" y="1619250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3551" y="1609724"/>
            <a:ext cx="145728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2D Array Loop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639" y="4019549"/>
            <a:ext cx="5181470" cy="2705099"/>
          </a:xfrm>
          <a:prstGeom prst="roundRect">
            <a:avLst>
              <a:gd name="adj" fmla="val 5633"/>
            </a:avLst>
          </a:prstGeom>
          <a:solidFill>
            <a:srgbClr val="111827">
              <a:alpha val="6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62560" y="4190999"/>
            <a:ext cx="304792" cy="30480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2560" y="4190999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3551" y="4190999"/>
            <a:ext cx="146681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3D Array Loop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639" y="6877050"/>
            <a:ext cx="5181470" cy="1238249"/>
          </a:xfrm>
          <a:prstGeom prst="roundRect">
            <a:avLst>
              <a:gd name="adj" fmla="val 12307"/>
            </a:avLst>
          </a:prstGeom>
          <a:solidFill>
            <a:srgbClr val="1F2937">
              <a:alpha val="5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2560" y="7038974"/>
            <a:ext cx="134299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07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Example Output: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353368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Practical Examples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794427"/>
            <a:ext cx="266693" cy="14494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09584" y="2238375"/>
            <a:ext cx="5181470" cy="2771775"/>
          </a:xfrm>
          <a:prstGeom prst="roundRect">
            <a:avLst>
              <a:gd name="adj" fmla="val 5498"/>
            </a:avLst>
          </a:prstGeom>
          <a:solidFill>
            <a:srgbClr val="111827">
              <a:alpha val="6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584" y="5162550"/>
            <a:ext cx="2533586" cy="828675"/>
          </a:xfrm>
          <a:prstGeom prst="roundRect">
            <a:avLst>
              <a:gd name="adj" fmla="val 18390"/>
            </a:avLst>
          </a:prstGeom>
          <a:solidFill>
            <a:srgbClr val="1E3A8A">
              <a:alpha val="20000"/>
            </a:srgbClr>
          </a:solidFill>
          <a:ln w="825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33406" y="5348007"/>
            <a:ext cx="190495" cy="1624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0099" y="5286375"/>
            <a:ext cx="96200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Zero Copy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06" y="5610224"/>
            <a:ext cx="228594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Works on existing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57468" y="5162550"/>
            <a:ext cx="2533586" cy="828675"/>
          </a:xfrm>
          <a:prstGeom prst="roundRect">
            <a:avLst>
              <a:gd name="adj" fmla="val 18390"/>
            </a:avLst>
          </a:prstGeom>
          <a:solidFill>
            <a:srgbClr val="164E63">
              <a:alpha val="20000"/>
            </a:srgbClr>
          </a:solidFill>
          <a:ln w="8255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381290" y="5360613"/>
            <a:ext cx="190495" cy="1372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47983" y="5286375"/>
            <a:ext cx="78103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Efficient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1290" y="5610224"/>
            <a:ext cx="228594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No allocation overhead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00639" y="1914110"/>
            <a:ext cx="266693" cy="19132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400639" y="2381250"/>
            <a:ext cx="5181470" cy="981074"/>
          </a:xfrm>
          <a:prstGeom prst="roundRect">
            <a:avLst>
              <a:gd name="adj" fmla="val 15533"/>
            </a:avLst>
          </a:prstGeom>
          <a:solidFill>
            <a:srgbClr val="11182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976142" y="2805747"/>
            <a:ext cx="9810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91135" y="2598420"/>
            <a:ext cx="228594" cy="19430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95927" y="2533649"/>
            <a:ext cx="215259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Scientific Computing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1135" y="2933699"/>
            <a:ext cx="483857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3D tensor simulations and numerical analysis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639" y="3486150"/>
            <a:ext cx="5181470" cy="981074"/>
          </a:xfrm>
          <a:prstGeom prst="roundRect">
            <a:avLst>
              <a:gd name="adj" fmla="val 15533"/>
            </a:avLst>
          </a:prstGeom>
          <a:solidFill>
            <a:srgbClr val="11182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5976142" y="3910647"/>
            <a:ext cx="9810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91135" y="3702367"/>
            <a:ext cx="228594" cy="1771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95927" y="3638550"/>
            <a:ext cx="182875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Image Processing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1135" y="4019549"/>
            <a:ext cx="483857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Multidimensional image data manipulation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639" y="4572000"/>
            <a:ext cx="5181470" cy="1266824"/>
          </a:xfrm>
          <a:prstGeom prst="roundRect">
            <a:avLst>
              <a:gd name="adj" fmla="val 12030"/>
            </a:avLst>
          </a:prstGeom>
          <a:solidFill>
            <a:srgbClr val="11182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5833267" y="5139372"/>
            <a:ext cx="12668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91135" y="4789170"/>
            <a:ext cx="228594" cy="19430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95927" y="4724399"/>
            <a:ext cx="152396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Fortran Interop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91135" y="5124449"/>
            <a:ext cx="4838579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Seamless integration with Fortran libraries via layout_left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38100"/>
            <a:ext cx="604822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Member Functions and Interface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435963"/>
            <a:ext cx="247643" cy="1382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584" y="2847974"/>
            <a:ext cx="61910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size()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38259" y="2828925"/>
            <a:ext cx="313364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Total elements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38259" y="3114675"/>
            <a:ext cx="313364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Product of all extents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3467100"/>
            <a:ext cx="61910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rank()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38259" y="3448049"/>
            <a:ext cx="313364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Number of dimensions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3829050"/>
            <a:ext cx="92390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extent(i)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259" y="3809999"/>
            <a:ext cx="313364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Size of i-th dimension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" y="4190999"/>
            <a:ext cx="72388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empty()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8259" y="4171950"/>
            <a:ext cx="313364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Check if size is zero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" y="4552949"/>
            <a:ext cx="92390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stride(i)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38259" y="4533900"/>
            <a:ext cx="313364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Stride of i-th dimension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584" y="4914900"/>
            <a:ext cx="133346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data_handle()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38259" y="4895849"/>
            <a:ext cx="313364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Pointer to underlying data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229094" y="959366"/>
            <a:ext cx="247643" cy="19581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229094" y="1390650"/>
            <a:ext cx="3143171" cy="771525"/>
          </a:xfrm>
          <a:prstGeom prst="roundRect">
            <a:avLst>
              <a:gd name="adj" fmla="val 19753"/>
            </a:avLst>
          </a:prstGeom>
          <a:solidFill>
            <a:srgbClr val="111827">
              <a:alpha val="5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52916" y="1504950"/>
            <a:ext cx="289552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operator[i, j, k...]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2916" y="1809749"/>
            <a:ext cx="289552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Element access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38939" y="1390650"/>
            <a:ext cx="3143171" cy="771525"/>
          </a:xfrm>
          <a:prstGeom prst="roundRect">
            <a:avLst>
              <a:gd name="adj" fmla="val 19753"/>
            </a:avLst>
          </a:prstGeom>
          <a:solidFill>
            <a:srgbClr val="111827">
              <a:alpha val="5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62760" y="1504950"/>
            <a:ext cx="289552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extents()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62760" y="1809749"/>
            <a:ext cx="289552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Extents object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29094" y="2228850"/>
            <a:ext cx="3143171" cy="771525"/>
          </a:xfrm>
          <a:prstGeom prst="roundRect">
            <a:avLst>
              <a:gd name="adj" fmla="val 19753"/>
            </a:avLst>
          </a:prstGeom>
          <a:solidFill>
            <a:srgbClr val="111827">
              <a:alpha val="5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52916" y="2362199"/>
            <a:ext cx="289552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layout()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52916" y="2647949"/>
            <a:ext cx="289552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Layout policy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38939" y="2228850"/>
            <a:ext cx="3143171" cy="771525"/>
          </a:xfrm>
          <a:prstGeom prst="roundRect">
            <a:avLst>
              <a:gd name="adj" fmla="val 19753"/>
            </a:avLst>
          </a:prstGeom>
          <a:solidFill>
            <a:srgbClr val="111827">
              <a:alpha val="5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62760" y="2362199"/>
            <a:ext cx="289552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accessor()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62760" y="2647949"/>
            <a:ext cx="289552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Accessor policy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29094" y="3086100"/>
            <a:ext cx="3143171" cy="771525"/>
          </a:xfrm>
          <a:prstGeom prst="roundRect">
            <a:avLst>
              <a:gd name="adj" fmla="val 19753"/>
            </a:avLst>
          </a:prstGeom>
          <a:solidFill>
            <a:srgbClr val="111827">
              <a:alpha val="5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52916" y="3200400"/>
            <a:ext cx="289552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is_unique()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52916" y="3505199"/>
            <a:ext cx="289552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One-to-one mapping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38939" y="3086100"/>
            <a:ext cx="3143171" cy="771525"/>
          </a:xfrm>
          <a:prstGeom prst="roundRect">
            <a:avLst>
              <a:gd name="adj" fmla="val 19753"/>
            </a:avLst>
          </a:prstGeom>
          <a:solidFill>
            <a:srgbClr val="111827">
              <a:alpha val="5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62760" y="3200400"/>
            <a:ext cx="289552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is_exhaustive()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62760" y="3505199"/>
            <a:ext cx="289552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All elements covered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29094" y="3924299"/>
            <a:ext cx="3143171" cy="771525"/>
          </a:xfrm>
          <a:prstGeom prst="roundRect">
            <a:avLst>
              <a:gd name="adj" fmla="val 19753"/>
            </a:avLst>
          </a:prstGeom>
          <a:solidFill>
            <a:srgbClr val="111827">
              <a:alpha val="5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52916" y="4057650"/>
            <a:ext cx="289552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is_strided()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52916" y="4343400"/>
            <a:ext cx="289552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Uniform strides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38939" y="3924299"/>
            <a:ext cx="3143171" cy="771525"/>
          </a:xfrm>
          <a:prstGeom prst="roundRect">
            <a:avLst>
              <a:gd name="adj" fmla="val 19753"/>
            </a:avLst>
          </a:prstGeom>
          <a:solidFill>
            <a:srgbClr val="111827">
              <a:alpha val="5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62760" y="4057650"/>
            <a:ext cx="289552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static_extent(i)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62760" y="4343400"/>
            <a:ext cx="289552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Compile-time extent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29094" y="4857750"/>
            <a:ext cx="6353016" cy="1781174"/>
          </a:xfrm>
          <a:prstGeom prst="roundRect">
            <a:avLst>
              <a:gd name="adj" fmla="val 8556"/>
            </a:avLst>
          </a:prstGeom>
          <a:solidFill>
            <a:srgbClr val="1F2937">
              <a:alpha val="4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391015" y="5062408"/>
            <a:ext cx="209544" cy="1812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440043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Benefits and Use Cases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748044"/>
            <a:ext cx="266693" cy="23771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09584" y="2247899"/>
            <a:ext cx="5181470" cy="981074"/>
          </a:xfrm>
          <a:prstGeom prst="roundRect">
            <a:avLst>
              <a:gd name="adj" fmla="val 15533"/>
            </a:avLst>
          </a:prstGeom>
          <a:solidFill>
            <a:srgbClr val="11182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185087" y="2672396"/>
            <a:ext cx="9810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0079" y="2471261"/>
            <a:ext cx="228594" cy="1628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04872" y="2400300"/>
            <a:ext cx="230499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Zero-Cost Abstraction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781300"/>
            <a:ext cx="483857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Compiles to efficient code with no runtime overhead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84" y="3333749"/>
            <a:ext cx="5181470" cy="1266824"/>
          </a:xfrm>
          <a:prstGeom prst="roundRect">
            <a:avLst>
              <a:gd name="adj" fmla="val 12030"/>
            </a:avLst>
          </a:prstGeom>
          <a:solidFill>
            <a:srgbClr val="11182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42212" y="3901121"/>
            <a:ext cx="12668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0079" y="3550920"/>
            <a:ext cx="228594" cy="1943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04872" y="3486150"/>
            <a:ext cx="242881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No Allocation Overhead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79" y="3886200"/>
            <a:ext cx="4838579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Views existing data without copying or allocating memory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4724399"/>
            <a:ext cx="5181470" cy="1266824"/>
          </a:xfrm>
          <a:prstGeom prst="roundRect">
            <a:avLst>
              <a:gd name="adj" fmla="val 12030"/>
            </a:avLst>
          </a:prstGeom>
          <a:solidFill>
            <a:srgbClr val="11182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42212" y="5291771"/>
            <a:ext cx="12668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00079" y="4934902"/>
            <a:ext cx="228594" cy="1885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04872" y="4876800"/>
            <a:ext cx="239071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Universal Compatibility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079" y="5257800"/>
            <a:ext cx="4838579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Works with C-arrays, vectors, arrays, and raw pointers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00639" y="1240941"/>
            <a:ext cx="266693" cy="223216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00639" y="1733550"/>
            <a:ext cx="5181470" cy="942975"/>
          </a:xfrm>
          <a:prstGeom prst="roundRect">
            <a:avLst>
              <a:gd name="adj" fmla="val 16161"/>
            </a:avLst>
          </a:prstGeom>
          <a:solidFill>
            <a:srgbClr val="11182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5995192" y="2138997"/>
            <a:ext cx="9429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91135" y="1949767"/>
            <a:ext cx="228594" cy="1771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895927" y="1885950"/>
            <a:ext cx="229546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Performance-Portable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1135" y="2228850"/>
            <a:ext cx="483857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Works across different hardware and architectures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639" y="2781300"/>
            <a:ext cx="5181470" cy="1228725"/>
          </a:xfrm>
          <a:prstGeom prst="roundRect">
            <a:avLst>
              <a:gd name="adj" fmla="val 12403"/>
            </a:avLst>
          </a:prstGeom>
          <a:solidFill>
            <a:srgbClr val="11182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5852317" y="3329622"/>
            <a:ext cx="12287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91135" y="2984182"/>
            <a:ext cx="228594" cy="22288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95927" y="2933699"/>
            <a:ext cx="193352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Parallel Computing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91135" y="3295650"/>
            <a:ext cx="4838579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Seamless integration with MPI, OpenMP, GPU frameworks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639" y="4210049"/>
            <a:ext cx="5181470" cy="2295525"/>
          </a:xfrm>
          <a:prstGeom prst="roundRect">
            <a:avLst>
              <a:gd name="adj" fmla="val 6639"/>
            </a:avLst>
          </a:prstGeom>
          <a:solidFill>
            <a:srgbClr val="1F2937">
              <a:alpha val="4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600659" y="4491037"/>
            <a:ext cx="228594" cy="14287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600659" y="4838699"/>
            <a:ext cx="117154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Raw pointers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10604" y="4838699"/>
            <a:ext cx="57148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ACC15"/>
                </a:solidFill>
                <a:latin typeface="JetBrains Mono"/>
                <a:rFonts ascii="JetBrains Mono" hAnsi="JetBrains Mono" eastAsia="JetBrains Mono" cs="JetBrains Mono"/>
              </a:rPr>
              <a:t>1.00x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00659" y="5200650"/>
            <a:ext cx="4781430" cy="76200"/>
          </a:xfrm>
          <a:prstGeom prst="roundRect">
            <a:avLst>
              <a:gd name="adj" fmla="val 249975000"/>
            </a:avLst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600659" y="5200650"/>
            <a:ext cx="4781430" cy="76200"/>
          </a:xfrm>
          <a:prstGeom prst="roundRect">
            <a:avLst>
              <a:gd name="adj" fmla="val 249975000"/>
            </a:avLst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00659" y="5353049"/>
            <a:ext cx="110487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std::mdspan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10604" y="5353049"/>
            <a:ext cx="57148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1.00x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00659" y="5715000"/>
            <a:ext cx="4781430" cy="76200"/>
          </a:xfrm>
          <a:prstGeom prst="roundRect">
            <a:avLst>
              <a:gd name="adj" fmla="val 249975000"/>
            </a:avLst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600659" y="5715000"/>
            <a:ext cx="4781430" cy="76200"/>
          </a:xfrm>
          <a:prstGeom prst="roundRect">
            <a:avLst>
              <a:gd name="adj" fmla="val 249975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659" y="5867399"/>
            <a:ext cx="137156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Nested vectors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10604" y="5867399"/>
            <a:ext cx="57148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B923C"/>
                </a:solidFill>
                <a:latin typeface="JetBrains Mono"/>
                <a:rFonts ascii="JetBrains Mono" hAnsi="JetBrains Mono" eastAsia="JetBrains Mono" cs="JetBrains Mono"/>
              </a:rPr>
              <a:t>~1.5x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00659" y="6229350"/>
            <a:ext cx="4781430" cy="76200"/>
          </a:xfrm>
          <a:prstGeom prst="roundRect">
            <a:avLst>
              <a:gd name="adj" fmla="val 249975000"/>
            </a:avLst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600659" y="6229350"/>
            <a:ext cx="7172145" cy="76200"/>
          </a:xfrm>
          <a:prstGeom prst="roundRect">
            <a:avLst>
              <a:gd name="adj" fmla="val 249975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760075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Comparison with Traditional Approaches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722474"/>
            <a:ext cx="247643" cy="15550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09584" y="2124075"/>
            <a:ext cx="5257668" cy="1228725"/>
          </a:xfrm>
          <a:prstGeom prst="roundRect">
            <a:avLst>
              <a:gd name="adj" fmla="val 12403"/>
            </a:avLst>
          </a:prstGeom>
          <a:solidFill>
            <a:srgbClr val="11182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61262" y="2672397"/>
            <a:ext cx="12287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61980" y="2321783"/>
            <a:ext cx="209544" cy="1189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47723" y="2238375"/>
            <a:ext cx="121916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Raw Pointers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0" y="2981325"/>
            <a:ext cx="499097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FCA5A5"/>
                </a:solidFill>
                <a:latin typeface="Inter"/>
                <a:rFonts ascii="Inter" hAnsi="Inter" eastAsia="Inter" cs="Inter"/>
              </a:rPr>
              <a:t>✗ Error-prone, unsafe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84" y="3467100"/>
            <a:ext cx="5257668" cy="1228725"/>
          </a:xfrm>
          <a:prstGeom prst="roundRect">
            <a:avLst>
              <a:gd name="adj" fmla="val 12403"/>
            </a:avLst>
          </a:prstGeom>
          <a:solidFill>
            <a:srgbClr val="11182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61262" y="4015422"/>
            <a:ext cx="12287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61980" y="3656312"/>
            <a:ext cx="209544" cy="1359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47723" y="3581400"/>
            <a:ext cx="143823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Nested Vectors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80" y="4324349"/>
            <a:ext cx="499097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FDBA74"/>
                </a:solidFill>
                <a:latin typeface="Inter"/>
                <a:rFonts ascii="Inter" hAnsi="Inter" eastAsia="Inter" cs="Inter"/>
              </a:rPr>
              <a:t>✗ Fragmented memory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4810124"/>
            <a:ext cx="5257668" cy="1228725"/>
          </a:xfrm>
          <a:prstGeom prst="roundRect">
            <a:avLst>
              <a:gd name="adj" fmla="val 12403"/>
            </a:avLst>
          </a:prstGeom>
          <a:solidFill>
            <a:srgbClr val="11182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61262" y="5358446"/>
            <a:ext cx="12287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61980" y="4966772"/>
            <a:ext cx="209544" cy="20105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47723" y="4924424"/>
            <a:ext cx="150491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Custom Classes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980" y="5667374"/>
            <a:ext cx="499097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FDE047"/>
                </a:solidFill>
                <a:latin typeface="Inter"/>
                <a:rFonts ascii="Inter" hAnsi="Inter" eastAsia="Inter" cs="Inter"/>
              </a:rPr>
              <a:t>✗ Non-standardized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324441" y="1893702"/>
            <a:ext cx="247643" cy="213094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324441" y="2324100"/>
            <a:ext cx="5257668" cy="733424"/>
          </a:xfrm>
          <a:prstGeom prst="roundRect">
            <a:avLst>
              <a:gd name="adj" fmla="val 20779"/>
            </a:avLst>
          </a:prstGeom>
          <a:solidFill>
            <a:srgbClr val="11182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6023769" y="2624772"/>
            <a:ext cx="7334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24441" y="3209925"/>
            <a:ext cx="1704932" cy="828675"/>
          </a:xfrm>
          <a:prstGeom prst="roundRect">
            <a:avLst>
              <a:gd name="adj" fmla="val 18390"/>
            </a:avLst>
          </a:prstGeom>
          <a:solidFill>
            <a:srgbClr val="14532D">
              <a:alpha val="30000"/>
            </a:srgbClr>
          </a:solidFill>
          <a:ln w="825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038799" y="3348244"/>
            <a:ext cx="266693" cy="23771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48263" y="3657600"/>
            <a:ext cx="145728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Type Safe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5572" y="3209925"/>
            <a:ext cx="1704932" cy="828675"/>
          </a:xfrm>
          <a:prstGeom prst="roundRect">
            <a:avLst>
              <a:gd name="adj" fmla="val 18390"/>
            </a:avLst>
          </a:prstGeom>
          <a:solidFill>
            <a:srgbClr val="14532D">
              <a:alpha val="30000"/>
            </a:srgbClr>
          </a:solidFill>
          <a:ln w="825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819929" y="3372885"/>
            <a:ext cx="266693" cy="1884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29394" y="3657600"/>
            <a:ext cx="145728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Zero Overhead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77178" y="3209925"/>
            <a:ext cx="1704932" cy="828675"/>
          </a:xfrm>
          <a:prstGeom prst="roundRect">
            <a:avLst>
              <a:gd name="adj" fmla="val 18390"/>
            </a:avLst>
          </a:prstGeom>
          <a:solidFill>
            <a:srgbClr val="14532D">
              <a:alpha val="30000"/>
            </a:srgbClr>
          </a:solidFill>
          <a:ln w="825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0601059" y="3362739"/>
            <a:ext cx="266693" cy="20872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000999" y="3657600"/>
            <a:ext cx="145728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Contiguous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24441" y="4190999"/>
            <a:ext cx="5257668" cy="1647825"/>
          </a:xfrm>
          <a:prstGeom prst="roundRect">
            <a:avLst>
              <a:gd name="adj" fmla="val 9248"/>
            </a:avLst>
          </a:prstGeom>
          <a:solidFill>
            <a:srgbClr val="1F2937">
              <a:alpha val="4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86362" y="4416510"/>
            <a:ext cx="209544" cy="15857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86362" y="4752974"/>
            <a:ext cx="104772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Performance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15237" y="4752974"/>
            <a:ext cx="61910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mdspan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01019" y="4752974"/>
            <a:ext cx="121916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= Raw pointers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86362" y="5086350"/>
            <a:ext cx="52386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Safety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15137" y="5086350"/>
            <a:ext cx="61910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mdspan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48683" y="5086350"/>
            <a:ext cx="77150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≫ Others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86362" y="5419725"/>
            <a:ext cx="126679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Standardization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96127" y="5419725"/>
            <a:ext cx="61910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mdspan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48683" y="5419725"/>
            <a:ext cx="77150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≫ Others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360988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Advanced Features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636527"/>
            <a:ext cx="247643" cy="21309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09584" y="2066924"/>
            <a:ext cx="5257668" cy="1266824"/>
          </a:xfrm>
          <a:prstGeom prst="roundRect">
            <a:avLst>
              <a:gd name="adj" fmla="val 12030"/>
            </a:avLst>
          </a:prstGeom>
          <a:solidFill>
            <a:srgbClr val="11182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42212" y="2634296"/>
            <a:ext cx="12668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0079" y="2278379"/>
            <a:ext cx="228594" cy="2057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04872" y="2219324"/>
            <a:ext cx="181922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Accessor Policies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609850"/>
            <a:ext cx="4914777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Custom element access with bounds checking, proxies, atomic operations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84" y="3448049"/>
            <a:ext cx="5257668" cy="1266824"/>
          </a:xfrm>
          <a:prstGeom prst="roundRect">
            <a:avLst>
              <a:gd name="adj" fmla="val 12030"/>
            </a:avLst>
          </a:prstGeom>
          <a:solidFill>
            <a:srgbClr val="11182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42212" y="4015421"/>
            <a:ext cx="12668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0079" y="3655695"/>
            <a:ext cx="228594" cy="1943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04872" y="3600450"/>
            <a:ext cx="163825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Padded Layouts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79" y="3990974"/>
            <a:ext cx="4914777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Cache-friendly alignment with </a:t>
            </a:r>
            <a:r>
              <a:rPr sz="1196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layout_left_padded</a:t>
            </a: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and </a:t>
            </a:r>
            <a:r>
              <a:rPr sz="1196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layout_right_padded</a:t>
            </a: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(C++26)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4829175"/>
            <a:ext cx="5257668" cy="1266824"/>
          </a:xfrm>
          <a:prstGeom prst="roundRect">
            <a:avLst>
              <a:gd name="adj" fmla="val 12030"/>
            </a:avLst>
          </a:prstGeom>
          <a:solidFill>
            <a:srgbClr val="11182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42212" y="5396547"/>
            <a:ext cx="12668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00079" y="5046344"/>
            <a:ext cx="228594" cy="19430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04872" y="4981574"/>
            <a:ext cx="120964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submdspan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079" y="5372100"/>
            <a:ext cx="4914777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Create views of subsets/slices from existing mdspan (C++23/26)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324441" y="1331063"/>
            <a:ext cx="247643" cy="138223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324441" y="1724024"/>
            <a:ext cx="5257668" cy="2838450"/>
          </a:xfrm>
          <a:prstGeom prst="roundRect">
            <a:avLst>
              <a:gd name="adj" fmla="val 5369"/>
            </a:avLst>
          </a:prstGeom>
          <a:solidFill>
            <a:srgbClr val="111827">
              <a:alpha val="6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24461" y="1924049"/>
            <a:ext cx="485762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Extract 2D slice from 3D mdspan: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24441" y="4714875"/>
            <a:ext cx="1704932" cy="809625"/>
          </a:xfrm>
          <a:prstGeom prst="roundRect">
            <a:avLst>
              <a:gd name="adj" fmla="val 18823"/>
            </a:avLst>
          </a:prstGeom>
          <a:solidFill>
            <a:srgbClr val="581C87">
              <a:alpha val="30000"/>
            </a:srgbClr>
          </a:solidFill>
          <a:ln w="8255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048323" y="4879015"/>
            <a:ext cx="247643" cy="16701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48263" y="5143500"/>
            <a:ext cx="145728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Non-owning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5572" y="4714875"/>
            <a:ext cx="1704932" cy="809625"/>
          </a:xfrm>
          <a:prstGeom prst="roundRect">
            <a:avLst>
              <a:gd name="adj" fmla="val 18823"/>
            </a:avLst>
          </a:prstGeom>
          <a:solidFill>
            <a:srgbClr val="164E63">
              <a:alpha val="30000"/>
            </a:srgbClr>
          </a:solidFill>
          <a:ln w="8255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829454" y="4893413"/>
            <a:ext cx="247643" cy="13822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29394" y="5143500"/>
            <a:ext cx="145728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Zero Copy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77178" y="4714875"/>
            <a:ext cx="1704932" cy="809625"/>
          </a:xfrm>
          <a:prstGeom prst="roundRect">
            <a:avLst>
              <a:gd name="adj" fmla="val 18823"/>
            </a:avLst>
          </a:prstGeom>
          <a:solidFill>
            <a:srgbClr val="14532D">
              <a:alpha val="30000"/>
            </a:srgbClr>
          </a:solidFill>
          <a:ln w="825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0610584" y="4864616"/>
            <a:ext cx="247643" cy="19581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000999" y="5143500"/>
            <a:ext cx="145728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Efficient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24441" y="5676900"/>
            <a:ext cx="5257668" cy="761999"/>
          </a:xfrm>
          <a:prstGeom prst="roundRect">
            <a:avLst>
              <a:gd name="adj" fmla="val 20000"/>
            </a:avLst>
          </a:prstGeom>
          <a:solidFill>
            <a:srgbClr val="1F2937">
              <a:alpha val="4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48263" y="5967283"/>
            <a:ext cx="209544" cy="18123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734006" y="5800725"/>
            <a:ext cx="4724281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submdspan enables efficient tensor operations without data copying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210497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Conclusion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036577"/>
            <a:ext cx="247643" cy="21309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09584" y="2528758"/>
            <a:ext cx="209544" cy="181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3426" y="2476499"/>
            <a:ext cx="421946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Standardized, efficient multidimensional arrays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09584" y="2944383"/>
            <a:ext cx="209544" cy="1500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3426" y="2876549"/>
            <a:ext cx="429566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Zero-cost abstraction with no runtime overhead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09584" y="3328858"/>
            <a:ext cx="209544" cy="181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3426" y="3276599"/>
            <a:ext cx="472428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Language interoperability (C/C++, Fortran, MATLAB)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09584" y="3737404"/>
            <a:ext cx="209544" cy="16424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33426" y="3676649"/>
            <a:ext cx="479095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Performance-portable across hardware architectures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09584" y="4208277"/>
            <a:ext cx="247643" cy="21309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09584" y="4610099"/>
            <a:ext cx="2590735" cy="504824"/>
          </a:xfrm>
          <a:prstGeom prst="roundRect">
            <a:avLst>
              <a:gd name="adj" fmla="val 30188"/>
            </a:avLst>
          </a:prstGeom>
          <a:solidFill>
            <a:srgbClr val="111827">
              <a:alpha val="5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3406" y="4724399"/>
            <a:ext cx="234309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Prefer static extents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76518" y="4610099"/>
            <a:ext cx="2590735" cy="504824"/>
          </a:xfrm>
          <a:prstGeom prst="roundRect">
            <a:avLst>
              <a:gd name="adj" fmla="val 30188"/>
            </a:avLst>
          </a:prstGeom>
          <a:solidFill>
            <a:srgbClr val="111827">
              <a:alpha val="5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00339" y="4724399"/>
            <a:ext cx="234309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Match layout to source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584" y="5181599"/>
            <a:ext cx="2590735" cy="504824"/>
          </a:xfrm>
          <a:prstGeom prst="roundRect">
            <a:avLst>
              <a:gd name="adj" fmla="val 30188"/>
            </a:avLst>
          </a:prstGeom>
          <a:solidFill>
            <a:srgbClr val="111827">
              <a:alpha val="5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3406" y="5314950"/>
            <a:ext cx="234309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Use accessor policies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76518" y="5181599"/>
            <a:ext cx="2590735" cy="504824"/>
          </a:xfrm>
          <a:prstGeom prst="roundRect">
            <a:avLst>
              <a:gd name="adj" fmla="val 30188"/>
            </a:avLst>
          </a:prstGeom>
          <a:solidFill>
            <a:srgbClr val="111827">
              <a:alpha val="5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00339" y="5314950"/>
            <a:ext cx="234309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Profile for performance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324441" y="1569852"/>
            <a:ext cx="247643" cy="213094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324441" y="2000250"/>
            <a:ext cx="5257668" cy="942975"/>
          </a:xfrm>
          <a:prstGeom prst="roundRect">
            <a:avLst>
              <a:gd name="adj" fmla="val 16161"/>
            </a:avLst>
          </a:prstGeom>
          <a:solidFill>
            <a:srgbClr val="11182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5918994" y="2405697"/>
            <a:ext cx="9429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14937" y="2207895"/>
            <a:ext cx="228594" cy="19430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819729" y="2152650"/>
            <a:ext cx="85722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mdarray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4937" y="2505074"/>
            <a:ext cx="491477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Owning multidimensional container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24441" y="3057525"/>
            <a:ext cx="5257668" cy="942975"/>
          </a:xfrm>
          <a:prstGeom prst="roundRect">
            <a:avLst>
              <a:gd name="adj" fmla="val 16161"/>
            </a:avLst>
          </a:prstGeom>
          <a:solidFill>
            <a:srgbClr val="11182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5918994" y="3462972"/>
            <a:ext cx="9429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514937" y="3274695"/>
            <a:ext cx="228594" cy="19430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819729" y="3209925"/>
            <a:ext cx="120964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submdspan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4937" y="3562349"/>
            <a:ext cx="491477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Full slice/subset functionality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24441" y="4152899"/>
            <a:ext cx="5257668" cy="2009774"/>
          </a:xfrm>
          <a:prstGeom prst="roundRect">
            <a:avLst>
              <a:gd name="adj" fmla="val 7582"/>
            </a:avLst>
          </a:prstGeom>
          <a:solidFill>
            <a:srgbClr val="1F2937">
              <a:alpha val="40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486362" y="4379595"/>
            <a:ext cx="228594" cy="194309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486362" y="48386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38759" y="4743450"/>
            <a:ext cx="274313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Multidimensional array operations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86362" y="51625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38759" y="5076825"/>
            <a:ext cx="263835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Language/library interoperability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86362" y="55054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38759" y="5410199"/>
            <a:ext cx="269550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Performance-critical applications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86362" y="58293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38759" y="5743575"/>
            <a:ext cx="251453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Parallel computing frameworks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